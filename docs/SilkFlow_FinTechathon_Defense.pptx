
<file path=[Content_Types].xml><?xml version="1.0" encoding="utf-8"?>
<Types xmlns="http://schemas.openxmlformats.org/package/2006/content-types"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Default Extension="png" ContentType="image/png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1"/>
    <p:sldId id="266" r:id="rId12"/>
    <p:sldId id="267" r:id="rId13"/>
    <p:sldId id="268" r:id="rId14"/>
    <p:sldId id="270" r:id="rId16"/>
    <p:sldId id="272" r:id="rId18"/>
    <p:sldId id="273" r:id="rId19"/>
    <p:sldId id="274" r:id="rId20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[0:00-0:30] Introduce team and one-line hook: real frauds cost billions; small exporters can't get finance; we built a working answer in three weeks.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[0:30-1:15] Three documented cases — all verified public reporting. Stress: same mechanisms (paper trust, opaque credit, payment-vs-delivery, editable logs) still lock SMEs out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[1:15-2:00] Four pillars map 1:1 to the four failure modes on the previous slide. Say: this is a closed loop, not a feature list.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[2:00-2:45] Emphasise every feature is a trade-finance risk factor. Say the model recommends but never moves money — policy and humans do.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[2:45-3:30] Walk the flow once, quickly. Land the guardrail line: LLM explains, deterministic code computes, policy authorises, chain proves.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[3:30-4:00] One sentence per role; note backend-enforced authorization (maps to the unauthorized-operations judging item).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[4:00-4:45] Screenshots from the running build. Point at order 96.7 auto-score and the -5,400 gap; mention labels on synthetic/simulated data.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[4:45-5:15] Trust side: escrow view, 199-entry verified chain, and the honest metrics panel where the baseline beats our XGBoost — we ship that truth in the UI.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[5:15-5:45] Judges' injection/inducement concern answered structurally: no numeric or money authority in the LLM path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[5:45-6:30] Direction-F story: agent + wallet + policy. Be explicit: local Hardhat chain today, public-testnet hashes is roadmap item 1. Honesty is the differentiator.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[6:30-7:00] Map each card to a scored security threat class; all exercised by automated tests.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[7:00-7:30] Offer the reproduction path from the source submission. Pause on the honest-metrics box — this is where we differentiate.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[7:30-8:00] Read three rows max (paper, escrow, evidence); let the table speak.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[8:00-8:30] Quick 1-2-3 mapping; repeat the honest bar: verification, linkage, immutable evidence — not magic.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[8:30-9:00] Phase 2 (public testnet) is the ask-critical step; say we want judges' guidance to get there correctly.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[9:00-9:30] Close on the tagline, make the three asks explicit, thank the panel. Leave team roster for Q&amp;A.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Relationship Id="rId3" Type="http://schemas.openxmlformats.org/officeDocument/2006/relationships/image" Target="../media/merged2.png"/><Relationship Id="rId4" Type="http://schemas.openxmlformats.org/officeDocument/2006/relationships/image" Target="../media/merged3.png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Relationship Id="rId4" Type="http://schemas.openxmlformats.org/officeDocument/2006/relationships/image" Target="../media/merged6.png"/><Relationship Id="rId5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8.png"/><Relationship Id="rId3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42ADEF84-6D07-41BF-A9CF-5005EE3C3A54}"/>
              </a:ext>
            </a:extLst>
          </p:cNvPr>
          <p:cNvSpPr/>
          <p:nvPr/>
        </p:nvSpPr>
        <p:spPr>
          <a:xfrm>
            <a:off x="7048500" y="0"/>
            <a:ext cx="5143500" cy="6858000"/>
          </a:xfrm>
          <a:prstGeom prst="rect">
            <a:avLst/>
          </a:prstGeom>
          <a:solidFill>
            <a:srgbClr val="101C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ADBA5A0-3AB6-4F1B-A18C-838F43C98480}"/>
              </a:ext>
            </a:extLst>
          </p:cNvPr>
          <p:cNvSpPr/>
          <p:nvPr/>
        </p:nvSpPr>
        <p:spPr>
          <a:xfrm>
            <a:off x="762000" y="2381250"/>
            <a:ext cx="1143000" cy="38100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3BA3134-9197-402C-8E50-8349075F3F1A}"/>
              </a:ext>
            </a:extLst>
          </p:cNvPr>
          <p:cNvSpPr txBox="1"/>
          <p:nvPr/>
        </p:nvSpPr>
        <p:spPr>
          <a:xfrm>
            <a:off x="762000" y="2647950"/>
            <a:ext cx="5905500" cy="67056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83C421B-C1CB-451F-8B5B-DD4C17B4BEA4}"/>
              </a:ext>
            </a:extLst>
          </p:cNvPr>
          <p:cNvSpPr txBox="1"/>
          <p:nvPr/>
        </p:nvSpPr>
        <p:spPr>
          <a:xfrm>
            <a:off x="762000" y="3352800"/>
            <a:ext cx="5810250" cy="595884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</a:pPr>
            <a:r>
              <a:rPr sz="1700">
                <a:solidFill>
                  <a:srgbClr val="8EC5FF"/>
                </a:solidFill>
                <a:latin typeface="Arial"/>
                <a:ea typeface="Arial"/>
              </a:rPr>
              <a:t>Explainable AI credit scoring and on-chain escrow settlement for cross-border SME trade finance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7DD4D15-2B04-4284-AC3F-87068FB33245}"/>
              </a:ext>
            </a:extLst>
          </p:cNvPr>
          <p:cNvSpPr txBox="1"/>
          <p:nvPr/>
        </p:nvSpPr>
        <p:spPr>
          <a:xfrm>
            <a:off x="762000" y="4152900"/>
            <a:ext cx="5905500" cy="65532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2026 Shenzhen International FinTech Competition — AI Track (International)</a:t>
            </a:r>
          </a:p>
          <a:p>
            <a:pPr algn="l"/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Direction F positioning: agent-driven settlement with real on-chain escrow logic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25D3D3-FE81-4436-B979-7C6C81FEA573}"/>
              </a:ext>
            </a:extLst>
          </p:cNvPr>
          <p:cNvSpPr txBox="1"/>
          <p:nvPr/>
        </p:nvSpPr>
        <p:spPr>
          <a:xfrm>
            <a:off x="762000" y="4953000"/>
            <a:ext cx="5905500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Team CoreTech Innovation · Nawabshah, Sindh, Pakistan · English submission · Demo video 4:56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8AE0939-E392-4812-A3D2-087BA94497AB}"/>
              </a:ext>
            </a:extLst>
          </p:cNvPr>
          <p:cNvSpPr txBox="1"/>
          <p:nvPr/>
        </p:nvSpPr>
        <p:spPr>
          <a:xfrm>
            <a:off x="7620000" y="952500"/>
            <a:ext cx="4000500" cy="285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THE PROBLEM IN NUMBERS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B65170-9F97-4F4E-88AA-E6BF390C15EF}"/>
              </a:ext>
            </a:extLst>
          </p:cNvPr>
          <p:cNvSpPr txBox="1"/>
          <p:nvPr/>
        </p:nvSpPr>
        <p:spPr>
          <a:xfrm>
            <a:off x="7620000" y="1381125"/>
            <a:ext cx="4000500" cy="4762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</a:rPr>
              <a:t>$577M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Trafigura nickel fraud, 2023 — forged warehouse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receipts on collateral that was never there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</a:rPr>
              <a:t>~$10B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China fraudulent trade-financing exposed, 2014 —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forged docs and repeated invoices for one shipment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</a:rPr>
              <a:t>£29.4M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Stenn supply-chain finance fund losses, 2019 —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inflated invoices and phantom invoices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E8B430"/>
                </a:solidFill>
                <a:latin typeface="Arial"/>
                <a:ea typeface="Arial"/>
              </a:rPr>
              <a:t>65/65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end-to-end tests passing on our working prototype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C500195-1527-44E9-8551-A26448675678}"/>
              </a:ext>
            </a:extLst>
          </p:cNvPr>
          <p:cNvSpPr txBox="1"/>
          <p:nvPr/>
        </p:nvSpPr>
        <p:spPr>
          <a:xfrm>
            <a:off x="7620000" y="6286500"/>
            <a:ext cx="4000500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l"/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Sources: Reuters / FT / WSJ / GTR reporting — details on later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2A7C013-63FB-45A5-9A14-9038144F9B8E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EB99B0E2-DEC7-4B6A-B32B-B422891509C7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6D2BEEF-4594-4687-8510-AE89317A518E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The Multi-Billion Trade-Finance Trust Gap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D587308-7C05-4776-B424-6C956FE89891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Document fraud and duplicated paper have cost the industry billions — and the same mechanisms lock small exporters out of finance today.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87350F38-1022-45B8-8427-013F345F2B65}"/>
              </a:ext>
            </a:extLst>
          </p:cNvPr>
          <p:cNvSpPr/>
          <p:nvPr/>
        </p:nvSpPr>
        <p:spPr>
          <a:xfrm>
            <a:off x="457200" y="2076450"/>
            <a:ext cx="3562350" cy="2190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BEDA5EA-F710-4CB5-8A2F-96E688077AD4}"/>
              </a:ext>
            </a:extLst>
          </p:cNvPr>
          <p:cNvSpPr txBox="1"/>
          <p:nvPr/>
        </p:nvSpPr>
        <p:spPr>
          <a:xfrm>
            <a:off x="666750" y="2266950"/>
            <a:ext cx="3143250" cy="1905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$577M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TRAFIGURA · 2023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Forged warehouse receipts secured multi-billion lending against nickel that had already been secretly re-sold.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CDD6CF0C-A34B-4FF1-92EF-A51D16770060}"/>
              </a:ext>
            </a:extLst>
          </p:cNvPr>
          <p:cNvSpPr/>
          <p:nvPr/>
        </p:nvSpPr>
        <p:spPr>
          <a:xfrm>
            <a:off x="4295775" y="2076450"/>
            <a:ext cx="3562350" cy="2190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E77C860-D8F8-46D9-B4B5-E4D79FF74543}"/>
              </a:ext>
            </a:extLst>
          </p:cNvPr>
          <p:cNvSpPr txBox="1"/>
          <p:nvPr/>
        </p:nvSpPr>
        <p:spPr>
          <a:xfrm>
            <a:off x="4505325" y="2266950"/>
            <a:ext cx="3143250" cy="1905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~$10B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CHINA · 2014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Forged documents and one shipment invoiced repeatedly across banks — exposed by credit defaults in 2014.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3326CA34-D18B-48B1-8C38-8847276316B4}"/>
              </a:ext>
            </a:extLst>
          </p:cNvPr>
          <p:cNvSpPr/>
          <p:nvPr/>
        </p:nvSpPr>
        <p:spPr>
          <a:xfrm>
            <a:off x="8134350" y="2076450"/>
            <a:ext cx="3562350" cy="2190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052AA27-DC52-4CC8-BC1D-ECE45BEC58B8}"/>
              </a:ext>
            </a:extLst>
          </p:cNvPr>
          <p:cNvSpPr txBox="1"/>
          <p:nvPr/>
        </p:nvSpPr>
        <p:spPr>
          <a:xfrm>
            <a:off x="8343900" y="2266950"/>
            <a:ext cx="3143250" cy="1905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£29.4M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STENN · 2019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Inflated and phantom invoices drained a £115m supply-chain finance fund run by a fraud ring.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32BFDA7-2C50-4253-B589-103B6CF6DACA}"/>
              </a:ext>
            </a:extLst>
          </p:cNvPr>
          <p:cNvSpPr txBox="1"/>
          <p:nvPr/>
        </p:nvSpPr>
        <p:spPr>
          <a:xfrm>
            <a:off x="638175" y="4457700"/>
            <a:ext cx="10791825" cy="1905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Why the same frauds keep working — and small exporters keep losing: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•  Paper trust — invoices, packing lists and bills of lading are verified by eye, so forged or duplicated documents slip through.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•  Black-box credit — lenders see a verdict, never the reasons; exporters with clean records are still rejected without explanation.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•  Payment-vs-delivery deadlock — neither side dares to move first: advances vanish, goods ship un-paid.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•  Editable evidence — logs can be rewritten after the fact, so decisions cannot be proven to a counterparty or regulator.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D957C90-6E7A-4232-81EB-6F26AF0C9F96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3868D92-79E1-408B-AD7A-CBC90FA99E77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D1E57CE3-6C7B-4083-A56D-982ACE88F141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6604000-1C34-4325-9C43-A74DACB2323D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Our Solution: SilkFlow AI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5C8C1CA-B084-464D-93FB-32138DC8D516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Score it. Explain it. Settle it. Prove it — one closed loop for cross-border SME trade, running today.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CA96ADA-324C-429D-A749-A43CC62AB736}"/>
              </a:ext>
            </a:extLst>
          </p:cNvPr>
          <p:cNvSpPr/>
          <p:nvPr/>
        </p:nvSpPr>
        <p:spPr>
          <a:xfrm>
            <a:off x="457200" y="2047875"/>
            <a:ext cx="5429250" cy="1857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C667D28-C478-4FEB-BE02-FD7C27FB6D3D}"/>
              </a:ext>
            </a:extLst>
          </p:cNvPr>
          <p:cNvSpPr txBox="1"/>
          <p:nvPr/>
        </p:nvSpPr>
        <p:spPr>
          <a:xfrm>
            <a:off x="666750" y="2200275"/>
            <a:ext cx="5010150" cy="1571625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B430"/>
                </a:solidFill>
                <a:latin typeface="Arial"/>
                <a:ea typeface="Arial"/>
              </a:rPr>
              <a:t>1  SCORE IT — automatically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The document checker cross-validates invoice, packing-list and shipment fields; a passed check triggers credit scoring instantly. XGBoost + Isolation Forest over 16 engineered features flag anomalous trades before money moves.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15C3FF9C-7702-4918-82CA-CD3445D7FB23}"/>
              </a:ext>
            </a:extLst>
          </p:cNvPr>
          <p:cNvSpPr/>
          <p:nvPr/>
        </p:nvSpPr>
        <p:spPr>
          <a:xfrm>
            <a:off x="6305550" y="2047875"/>
            <a:ext cx="5429250" cy="1857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8498752-C3D2-42F2-9BF8-3C1FBAB8604B}"/>
              </a:ext>
            </a:extLst>
          </p:cNvPr>
          <p:cNvSpPr txBox="1"/>
          <p:nvPr/>
        </p:nvSpPr>
        <p:spPr>
          <a:xfrm>
            <a:off x="6515100" y="2200275"/>
            <a:ext cx="5010150" cy="1571625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B430"/>
                </a:solidFill>
                <a:latin typeface="Arial"/>
                <a:ea typeface="Arial"/>
              </a:rPr>
              <a:t>2  EXPLAIN IT — no black box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SHAP attributes every score to named factors — buyer payment history, on-time rate, country risk, FX volatility. Borderline cases escalate to a human reviewer with the reasons attached; the LLM only ever explains.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5902E9C7-FCF5-4F01-9FC2-50AE3AC94A74}"/>
              </a:ext>
            </a:extLst>
          </p:cNvPr>
          <p:cNvSpPr/>
          <p:nvPr/>
        </p:nvSpPr>
        <p:spPr>
          <a:xfrm>
            <a:off x="457200" y="4048125"/>
            <a:ext cx="5429250" cy="1857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A07D95D-F182-4B7B-95B0-B19E49FA04CB}"/>
              </a:ext>
            </a:extLst>
          </p:cNvPr>
          <p:cNvSpPr txBox="1"/>
          <p:nvPr/>
        </p:nvSpPr>
        <p:spPr>
          <a:xfrm>
            <a:off x="666750" y="4200525"/>
            <a:ext cx="5010150" cy="1571625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B430"/>
                </a:solidFill>
                <a:latin typeface="Arial"/>
                <a:ea typeface="Arial"/>
              </a:rPr>
              <a:t>3  SETTLE IT — on-chain escrow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Buyer funds lock into a Solidity escrow contract, not to the seller. Release requires verified shipment and delivery events; a dispute freezes the money instead of losing it. Payment and delivery are cryptographically linked.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79CCF8AA-947E-4969-A4EA-0EB698BC4141}"/>
              </a:ext>
            </a:extLst>
          </p:cNvPr>
          <p:cNvSpPr/>
          <p:nvPr/>
        </p:nvSpPr>
        <p:spPr>
          <a:xfrm>
            <a:off x="6305550" y="4048125"/>
            <a:ext cx="5429250" cy="1857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D97D628-A11A-4C35-AF9D-94A1D7518692}"/>
              </a:ext>
            </a:extLst>
          </p:cNvPr>
          <p:cNvSpPr txBox="1"/>
          <p:nvPr/>
        </p:nvSpPr>
        <p:spPr>
          <a:xfrm>
            <a:off x="6515100" y="4200525"/>
            <a:ext cx="5010150" cy="1571625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B430"/>
                </a:solidFill>
                <a:latin typeface="Arial"/>
                <a:ea typeface="Arial"/>
              </a:rPr>
              <a:t>4  PROVE IT — tamper-evident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Every check, score, decision and release appends a SHA-256 hash-chained audit entry. One click re-verifies the full chain — edit any historical record and verification turns red immediately.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DBEA270-3B12-4503-AB44-5A440BBED00A}"/>
              </a:ext>
            </a:extLst>
          </p:cNvPr>
          <p:cNvSpPr txBox="1"/>
          <p:nvPr/>
        </p:nvSpPr>
        <p:spPr>
          <a:xfrm>
            <a:off x="457200" y="6057900"/>
            <a:ext cx="11249025" cy="3238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One platform, three portals — exporter, buyer, reviewer/admin — with authorization enforced in the backend, not just hidden in the UI.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32AE6D6-4329-4D57-971C-98FF38A83133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39DE8F-B2B3-480F-B9B3-D9B478D2CE17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6C2FE95-7903-4816-A518-ED8D866AC50F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5CB9C3C-2694-4AF7-9DD5-2DCF1B91E6EA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How The System Decides: One Score, Five Signals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46EC752-C101-48E1-9296-9B0BDDB88C82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16 engineered features feed an explainable ensemble — every input is a trade-finance risk factor, not a generic profile.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E83A2CA6-14F9-4747-96AF-4F47888CB518}"/>
              </a:ext>
            </a:extLst>
          </p:cNvPr>
          <p:cNvSpPr/>
          <p:nvPr/>
        </p:nvSpPr>
        <p:spPr>
          <a:xfrm>
            <a:off x="457200" y="2076450"/>
            <a:ext cx="2133600" cy="2571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59F1E41-8FAD-41BA-AE3E-540819265BB5}"/>
              </a:ext>
            </a:extLst>
          </p:cNvPr>
          <p:cNvSpPr txBox="1"/>
          <p:nvPr/>
        </p:nvSpPr>
        <p:spPr>
          <a:xfrm>
            <a:off x="619125" y="2228850"/>
            <a:ext cx="1809750" cy="2286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Document integrity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Invoice, packing list and shipment fields are cross-checked. A failed check stops the order before scoring.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C80AFAF3-21D7-485A-95BC-26F5D1EB35EC}"/>
              </a:ext>
            </a:extLst>
          </p:cNvPr>
          <p:cNvSpPr/>
          <p:nvPr/>
        </p:nvSpPr>
        <p:spPr>
          <a:xfrm>
            <a:off x="2724150" y="2076450"/>
            <a:ext cx="2133600" cy="2571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734277F-3DBB-46B5-876C-758B4D8790E7}"/>
              </a:ext>
            </a:extLst>
          </p:cNvPr>
          <p:cNvSpPr txBox="1"/>
          <p:nvPr/>
        </p:nvSpPr>
        <p:spPr>
          <a:xfrm>
            <a:off x="2886075" y="2228850"/>
            <a:ext cx="1809750" cy="2286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Buyer payment history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How the buyer has actually paid on previous trades in the system — weighted as a top SHAP factor.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EEB1D367-3978-4898-ADA1-C9D8C9EB64BB}"/>
              </a:ext>
            </a:extLst>
          </p:cNvPr>
          <p:cNvSpPr/>
          <p:nvPr/>
        </p:nvSpPr>
        <p:spPr>
          <a:xfrm>
            <a:off x="4991100" y="2076450"/>
            <a:ext cx="2133600" cy="2571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2E8C765-7A65-447F-B891-716E50D00CFD}"/>
              </a:ext>
            </a:extLst>
          </p:cNvPr>
          <p:cNvSpPr txBox="1"/>
          <p:nvPr/>
        </p:nvSpPr>
        <p:spPr>
          <a:xfrm>
            <a:off x="5153025" y="2228850"/>
            <a:ext cx="1809750" cy="2286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On-time track record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Delivery and settlement punctuality of both counterparties feeds directly into the score.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2CE0A6B8-C798-49A3-84F1-4C861CE0A216}"/>
              </a:ext>
            </a:extLst>
          </p:cNvPr>
          <p:cNvSpPr/>
          <p:nvPr/>
        </p:nvSpPr>
        <p:spPr>
          <a:xfrm>
            <a:off x="7258050" y="2076450"/>
            <a:ext cx="2133600" cy="2571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1A58EFC-CBF2-42DE-A1A0-CF83DF43DBAB}"/>
              </a:ext>
            </a:extLst>
          </p:cNvPr>
          <p:cNvSpPr txBox="1"/>
          <p:nvPr/>
        </p:nvSpPr>
        <p:spPr>
          <a:xfrm>
            <a:off x="7419975" y="2228850"/>
            <a:ext cx="1809750" cy="2286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Country &amp; FX risk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Jurisdiction risk and currency-volatility features capture macro exposure of the specific trade.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7C2DB206-F235-4477-86B8-04F6899B02C2}"/>
              </a:ext>
            </a:extLst>
          </p:cNvPr>
          <p:cNvSpPr/>
          <p:nvPr/>
        </p:nvSpPr>
        <p:spPr>
          <a:xfrm>
            <a:off x="9525000" y="2076450"/>
            <a:ext cx="2133600" cy="2571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4829325C-21ED-4F5E-9986-9DF8D18AC71D}"/>
              </a:ext>
            </a:extLst>
          </p:cNvPr>
          <p:cNvSpPr txBox="1"/>
          <p:nvPr/>
        </p:nvSpPr>
        <p:spPr>
          <a:xfrm>
            <a:off x="9686925" y="2228850"/>
            <a:ext cx="1809750" cy="2286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Anomaly guard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Isolation Forest isolates the most unusual 2.5% of trades — size, pattern or behaviour outliers.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069E48D-90AE-495D-ACB3-B5285AC21C42}"/>
              </a:ext>
            </a:extLst>
          </p:cNvPr>
          <p:cNvSpPr txBox="1"/>
          <p:nvPr/>
        </p:nvSpPr>
        <p:spPr>
          <a:xfrm>
            <a:off x="457200" y="5048250"/>
            <a:ext cx="11430000" cy="39624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300">
                <a:solidFill>
                  <a:srgbClr val="FFFFFF"/>
                </a:solidFill>
                <a:latin typeface="Arial"/>
                <a:ea typeface="Arial"/>
              </a:rPr>
              <a:t>Score 0–100 → risk band:  low = agent may proceed   ·   medium = hold for review   ·   high / anomaly = escalate to a human. Models recommend; policy and people control the money.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C6C9159-ED2E-40C3-801D-D03F3B9FCD03}"/>
              </a:ext>
            </a:extLst>
          </p:cNvPr>
          <p:cNvSpPr txBox="1"/>
          <p:nvPr/>
        </p:nvSpPr>
        <p:spPr>
          <a:xfrm>
            <a:off x="457200" y="5476875"/>
            <a:ext cx="11249025" cy="285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Every explanation on screen is a real SHAP attribution from the scored model — shown per order, not marketing copy.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B783BC9-E039-411F-A71D-33E7C7053E34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DD2CD9D-5952-42E4-9A81-6D8E43DDBE66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2800BF17-A3E5-448E-9E6A-9108B6C2369A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7AF16DA-ACD9-40EE-91F6-906E837532B2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Trade Lifecycle: Draft To Settled — Every Step Guardrailed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51DB525-F1DA-488B-999F-B1671D4583F4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The agent automates the routine hops; hard policy and humans keep the risky ones.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3021CE9-10A4-4702-A846-1A56D92D3D6F}"/>
              </a:ext>
            </a:extLst>
          </p:cNvPr>
          <p:cNvSpPr/>
          <p:nvPr/>
        </p:nvSpPr>
        <p:spPr>
          <a:xfrm>
            <a:off x="419100" y="2152650"/>
            <a:ext cx="27432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1  Order + documents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0DEACFD-38FC-484A-8A8E-413BF35172E1}"/>
              </a:ext>
            </a:extLst>
          </p:cNvPr>
          <p:cNvSpPr/>
          <p:nvPr/>
        </p:nvSpPr>
        <p:spPr>
          <a:xfrm>
            <a:off x="3238500" y="2152650"/>
            <a:ext cx="27432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2  Automated document check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17BF83EA-E2E3-4D8F-9ADC-4E46EB8F1FFA}"/>
              </a:ext>
            </a:extLst>
          </p:cNvPr>
          <p:cNvSpPr/>
          <p:nvPr/>
        </p:nvSpPr>
        <p:spPr>
          <a:xfrm>
            <a:off x="6057900" y="2152650"/>
            <a:ext cx="27432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3  Auto credit score + SHAP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081A80C-A80C-4104-93C5-112BACC52E5E}"/>
              </a:ext>
            </a:extLst>
          </p:cNvPr>
          <p:cNvSpPr/>
          <p:nvPr/>
        </p:nvSpPr>
        <p:spPr>
          <a:xfrm>
            <a:off x="8877300" y="2152650"/>
            <a:ext cx="28575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4  Agent: approve / hold / escalate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70D431FC-008D-453A-9461-6C4034396548}"/>
              </a:ext>
            </a:extLst>
          </p:cNvPr>
          <p:cNvSpPr/>
          <p:nvPr/>
        </p:nvSpPr>
        <p:spPr>
          <a:xfrm>
            <a:off x="419100" y="3105150"/>
            <a:ext cx="27432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5  Buyer funds escrow on-chain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DFEF0E90-0247-4B66-B066-1C90466A75BE}"/>
              </a:ext>
            </a:extLst>
          </p:cNvPr>
          <p:cNvSpPr/>
          <p:nvPr/>
        </p:nvSpPr>
        <p:spPr>
          <a:xfrm>
            <a:off x="3238500" y="3105150"/>
            <a:ext cx="27432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6  Shipment + delivery verified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9CCF2F09-3608-4CF9-9E2B-49567BF339D0}"/>
              </a:ext>
            </a:extLst>
          </p:cNvPr>
          <p:cNvSpPr/>
          <p:nvPr/>
        </p:nvSpPr>
        <p:spPr>
          <a:xfrm>
            <a:off x="6057900" y="3105150"/>
            <a:ext cx="2743200" cy="8001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7  Release · refund · split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A1F0B458-D871-4D02-BA61-69EE9857B201}"/>
              </a:ext>
            </a:extLst>
          </p:cNvPr>
          <p:cNvSpPr/>
          <p:nvPr/>
        </p:nvSpPr>
        <p:spPr>
          <a:xfrm>
            <a:off x="8877300" y="3105150"/>
            <a:ext cx="2743200" cy="800100"/>
          </a:xfrm>
          <a:prstGeom prst="rect">
            <a:avLst/>
          </a:prstGeom>
          <a:solidFill>
            <a:srgbClr val="070F1E"/>
          </a:solidFill>
          <a:ln w="12700">
            <a:solidFill>
              <a:srgbClr val="8EC5FF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20000"/>
              </a:lnSpc>
            </a:pPr>
            <a:r>
              <a:rPr sz="1100">
                <a:solidFill>
                  <a:srgbClr val="E8B430"/>
                </a:solidFill>
                <a:latin typeface="Arial"/>
                <a:ea typeface="Arial"/>
              </a:rPr>
              <a:t>Dispute at any point</a:t>
            </a:r>
            <a:br/>
            <a:r>
              <a:rPr sz="1100">
                <a:solidFill>
                  <a:srgbClr val="E8B430"/>
                </a:solidFill>
                <a:latin typeface="Arial"/>
                <a:ea typeface="Arial"/>
              </a:rPr>
              <a:t>freezes funds in contract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C735590-F775-4DEE-82EF-15D9659C4E29}"/>
              </a:ext>
            </a:extLst>
          </p:cNvPr>
          <p:cNvSpPr txBox="1"/>
          <p:nvPr/>
        </p:nvSpPr>
        <p:spPr>
          <a:xfrm>
            <a:off x="457200" y="4191000"/>
            <a:ext cx="11249025" cy="2095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Guardrails on every hop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The LLM never computes a number and never authorises money movement — deterministic Python computes, backend policy enforces.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Cash-flow forecasts and gap alerts are plain arithmetic over scheduled receipts and payments — no AI guessing on financial figures.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Policy limits force high-risk, anomalous or borderline trades into the human reviewer queue — an agent can never self-approve those.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Each step writes an audit entry the moment it happens, hash-chained with SHA-256 — the trail is produced by the flow, not assembled afterwards.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A7849E2-EE73-46DE-B063-732DE92ED1D7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1B8A2F-CB6B-4420-A451-69D5E449E702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2E84A77-5196-4609-83D0-8AFD63B54963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B8B676F-F1EF-4DFC-BB3C-01957FD9319E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Three Roles, One Integrated Platform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DB8E9A9-D515-47D6-BEA6-70B3322175DC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Built around real trade-finance stakeholders — exporter, buyer, reviewer/admin — each with its own portal.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5C18E2D-E5F2-422D-80E8-B60D086DB985}"/>
              </a:ext>
            </a:extLst>
          </p:cNvPr>
          <p:cNvSpPr/>
          <p:nvPr/>
        </p:nvSpPr>
        <p:spPr>
          <a:xfrm>
            <a:off x="457200" y="2038350"/>
            <a:ext cx="3562350" cy="36195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F14E7B0-7018-46D9-9915-96F41E419C72}"/>
              </a:ext>
            </a:extLst>
          </p:cNvPr>
          <p:cNvSpPr txBox="1"/>
          <p:nvPr/>
        </p:nvSpPr>
        <p:spPr>
          <a:xfrm>
            <a:off x="666750" y="2209800"/>
            <a:ext cx="3143250" cy="3333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EXPORTER (SELLER)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Create a trade and upload docs in seconds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Document check → instant auto credit score with SHAP reasons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Deterministic weekly cash-flow forecast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Cash-gap alerts and what-if scenarios for late payments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Financing offers matched to the risk band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SME copilot answers in plain English, fully cited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C5DF471C-B479-42E2-A76D-24A1553CE80D}"/>
              </a:ext>
            </a:extLst>
          </p:cNvPr>
          <p:cNvSpPr/>
          <p:nvPr/>
        </p:nvSpPr>
        <p:spPr>
          <a:xfrm>
            <a:off x="4295775" y="2038350"/>
            <a:ext cx="3562350" cy="36195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15B8D16-F7D2-4954-B322-3CE3456127C5}"/>
              </a:ext>
            </a:extLst>
          </p:cNvPr>
          <p:cNvSpPr txBox="1"/>
          <p:nvPr/>
        </p:nvSpPr>
        <p:spPr>
          <a:xfrm>
            <a:off x="4505325" y="2209800"/>
            <a:ext cx="3143250" cy="3333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BUYER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Sees full trade terms, document status and the credit score before committing money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Funds go into the escrow smart contract — not to the seller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Release only on verified shipment + delivery events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A dispute freezes the funds instead of losing them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Inbox and alerts for every pending action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F7CF03DE-8C4D-41E2-ACC1-C774A6485F6B}"/>
              </a:ext>
            </a:extLst>
          </p:cNvPr>
          <p:cNvSpPr/>
          <p:nvPr/>
        </p:nvSpPr>
        <p:spPr>
          <a:xfrm>
            <a:off x="8134350" y="2038350"/>
            <a:ext cx="3562350" cy="36195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158C3B3-40EA-4A7F-8AAD-DA19E10566A3}"/>
              </a:ext>
            </a:extLst>
          </p:cNvPr>
          <p:cNvSpPr txBox="1"/>
          <p:nvPr/>
        </p:nvSpPr>
        <p:spPr>
          <a:xfrm>
            <a:off x="8343900" y="2209800"/>
            <a:ext cx="3143250" cy="3333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REVIEWER / ADMIN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Live feed of every agent decision across the book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Case queue of escalations — human releases, refunds or splits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One-click audit hash-chain verification and live tamper demo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Model governance: honest holdout metrics, versions, drift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•  Portfolio reports and user RBAC administration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873B5C7-BD9E-4DBF-AF89-1444DFE7F9D4}"/>
              </a:ext>
            </a:extLst>
          </p:cNvPr>
          <p:cNvSpPr txBox="1"/>
          <p:nvPr/>
        </p:nvSpPr>
        <p:spPr>
          <a:xfrm>
            <a:off x="457200" y="5867400"/>
            <a:ext cx="11249025" cy="3238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Same backend, role-scoped APIs: a seller never sees another seller's orders; the reviewer console is authorization-enforced, not menu-hidden.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B271FC7-5E42-4B61-962B-7E9E19496ED4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B5150C7-C431-4EFD-82EC-C776168D63D5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555784B-52A8-4372-80EF-CEE0D49FE0B1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F9C53DB-1316-4545-BCC2-32D27C196857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Product Screens 1/2 — The Exporter Portal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95755F0-AB83-4C8C-AD20-90106E8B4FBE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Live screens captured from the running local build — no mockups, no design comps.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B51544BC-7899-4516-A80E-C826BCF7A11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57200" y="2152650"/>
            <a:ext cx="3657600" cy="20574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2A88B5B6-9F8A-44F5-AFDD-6FDD6614152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267200" y="2152650"/>
            <a:ext cx="3657600" cy="20574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C2F5E940-9DEA-4B77-841E-9B7DF288393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077200" y="2152650"/>
            <a:ext cx="3657600" cy="2057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D21C0196-4001-4CE6-9E9C-FEC95B96A4A2}"/>
              </a:ext>
            </a:extLst>
          </p:cNvPr>
          <p:cNvSpPr txBox="1"/>
          <p:nvPr/>
        </p:nvSpPr>
        <p:spPr>
          <a:xfrm>
            <a:off x="457200" y="4305300"/>
            <a:ext cx="36576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Exporter dashboard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Live orders, scores, escrow status and alerts at a glance for the seller's home portal.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B0D9D63-590D-4673-8994-09042EAF5C43}"/>
              </a:ext>
            </a:extLst>
          </p:cNvPr>
          <p:cNvSpPr txBox="1"/>
          <p:nvPr/>
        </p:nvSpPr>
        <p:spPr>
          <a:xfrm>
            <a:off x="4267200" y="4305300"/>
            <a:ext cx="36576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Auto-scoring with reasons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Order #9 scored 96.7 automatically after the passed check — SHAP shows which factors moved it.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2E1DF29-6065-4048-93D2-FB4703F9C27E}"/>
              </a:ext>
            </a:extLst>
          </p:cNvPr>
          <p:cNvSpPr txBox="1"/>
          <p:nvPr/>
        </p:nvSpPr>
        <p:spPr>
          <a:xfrm>
            <a:off x="8077200" y="4305300"/>
            <a:ext cx="3657600" cy="865124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Cash-flow gap detection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Deterministic forecast exposes a −$5,400 gap over 8 flagged weeks; alerts fire and what-if sliders test late payments.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7C7B5F-1551-404F-A0AD-AEF6BD259DEA}"/>
              </a:ext>
            </a:extLst>
          </p:cNvPr>
          <p:cNvSpPr txBox="1"/>
          <p:nvPr/>
        </p:nvSpPr>
        <p:spPr>
          <a:xfrm>
            <a:off x="457200" y="5334000"/>
            <a:ext cx="11249025" cy="571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Financing offers shown alongside scores are label-as-simulated bank products matched to the risk band; all demo data is synthetic and labeled inside the app — the UI never pretends to be production.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4D83D90-3398-431A-A0DE-4680F48DB6B5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A889A34-2E54-4EAF-962B-D3D98FEE4467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D0C9F784-DA88-4DB0-BCE6-804D674A5040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2795D40-09B3-4A33-B560-CD4CD98E27DC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Product Screens 2/2 — Buyer, Reviewer &amp; Admin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BBAAF59-596A-471A-AD9E-5E353F075AE8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The trust side of the platform: money control, tamper evidence and model governance.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9E09EF4A-FE02-448C-8770-A25830AF52E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57200" y="2152650"/>
            <a:ext cx="3657600" cy="20574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88133635-B8D7-4772-96F1-A33EDDAAAD9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267200" y="2152650"/>
            <a:ext cx="3657600" cy="20574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E5942813-CA8F-4D3C-95EC-92F996F346D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077200" y="2152650"/>
            <a:ext cx="3657600" cy="2057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90F7A137-A280-491F-A3FB-CE73EE7D17F0}"/>
              </a:ext>
            </a:extLst>
          </p:cNvPr>
          <p:cNvSpPr txBox="1"/>
          <p:nvPr/>
        </p:nvSpPr>
        <p:spPr>
          <a:xfrm>
            <a:off x="457200" y="4305300"/>
            <a:ext cx="36576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Buyer escrow view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Buyer funds sit in the smart contract; release is linked to verified delivery, disputes freeze the money.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7D7756-74F3-497E-8307-D8BBB3CDF90E}"/>
              </a:ext>
            </a:extLst>
          </p:cNvPr>
          <p:cNvSpPr txBox="1"/>
          <p:nvPr/>
        </p:nvSpPr>
        <p:spPr>
          <a:xfrm>
            <a:off x="4267200" y="4305300"/>
            <a:ext cx="36576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Audit trail — verified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199 hash-chained entries pass one-click integrity verification; any edit to history turns the chain red.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AEB3CC0-8DC3-46FA-8502-C0B89D3A4913}"/>
              </a:ext>
            </a:extLst>
          </p:cNvPr>
          <p:cNvSpPr txBox="1"/>
          <p:nvPr/>
        </p:nvSpPr>
        <p:spPr>
          <a:xfrm>
            <a:off x="8077200" y="4305300"/>
            <a:ext cx="36576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Honest model governance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The admin panel publishes the uncomfortable truth: the simple baseline outperforms XGBoost on our holdout.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EAF554A-6AA2-4105-847C-2CB461DBDD7D}"/>
              </a:ext>
            </a:extLst>
          </p:cNvPr>
          <p:cNvSpPr txBox="1"/>
          <p:nvPr/>
        </p:nvSpPr>
        <p:spPr>
          <a:xfrm>
            <a:off x="457200" y="5334000"/>
            <a:ext cx="11249025" cy="571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Judging weights security at 30% — our answer is architectural: the LLM explains, deterministic code computes, policy authorises, and the hash chain proves what happened.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FF312DD-9F49-45A9-A469-91C07EE4ACDD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5D71EA5-890B-47AF-9F27-93D095838882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37C46A9-661F-443F-83CC-33D87BF785F8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1610709-9A10-4F3B-BC17-7D5E0BEF8550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The SME Copilot — And The Fences Around It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0AEE3C-A11D-4886-A463-E4EA7D5F4054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Conversational access to your own business data — with math and money taken out of the LLM's hands entirely.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E5F74B0-B232-4F8A-AB52-9C94C66D1D9F}"/>
              </a:ext>
            </a:extLst>
          </p:cNvPr>
          <p:cNvSpPr txBox="1"/>
          <p:nvPr/>
        </p:nvSpPr>
        <p:spPr>
          <a:xfrm>
            <a:off x="457200" y="2114550"/>
            <a:ext cx="5810250" cy="3524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1  The LLM never computes a number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Every figure comes from the deterministic engine and is cited in the answer. Hallucinated numbers are structurally impossible.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2  The LLM never authorises money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Escrow actions require an authenticated role plus backend policy checks; prose can never trigger a transfer.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3  Grounded or silent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Answers are grounded in the caller's own scoped data; if the data does not exist, the copilot says so.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4  Honest labelling</a:t>
            </a:r>
          </a:p>
          <a:p>
            <a:pPr>
              <a:lnSpc>
                <a:spcPct val="122000"/>
              </a:lnSpc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Demo mode shows a visible badge; synthetic data and simulated offers are labeled in the interface.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6C979C3E-9931-4952-9F68-22F3E898F3E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781800" y="2114550"/>
            <a:ext cx="4953000" cy="27813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1A394CA8-F6A7-4458-A02E-3E0AE34E0A1F}"/>
              </a:ext>
            </a:extLst>
          </p:cNvPr>
          <p:cNvSpPr txBox="1"/>
          <p:nvPr/>
        </p:nvSpPr>
        <p:spPr>
          <a:xfrm>
            <a:off x="6286500" y="5191125"/>
            <a:ext cx="5905500" cy="5334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8B430"/>
                </a:solidFill>
                <a:latin typeface="Arial"/>
                <a:ea typeface="Arial"/>
              </a:rPr>
              <a:t>Right: live copilot answering a seller's cash-gap question — cited figures and the demo-mode badge are visible in the capture.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D1CC5E8-A0CC-4517-AFD6-BE7C54401677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366DB2F-3CBA-429A-ADD4-9D1A0E3004D6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24DE5CD-5D11-440D-9CF3-321AAAE4B059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B15A3D6-B793-4D81-A79E-B67A6F91A8C4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On-Chain Escrow — The Agent-Settlement Story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E6CCB43-D8AB-4E6B-A8D7-16D3EA532B8B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An AI agent moving money through a smart contract with hard policy limits — and total honesty about scope.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9ED14B7-A269-4E2C-80F3-6D31B10DF7D6}"/>
              </a:ext>
            </a:extLst>
          </p:cNvPr>
          <p:cNvSpPr/>
          <p:nvPr/>
        </p:nvSpPr>
        <p:spPr>
          <a:xfrm>
            <a:off x="457200" y="2038350"/>
            <a:ext cx="5600700" cy="31432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D130C6-2306-4CFF-9E01-326402C98D84}"/>
              </a:ext>
            </a:extLst>
          </p:cNvPr>
          <p:cNvSpPr txBox="1"/>
          <p:nvPr/>
        </p:nvSpPr>
        <p:spPr>
          <a:xfrm>
            <a:off x="666750" y="2209800"/>
            <a:ext cx="5191125" cy="2857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Contract mechanics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Buyer's stablecoin deposit is locked in SilkEscrow — never sent to the seller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Release requires the verified policy: shipment event AND delivery event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A dispute freezes funds; a human decision then releases, refunds or splits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High risk band blocks auto-release regardless of model confidence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•  Every state transition is written to the append-only hash-chained audit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10E1895-41E8-42BF-B07A-B95B5C1F005C}"/>
              </a:ext>
            </a:extLst>
          </p:cNvPr>
          <p:cNvSpPr/>
          <p:nvPr/>
        </p:nvSpPr>
        <p:spPr>
          <a:xfrm>
            <a:off x="6305550" y="2038350"/>
            <a:ext cx="5600700" cy="31432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1FF27E3-5053-497B-910E-31AB245C3E12}"/>
              </a:ext>
            </a:extLst>
          </p:cNvPr>
          <p:cNvSpPr txBox="1"/>
          <p:nvPr/>
        </p:nvSpPr>
        <p:spPr>
          <a:xfrm>
            <a:off x="6515100" y="2209800"/>
            <a:ext cx="5191125" cy="2857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Real deployed artifacts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SilkEscrow   0x0DCd1Bf9A1b36cE34237eEaFef220932846BCD82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50">
                <a:solidFill>
                  <a:srgbClr val="FFFFFF"/>
                </a:solidFill>
                <a:latin typeface="Arial"/>
                <a:ea typeface="Arial"/>
              </a:rPr>
              <a:t>MockStable   0xA51c1fc2f0D1a1b8494Ed1FE312d7C3a78Ed91C0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Compiled and deployed on a local Hardhat chain; the backend talks JSON-RPC through a lightweight client.</a:t>
            </a:r>
          </a:p>
          <a:p>
            <a:pPr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38/38 contract tests  ·  65/65 end-to-end tests executed against the live chain with escrow flows included.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7C61B78-982A-4970-B345-AC92443B31BD}"/>
              </a:ext>
            </a:extLst>
          </p:cNvPr>
          <p:cNvSpPr/>
          <p:nvPr/>
        </p:nvSpPr>
        <p:spPr>
          <a:xfrm>
            <a:off x="457200" y="5314950"/>
            <a:ext cx="11449050" cy="1143000"/>
          </a:xfrm>
          <a:prstGeom prst="rect">
            <a:avLst/>
          </a:prstGeom>
          <a:solidFill>
            <a:srgbClr val="101C3A"/>
          </a:solidFill>
          <a:ln w="12700">
            <a:solidFill>
              <a:srgbClr val="8EC5F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915748A-F30F-469F-AAA4-FA9D2D523283}"/>
              </a:ext>
            </a:extLst>
          </p:cNvPr>
          <p:cNvSpPr txBox="1"/>
          <p:nvPr/>
        </p:nvSpPr>
        <p:spPr>
          <a:xfrm>
            <a:off x="666750" y="5467350"/>
            <a:ext cx="10953750" cy="9144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EC5FF"/>
                </a:solidFill>
                <a:latin typeface="Arial"/>
                <a:ea typeface="Arial"/>
              </a:rPr>
              <a:t>Scope honesty (a design principle, not a disclaimer)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Everything runs on a dev chain with unlocked standard Hardhat accounts — no private keys, no real funds, no mainnet claims. Deploying the identical contracts to a public testnet with verifiable transaction hashes is the first roadmap item after the hackathon.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7E965E2-0240-4AE2-8E9A-54A34700AA79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AD6A6E1-7004-4F2A-9BEA-934306DFC550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AEEAEF6-33DB-48AD-9762-1265C8CCA3DC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CF2C813-4A9D-46CA-8928-695143CFFD3E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Security By Architecture — Not By Prompt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085B452-DCCF-403F-AF1E-6B670B8076C6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Each attack class the rubric scores is closed in code, not by hoping the model behaves.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33C3075-6466-4D8E-8ED2-DCE87DE9BFA8}"/>
              </a:ext>
            </a:extLst>
          </p:cNvPr>
          <p:cNvSpPr/>
          <p:nvPr/>
        </p:nvSpPr>
        <p:spPr>
          <a:xfrm>
            <a:off x="457200" y="2019300"/>
            <a:ext cx="3562350" cy="16954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3AF2371-3F98-4F13-A5A8-EB20D147147B}"/>
              </a:ext>
            </a:extLst>
          </p:cNvPr>
          <p:cNvSpPr txBox="1"/>
          <p:nvPr/>
        </p:nvSpPr>
        <p:spPr>
          <a:xfrm>
            <a:off x="647700" y="2171700"/>
            <a:ext cx="3200400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Unauthorized operations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Every endpoint enforces role and order-ownership in the backend; cross-role access fails with 403 — hiding menus is never the control.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DC13A41-9793-496D-BF05-511DAD3A7CCB}"/>
              </a:ext>
            </a:extLst>
          </p:cNvPr>
          <p:cNvSpPr/>
          <p:nvPr/>
        </p:nvSpPr>
        <p:spPr>
          <a:xfrm>
            <a:off x="4295775" y="2019300"/>
            <a:ext cx="3562350" cy="16954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2A23F49-CE1C-4C2E-929A-D1130FD633A3}"/>
              </a:ext>
            </a:extLst>
          </p:cNvPr>
          <p:cNvSpPr txBox="1"/>
          <p:nvPr/>
        </p:nvSpPr>
        <p:spPr>
          <a:xfrm>
            <a:off x="4486275" y="2171700"/>
            <a:ext cx="3200400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Prompt injection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User text is treated as data: it cannot trigger tools, queries or money movement, and the copilot has no write capability at all.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CA8CE036-DE94-411F-BE4D-0FA827C1E08F}"/>
              </a:ext>
            </a:extLst>
          </p:cNvPr>
          <p:cNvSpPr/>
          <p:nvPr/>
        </p:nvSpPr>
        <p:spPr>
          <a:xfrm>
            <a:off x="8134350" y="2019300"/>
            <a:ext cx="3562350" cy="16954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D077508-2B10-49F5-8CDF-5A87F87D0EDE}"/>
              </a:ext>
            </a:extLst>
          </p:cNvPr>
          <p:cNvSpPr txBox="1"/>
          <p:nvPr/>
        </p:nvSpPr>
        <p:spPr>
          <a:xfrm>
            <a:off x="8324850" y="2171700"/>
            <a:ext cx="3200400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Induced transfers / hallucination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The LLM physically cannot authorise or compute a payment: deterministic Python computes, backend policy authorises, humans escalate.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B9C2357B-CD1B-402C-AF3D-C9D3F02C200F}"/>
              </a:ext>
            </a:extLst>
          </p:cNvPr>
          <p:cNvSpPr/>
          <p:nvPr/>
        </p:nvSpPr>
        <p:spPr>
          <a:xfrm>
            <a:off x="457200" y="3886200"/>
            <a:ext cx="3562350" cy="16954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FFD17384-0527-42FE-961F-4E0EF089AB70}"/>
              </a:ext>
            </a:extLst>
          </p:cNvPr>
          <p:cNvSpPr txBox="1"/>
          <p:nvPr/>
        </p:nvSpPr>
        <p:spPr>
          <a:xfrm>
            <a:off x="647700" y="4038600"/>
            <a:ext cx="3200400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Information theft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Data access is scope-filtered per role and per business; no secrets in logs; dev accounts only — zero real keys exist to steal.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C03EC7AB-190E-455B-873D-144E422BB4F4}"/>
              </a:ext>
            </a:extLst>
          </p:cNvPr>
          <p:cNvSpPr/>
          <p:nvPr/>
        </p:nvSpPr>
        <p:spPr>
          <a:xfrm>
            <a:off x="4295775" y="3886200"/>
            <a:ext cx="3562350" cy="16954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0CC9679-47AF-4446-8006-A8C031B7712F}"/>
              </a:ext>
            </a:extLst>
          </p:cNvPr>
          <p:cNvSpPr txBox="1"/>
          <p:nvPr/>
        </p:nvSpPr>
        <p:spPr>
          <a:xfrm>
            <a:off x="4486275" y="4038600"/>
            <a:ext cx="3200400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Abuse controls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Rate limiting on auth and copilot, idempotency keys on payment-side calls, validation and pagination on every listing.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3D570D4D-9D3D-4D80-A6CB-27D2FA162CA6}"/>
              </a:ext>
            </a:extLst>
          </p:cNvPr>
          <p:cNvSpPr/>
          <p:nvPr/>
        </p:nvSpPr>
        <p:spPr>
          <a:xfrm>
            <a:off x="8134350" y="3886200"/>
            <a:ext cx="3562350" cy="16954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D3FDCE2-ADFF-4302-A500-1C3C4FF9D0B6}"/>
              </a:ext>
            </a:extLst>
          </p:cNvPr>
          <p:cNvSpPr txBox="1"/>
          <p:nvPr/>
        </p:nvSpPr>
        <p:spPr>
          <a:xfrm>
            <a:off x="8324850" y="4038600"/>
            <a:ext cx="3200400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Tamper evidence</a:t>
            </a:r>
          </a:p>
          <a:p>
            <a:pPr>
              <a:lnSpc>
                <a:spcPct val="125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SHA-256 hash-chained audit: any after-the-fact DB edit breaks verification instantly — even for a DBA with full access.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461019EA-ACFC-4D16-A60A-5C0EAD2B6BD4}"/>
              </a:ext>
            </a:extLst>
          </p:cNvPr>
          <p:cNvSpPr txBox="1"/>
          <p:nvPr/>
        </p:nvSpPr>
        <p:spPr>
          <a:xfrm>
            <a:off x="457200" y="5810250"/>
            <a:ext cx="11249025" cy="3429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All of the above is exercised by the automated test suite — results on the next slide.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2236A59F-1DDA-4E88-B879-E39992EE5AA1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EC7082C-5065-414B-8A5B-303C3A9C5327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D6486AF1-0820-424C-BC77-3517D7B5566C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C069C19-8953-4A68-9B3A-292E2472116E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Verification Evidence — Measured, Not Claimed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E04962A-D530-471A-8424-55CD80E1A663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Every number here comes from automated runs reproducible from the submitted source.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E6B3DA40-56B4-4668-A076-FAFE6653E9DA}"/>
              </a:ext>
            </a:extLst>
          </p:cNvPr>
          <p:cNvSpPr/>
          <p:nvPr/>
        </p:nvSpPr>
        <p:spPr>
          <a:xfrm>
            <a:off x="457200" y="2038350"/>
            <a:ext cx="2676525" cy="16668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672CCEB-E626-4F08-AD6B-A2F86D5E2574}"/>
              </a:ext>
            </a:extLst>
          </p:cNvPr>
          <p:cNvSpPr txBox="1"/>
          <p:nvPr/>
        </p:nvSpPr>
        <p:spPr>
          <a:xfrm>
            <a:off x="628650" y="2190750"/>
            <a:ext cx="2333625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65/65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end-to-end API tests green against the running stack and live chain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CB53DA6-138F-47CD-9FD4-F3737DD24D0E}"/>
              </a:ext>
            </a:extLst>
          </p:cNvPr>
          <p:cNvSpPr/>
          <p:nvPr/>
        </p:nvSpPr>
        <p:spPr>
          <a:xfrm>
            <a:off x="3381375" y="2038350"/>
            <a:ext cx="2676525" cy="16668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63D2D00-75CC-452B-930A-990CB186A71E}"/>
              </a:ext>
            </a:extLst>
          </p:cNvPr>
          <p:cNvSpPr txBox="1"/>
          <p:nvPr/>
        </p:nvSpPr>
        <p:spPr>
          <a:xfrm>
            <a:off x="3552825" y="2190750"/>
            <a:ext cx="2333625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38/38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Hardhat contract tests: fund, release, dispute, refund, split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7419D650-B263-4BF4-B0AD-A89D2A4C5DE6}"/>
              </a:ext>
            </a:extLst>
          </p:cNvPr>
          <p:cNvSpPr/>
          <p:nvPr/>
        </p:nvSpPr>
        <p:spPr>
          <a:xfrm>
            <a:off x="6305550" y="2038350"/>
            <a:ext cx="2676525" cy="16668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2539F59-08DA-47A1-B789-FCB2840B8A40}"/>
              </a:ext>
            </a:extLst>
          </p:cNvPr>
          <p:cNvSpPr txBox="1"/>
          <p:nvPr/>
        </p:nvSpPr>
        <p:spPr>
          <a:xfrm>
            <a:off x="6477000" y="2190750"/>
            <a:ext cx="2333625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199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hash-chained audit entries verified consistent in one click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7E33FDF9-CCBF-4DDF-BAB8-30A4379205F0}"/>
              </a:ext>
            </a:extLst>
          </p:cNvPr>
          <p:cNvSpPr/>
          <p:nvPr/>
        </p:nvSpPr>
        <p:spPr>
          <a:xfrm>
            <a:off x="9229725" y="2038350"/>
            <a:ext cx="2676525" cy="16668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0EB2C43-337B-4245-A7ED-88CB61CAA4E0}"/>
              </a:ext>
            </a:extLst>
          </p:cNvPr>
          <p:cNvSpPr txBox="1"/>
          <p:nvPr/>
        </p:nvSpPr>
        <p:spPr>
          <a:xfrm>
            <a:off x="9401175" y="2190750"/>
            <a:ext cx="2333625" cy="14287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</a:rPr>
              <a:t>1,000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8EC5FF"/>
                </a:solidFill>
                <a:latin typeface="Arial"/>
                <a:ea typeface="Arial"/>
              </a:rPr>
              <a:t>held-out synthetic trades scoring both models on identical data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FADBBE03-2DA1-426D-94CB-365788AFCEBA}"/>
              </a:ext>
            </a:extLst>
          </p:cNvPr>
          <p:cNvSpPr/>
          <p:nvPr/>
        </p:nvSpPr>
        <p:spPr>
          <a:xfrm>
            <a:off x="457200" y="3924300"/>
            <a:ext cx="11449050" cy="1809750"/>
          </a:xfrm>
          <a:prstGeom prst="rect">
            <a:avLst/>
          </a:prstGeom>
          <a:solidFill>
            <a:srgbClr val="101C3A"/>
          </a:solidFill>
          <a:ln w="12700">
            <a:solidFill>
              <a:srgbClr val="8EC5F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4E0F4ADE-7D64-43EB-94CF-482AD53E6346}"/>
              </a:ext>
            </a:extLst>
          </p:cNvPr>
          <p:cNvSpPr txBox="1"/>
          <p:nvPr/>
        </p:nvSpPr>
        <p:spPr>
          <a:xfrm>
            <a:off x="666750" y="4076700"/>
            <a:ext cx="10953750" cy="1524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8EC5FF"/>
                </a:solidFill>
                <a:latin typeface="Arial"/>
                <a:ea typeface="Arial"/>
              </a:rPr>
              <a:t>Honest metrics as policy — the part most teams hide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Arial"/>
                <a:ea typeface="Arial"/>
              </a:rPr>
              <a:t>On the same holdout, the logistic baseline scores AUC 0.763 and the XGBoost model 0.725 — and the product UI itself publishes the baseline's win. Training data is 5,000 labeled synthetic trades, the bank offers are simulated, and logistics events are mocked: each labeled in the interface.</a:t>
            </a:r>
          </a:p>
          <a:p>
            <a:pPr>
              <a:lnSpc>
                <a:spcPct val="128000"/>
              </a:lnSpc>
            </a:pPr>
            <a:r>
              <a:rPr sz="1200" b="1">
                <a:solidFill>
                  <a:srgbClr val="E8B430"/>
                </a:solidFill>
                <a:latin typeface="Arial"/>
                <a:ea typeface="Arial"/>
              </a:rPr>
              <a:t>A system that must be trusted with money should never need curated numbers to look good.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6911F63-20EC-455A-BC04-2AA8701EC935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AC8161-F0F9-421C-BB51-41DCC07823F3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2682A934-77F1-408B-A002-76429FC18E71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04FF662-403A-4DFD-8DB6-D6069D6FD133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Why SilkFlow Wins Against Legacy Practice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FBFE5D2-3E0E-4102-B1DE-B791A3FF387B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Not AI for its own sake — each line removes a failure mode that produced the real-world frauds.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121B109-21BA-4B7F-865E-1696EE4491A8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E00D4C5C-B571-4022-ADEB-C7C5F17E6500}"/>
              </a:ext>
            </a:extLst>
          </p:cNvPr>
          <p:cNvGraphicFramePr>
            <a:graphicFrameLocks noGrp="1"/>
          </p:cNvGraphicFramePr>
          <p:nvPr/>
        </p:nvGraphicFramePr>
        <p:xfrm>
          <a:off x="457188" y="2143069"/>
          <a:ext cx="11277304" cy="365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0"/>
                <a:gridCol w="7077304"/>
              </a:tblGrid>
              <a:tr h="48000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070F1E"/>
                          </a:solidFill>
                        </a:rPr>
                        <a:t>Legacy trade-finance practice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070F1E"/>
                          </a:solidFill>
                        </a:rPr>
                        <a:t>SilkFlow AI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  <a:tr h="5280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99AABB"/>
                          </a:solidFill>
                        </a:rPr>
                        <a:t>Paper documents verified by eye — forged or duplicated receipts pass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Every document field cross-checked, then an anomaly model screens the trade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  <a:tr h="5280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99AABB"/>
                          </a:solidFill>
                        </a:rPr>
                        <a:t>Opaque relationship-based credit verdicts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Explainable score — SHAP shows each factor's exact impact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  <a:tr h="5280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99AABB"/>
                          </a:solidFill>
                        </a:rPr>
                        <a:t>Advance payment or open credit — one side carries all risk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Escrow contract: money moves only when delivery is verified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  <a:tr h="5280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99AABB"/>
                          </a:solidFill>
                        </a:rPr>
                        <a:t>Weeks of manual back-and-forth per deal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Minutes: check → score → offer → fund — demonstrated live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  <a:tr h="5280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99AABB"/>
                          </a:solidFill>
                        </a:rPr>
                        <a:t>Editable spreadsheets and logs as evidence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SHA-256 hash-chained audit, re-verified with one click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  <a:tr h="5280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99AABB"/>
                          </a:solidFill>
                        </a:rPr>
                        <a:t>Demo metrics cherry-picked to flatter the model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Honest holdout comparison published inside the product UI</a:t>
                      </a:r>
                    </a:p>
                  </a:txBody>
                  <a:tcPr>
                    <a:lnL w="9525">
                      <a:solidFill>
                        <a:srgbClr val="E8B430"/>
                      </a:solidFill>
                    </a:lnL>
                    <a:lnR w="9525">
                      <a:solidFill>
                        <a:srgbClr val="E8B430"/>
                      </a:solidFill>
                    </a:lnR>
                    <a:lnT w="9525">
                      <a:solidFill>
                        <a:srgbClr val="E8B430"/>
                      </a:solidFill>
                    </a:lnT>
                    <a:lnB w="9525">
                      <a:solidFill>
                        <a:srgbClr val="E8B430"/>
                      </a:solidFill>
                    </a:lnB>
                    <a:solidFill>
                      <a:srgbClr val="101C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5539541-6872-4DDE-9613-C31F2DD0A717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710B85FF-AEA2-4E42-BBC4-5B2751D95FC0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FC4E57C-18B4-450B-B597-F1F18AE2CD92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Would SilkFlow Have Caught These Frauds?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072C552-6168-4344-AD17-B94B0C748ECF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Each real fraud mechanism mapped to a specific control that exists in our build and is covered by tests.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0A8ECAF-5812-4025-AF04-751539BDFCAD}"/>
              </a:ext>
            </a:extLst>
          </p:cNvPr>
          <p:cNvSpPr/>
          <p:nvPr/>
        </p:nvSpPr>
        <p:spPr>
          <a:xfrm>
            <a:off x="457200" y="2019300"/>
            <a:ext cx="3562350" cy="3381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7B722B5-FD74-4722-93D3-5BB2BDA29915}"/>
              </a:ext>
            </a:extLst>
          </p:cNvPr>
          <p:cNvSpPr txBox="1"/>
          <p:nvPr/>
        </p:nvSpPr>
        <p:spPr>
          <a:xfrm>
            <a:off x="647700" y="2171700"/>
            <a:ext cx="32004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Trafigura — forged receipts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Fake warehouse receipts pledged the same goods to multiple lenders ($577M).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Controls that bite: field-level document cross-check blocks inconsistent papers before scoring; funding only enters escrow after verification; disputes freeze rather than drain.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513F0F5C-A592-46C4-AD31-DADBD3642163}"/>
              </a:ext>
            </a:extLst>
          </p:cNvPr>
          <p:cNvSpPr/>
          <p:nvPr/>
        </p:nvSpPr>
        <p:spPr>
          <a:xfrm>
            <a:off x="4295775" y="2019300"/>
            <a:ext cx="3562350" cy="3381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62F970D-C6A7-4DBD-AFC1-A71BC3272FA9}"/>
              </a:ext>
            </a:extLst>
          </p:cNvPr>
          <p:cNvSpPr txBox="1"/>
          <p:nvPr/>
        </p:nvSpPr>
        <p:spPr>
          <a:xfrm>
            <a:off x="4486275" y="2171700"/>
            <a:ext cx="32004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China 2014 — duplicate paper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One shipment invoiced repeatedly across banks; ~$10B of fraudulent financing exposed.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Controls that bite: every escrow funding binds to a single verified order record; Isolation Forest flags trades far outside a counterparty's normal size and pattern; duplicates route to the human queue.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1D89CD7-6D61-4A2F-A1C9-E107A28C686A}"/>
              </a:ext>
            </a:extLst>
          </p:cNvPr>
          <p:cNvSpPr/>
          <p:nvPr/>
        </p:nvSpPr>
        <p:spPr>
          <a:xfrm>
            <a:off x="8134350" y="2019300"/>
            <a:ext cx="3562350" cy="3381375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C8CC8F3-7ADA-4065-962E-F5AC8069B48B}"/>
              </a:ext>
            </a:extLst>
          </p:cNvPr>
          <p:cNvSpPr txBox="1"/>
          <p:nvPr/>
        </p:nvSpPr>
        <p:spPr>
          <a:xfrm>
            <a:off x="8324850" y="2171700"/>
            <a:ext cx="32004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E8B430"/>
                </a:solidFill>
                <a:latin typeface="Arial"/>
                <a:ea typeface="Arial"/>
              </a:rPr>
              <a:t>Stenn — inflated invoices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>
                <a:solidFill>
                  <a:srgbClr val="99AABB"/>
                </a:solidFill>
                <a:latin typeface="Arial"/>
                <a:ea typeface="Arial"/>
              </a:rPr>
              <a:t>Inflated and phantom invoices were presented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to its funders; £29.4M of losses were reported.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Controls that bite: score keyed to the buyer's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real payment history; oversized trades fail the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anomaly screen; release still requires a</a:t>
            </a:r>
          </a:p>
          <a:p>
            <a:pPr>
              <a:lnSpc>
                <a:spcPct val="128000"/>
              </a:lnSpc>
            </a:pPr>
            <a:r>
              <a:rPr sz="1150" b="1">
                <a:solidFill>
                  <a:srgbClr val="8EC5FF"/>
                </a:solidFill>
                <a:latin typeface="Arial"/>
                <a:ea typeface="Arial"/>
              </a:rPr>
              <a:t>verified delivery event.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1358D42-EC36-4434-9525-F5F8CB8F2ED9}"/>
              </a:ext>
            </a:extLst>
          </p:cNvPr>
          <p:cNvSpPr txBox="1"/>
          <p:nvPr/>
        </p:nvSpPr>
        <p:spPr>
          <a:xfrm>
            <a:off x="457200" y="5638800"/>
            <a:ext cx="11249025" cy="571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The bar is not perfect fraud prevention — it is verifiable documents, money linked to delivery, and evidence no one can rewrite afterwards.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7B8D561-CC52-4DF2-AF9C-A980BDF9F4FD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F543D44-4340-4E3D-84ED-A77109ECFD77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5E18451-DF0F-4067-B69A-B93446B44375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AD4B10C-EC33-4144-AB76-0048649D4478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Roadmap — From Hackathon Build To Pilot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B5EEB97-CBA4-499F-853B-73F64EED705F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Honest sequencing: what is real today, and what replaces the synthetic parts next.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4019418-407E-4F2B-A4F6-10C61ED21301}"/>
              </a:ext>
            </a:extLst>
          </p:cNvPr>
          <p:cNvSpPr/>
          <p:nvPr/>
        </p:nvSpPr>
        <p:spPr>
          <a:xfrm>
            <a:off x="457200" y="2038350"/>
            <a:ext cx="2705100" cy="34290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3526681-E9CB-47F6-BD74-2B196B5DF3F0}"/>
              </a:ext>
            </a:extLst>
          </p:cNvPr>
          <p:cNvSpPr txBox="1"/>
          <p:nvPr/>
        </p:nvSpPr>
        <p:spPr>
          <a:xfrm>
            <a:off x="628650" y="2209800"/>
            <a:ext cx="23622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PHASE 1 · TODAY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Three live portals · auto document check · scoring with SHAP reasons · escrow on local Hardhat chain · 65/65 E2E and 38/38 contract tests green · narrated 4:56 demo.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916A6C4-93F7-4DC7-BE9B-EF0C4B851D03}"/>
              </a:ext>
            </a:extLst>
          </p:cNvPr>
          <p:cNvSpPr/>
          <p:nvPr/>
        </p:nvSpPr>
        <p:spPr>
          <a:xfrm>
            <a:off x="3390900" y="2038350"/>
            <a:ext cx="2705100" cy="34290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DC6DBFF-8790-4F10-8B05-E6EC484C61DF}"/>
              </a:ext>
            </a:extLst>
          </p:cNvPr>
          <p:cNvSpPr txBox="1"/>
          <p:nvPr/>
        </p:nvSpPr>
        <p:spPr>
          <a:xfrm>
            <a:off x="3562350" y="2209800"/>
            <a:ext cx="23622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PHASE 2 · 1–3 MONTHS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Public testnet: same SilkEscrow contracts deployed with faucet-funded test stablecoin, producing verifiable transaction hashes — the missing piece for full on-chain judging.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8C0C5744-C80E-44B4-9FA9-2BF6508233A5}"/>
              </a:ext>
            </a:extLst>
          </p:cNvPr>
          <p:cNvSpPr/>
          <p:nvPr/>
        </p:nvSpPr>
        <p:spPr>
          <a:xfrm>
            <a:off x="6324600" y="2038350"/>
            <a:ext cx="2705100" cy="34290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6BBF37F-BC01-4ADA-BEF9-3BDEE9374C08}"/>
              </a:ext>
            </a:extLst>
          </p:cNvPr>
          <p:cNvSpPr txBox="1"/>
          <p:nvPr/>
        </p:nvSpPr>
        <p:spPr>
          <a:xfrm>
            <a:off x="6496050" y="2209800"/>
            <a:ext cx="23622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PHASE 3 · 3–9 MONTHS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Real data: replace synthetic features with live FX rates and real logistics tracking; retrain scoring on genuine repayment outcomes instead of simulated history.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FF153D9B-75BD-43F5-B4EE-CC6A92DD8B1C}"/>
              </a:ext>
            </a:extLst>
          </p:cNvPr>
          <p:cNvSpPr/>
          <p:nvPr/>
        </p:nvSpPr>
        <p:spPr>
          <a:xfrm>
            <a:off x="9258300" y="2038350"/>
            <a:ext cx="2705100" cy="342900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D073413-AC82-441E-95BF-DC6E3708550A}"/>
              </a:ext>
            </a:extLst>
          </p:cNvPr>
          <p:cNvSpPr txBox="1"/>
          <p:nvPr/>
        </p:nvSpPr>
        <p:spPr>
          <a:xfrm>
            <a:off x="9429750" y="2209800"/>
            <a:ext cx="2362200" cy="3048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8B430"/>
                </a:solidFill>
                <a:latin typeface="Arial"/>
                <a:ea typeface="Arial"/>
              </a:rPr>
              <a:t>PHASE 4 · 9–18 MONTHS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FFFFFF"/>
                </a:solidFill>
                <a:latin typeface="Arial"/>
                <a:ea typeface="Arial"/>
              </a:rPr>
              <a:t>Pilot: bank or trade-finance insurer integration, multi-currency escrow, KYC/AML data sources, and model governance for periodic retraining and drift checks.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04BE8F1-4533-4B1A-B5C9-3BAE62248E69}"/>
              </a:ext>
            </a:extLst>
          </p:cNvPr>
          <p:cNvSpPr txBox="1"/>
          <p:nvPr/>
        </p:nvSpPr>
        <p:spPr>
          <a:xfrm>
            <a:off x="457200" y="5772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Nothing in Phases 1–2 changes the architecture: the security model, audit chain and agent policy are already production-shaped.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A9902E7-E54F-4D44-B39E-7B45B0D2E8EA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E77B851B-548C-478C-9AD9-C0AE348C82D5}"/>
              </a:ext>
            </a:extLst>
          </p:cNvPr>
          <p:cNvSpPr txBox="1"/>
          <p:nvPr/>
        </p:nvSpPr>
        <p:spPr>
          <a:xfrm>
            <a:off x="276225" y="171450"/>
            <a:ext cx="1905000" cy="2095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100" b="1">
                <a:solidFill>
                  <a:srgbClr val="E8B430"/>
                </a:solidFill>
                <a:latin typeface="Arial"/>
                <a:ea typeface="Arial"/>
              </a:rPr>
              <a:t>SILKFLOW AI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4D4297F3-90BC-416B-9EFF-D64653DECBA3}"/>
              </a:ext>
            </a:extLst>
          </p:cNvPr>
          <p:cNvSpPr/>
          <p:nvPr/>
        </p:nvSpPr>
        <p:spPr>
          <a:xfrm>
            <a:off x="276225" y="866775"/>
            <a:ext cx="11610975" cy="28575"/>
          </a:xfrm>
          <a:prstGeom prst="rect">
            <a:avLst/>
          </a:prstGeom>
          <a:solidFill>
            <a:srgbClr val="E8B4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27E9A45-4780-4226-B50F-2F027AE0F08F}"/>
              </a:ext>
            </a:extLst>
          </p:cNvPr>
          <p:cNvSpPr txBox="1"/>
          <p:nvPr/>
        </p:nvSpPr>
        <p:spPr>
          <a:xfrm>
            <a:off x="457200" y="1028700"/>
            <a:ext cx="11249025" cy="4953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FFFFFF"/>
                </a:solidFill>
                <a:latin typeface="Arial"/>
                <a:ea typeface="Arial"/>
              </a:rPr>
              <a:t>Team &amp; What We Ask For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60DEC85-DAFE-470B-9F79-226D10C0FD70}"/>
              </a:ext>
            </a:extLst>
          </p:cNvPr>
          <p:cNvSpPr txBox="1"/>
          <p:nvPr/>
        </p:nvSpPr>
        <p:spPr>
          <a:xfrm>
            <a:off x="457200" y="15811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400">
                <a:solidFill>
                  <a:srgbClr val="8EC5FF"/>
                </a:solidFill>
                <a:latin typeface="Arial"/>
                <a:ea typeface="Arial"/>
              </a:rPr>
              <a:t>Five people, one working prototype — and three things we hope to gain from the finals.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F868D68-053C-4A00-9D73-7A702A0DBC01}"/>
              </a:ext>
            </a:extLst>
          </p:cNvPr>
          <p:cNvSpPr txBox="1"/>
          <p:nvPr/>
        </p:nvSpPr>
        <p:spPr>
          <a:xfrm>
            <a:off x="457200" y="2076450"/>
            <a:ext cx="11249025" cy="67056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2200" b="1">
                <a:solidFill>
                  <a:srgbClr val="E8B430"/>
                </a:solidFill>
                <a:latin typeface="Arial"/>
                <a:ea typeface="Arial"/>
              </a:rPr>
              <a:t>SilkFlow AI — every number measured, every decision explained, every action provable.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731BDB64-1AE5-46EF-A088-B94CB16829AB}"/>
              </a:ext>
            </a:extLst>
          </p:cNvPr>
          <p:cNvSpPr/>
          <p:nvPr/>
        </p:nvSpPr>
        <p:spPr>
          <a:xfrm>
            <a:off x="457200" y="2781300"/>
            <a:ext cx="2133600" cy="1047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E407930-3668-4EBE-97A4-6AF742C5A665}"/>
              </a:ext>
            </a:extLst>
          </p:cNvPr>
          <p:cNvSpPr txBox="1"/>
          <p:nvPr/>
        </p:nvSpPr>
        <p:spPr>
          <a:xfrm>
            <a:off x="571500" y="2876550"/>
            <a:ext cx="19050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Sufyan Arain</a:t>
            </a:r>
          </a:p>
          <a:p>
            <a:pPr algn="ctr"/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Team Lead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6AF833C-C51A-4186-9E3A-53C2BA7C062C}"/>
              </a:ext>
            </a:extLst>
          </p:cNvPr>
          <p:cNvSpPr/>
          <p:nvPr/>
        </p:nvSpPr>
        <p:spPr>
          <a:xfrm>
            <a:off x="2790825" y="2781300"/>
            <a:ext cx="2133600" cy="1047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CF4C968-C82E-4979-A4BC-98C021068188}"/>
              </a:ext>
            </a:extLst>
          </p:cNvPr>
          <p:cNvSpPr txBox="1"/>
          <p:nvPr/>
        </p:nvSpPr>
        <p:spPr>
          <a:xfrm>
            <a:off x="2905125" y="2876550"/>
            <a:ext cx="19050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Shahzaib Sheikh</a:t>
            </a:r>
          </a:p>
          <a:p>
            <a:pPr algn="ctr"/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AI &amp; Backend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507C6278-7015-4A3B-9DA5-22E45786E4E3}"/>
              </a:ext>
            </a:extLst>
          </p:cNvPr>
          <p:cNvSpPr/>
          <p:nvPr/>
        </p:nvSpPr>
        <p:spPr>
          <a:xfrm>
            <a:off x="5124450" y="2781300"/>
            <a:ext cx="2133600" cy="1047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30BE997-5508-42B4-A668-5BEDF49EB550}"/>
              </a:ext>
            </a:extLst>
          </p:cNvPr>
          <p:cNvSpPr txBox="1"/>
          <p:nvPr/>
        </p:nvSpPr>
        <p:spPr>
          <a:xfrm>
            <a:off x="5238750" y="2876550"/>
            <a:ext cx="19050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Kanchan Kumari</a:t>
            </a:r>
          </a:p>
          <a:p>
            <a:pPr algn="ctr"/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ML / Data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70CAC34A-71F1-4131-B8EA-E12171E7C14F}"/>
              </a:ext>
            </a:extLst>
          </p:cNvPr>
          <p:cNvSpPr/>
          <p:nvPr/>
        </p:nvSpPr>
        <p:spPr>
          <a:xfrm>
            <a:off x="7458075" y="2781300"/>
            <a:ext cx="2133600" cy="1047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F42218-8399-4732-8C41-5F7E45DB3A06}"/>
              </a:ext>
            </a:extLst>
          </p:cNvPr>
          <p:cNvSpPr txBox="1"/>
          <p:nvPr/>
        </p:nvSpPr>
        <p:spPr>
          <a:xfrm>
            <a:off x="7572375" y="2876550"/>
            <a:ext cx="19050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Ayesha Asghar</a:t>
            </a:r>
          </a:p>
          <a:p>
            <a:pPr algn="ctr"/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Frontend / UX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A34277E6-579B-45C1-98ED-43C2FB007DFD}"/>
              </a:ext>
            </a:extLst>
          </p:cNvPr>
          <p:cNvSpPr/>
          <p:nvPr/>
        </p:nvSpPr>
        <p:spPr>
          <a:xfrm>
            <a:off x="9791700" y="2781300"/>
            <a:ext cx="2133600" cy="1047750"/>
          </a:xfrm>
          <a:prstGeom prst="rect">
            <a:avLst/>
          </a:prstGeom>
          <a:solidFill>
            <a:srgbClr val="101C3A"/>
          </a:solidFill>
          <a:ln w="12700">
            <a:solidFill>
              <a:srgbClr val="E8B430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C7C1468-3D1F-4176-B1EA-B0675D81A6C3}"/>
              </a:ext>
            </a:extLst>
          </p:cNvPr>
          <p:cNvSpPr txBox="1"/>
          <p:nvPr/>
        </p:nvSpPr>
        <p:spPr>
          <a:xfrm>
            <a:off x="9906000" y="2876550"/>
            <a:ext cx="1905000" cy="85725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Khushboo Hattar</a:t>
            </a:r>
          </a:p>
          <a:p>
            <a:pPr algn="ctr"/>
            <a:r>
              <a:rPr sz="1100">
                <a:solidFill>
                  <a:srgbClr val="8EC5FF"/>
                </a:solidFill>
                <a:latin typeface="Arial"/>
                <a:ea typeface="Arial"/>
              </a:rPr>
              <a:t>Docs &amp; Pitch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3B1668C-C8F5-430A-AD63-11D66710E565}"/>
              </a:ext>
            </a:extLst>
          </p:cNvPr>
          <p:cNvSpPr txBox="1"/>
          <p:nvPr/>
        </p:nvSpPr>
        <p:spPr>
          <a:xfrm>
            <a:off x="457200" y="4171950"/>
            <a:ext cx="11249025" cy="17145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E8B430"/>
                </a:solidFill>
                <a:latin typeface="Arial"/>
                <a:ea typeface="Arial"/>
              </a:rPr>
              <a:t>What we are asking the judges and mentors for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Arial"/>
                <a:ea typeface="Arial"/>
              </a:rPr>
              <a:t>1.  Trade-finance mentorship — validate our escrow policy limits and document checks against real bank practice.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Arial"/>
                <a:ea typeface="Arial"/>
              </a:rPr>
              <a:t>2.  Compliance guidance — map the audit chain and RBAC to the regulatory requirements an on-chain agent must meet.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FFFFFF"/>
                </a:solidFill>
                <a:latin typeface="Arial"/>
                <a:ea typeface="Arial"/>
              </a:rPr>
              <a:t>3.  Pilot pathway — a small real exporter cohort to retrain the credit model on genuine repayment data.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334CFD2D-17A3-45C4-AD81-E76E77052FBD}"/>
              </a:ext>
            </a:extLst>
          </p:cNvPr>
          <p:cNvSpPr txBox="1"/>
          <p:nvPr/>
        </p:nvSpPr>
        <p:spPr>
          <a:xfrm>
            <a:off x="457200" y="6000750"/>
            <a:ext cx="11249025" cy="3810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1200">
                <a:solidFill>
                  <a:srgbClr val="99AABB"/>
                </a:solidFill>
                <a:latin typeface="Arial"/>
                <a:ea typeface="Arial"/>
              </a:rPr>
              <a:t>Submission package: technical documentation · defense deck (≤10 min) · 4:56 narrated demo video · source code · security self-assessment · test evidence.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0958FCF-0390-4753-BA43-2FE89C1D8DCE}"/>
              </a:ext>
            </a:extLst>
          </p:cNvPr>
          <p:cNvSpPr txBox="1"/>
          <p:nvPr/>
        </p:nvSpPr>
        <p:spPr>
          <a:xfrm>
            <a:off x="276225" y="6496050"/>
            <a:ext cx="11610975" cy="228600"/>
          </a:xfrm>
          <a:prstGeom prst="rect">
            <a:avLst/>
          </a:prstGeom>
        </p:spPr>
        <p:txBody>
          <a:bodyPr wrap="square" rtlCol="0" lIns="0" tIns="0" rIns="0" bIns="0" anchor="t"/>
          <a:lstStyle/>
          <a:p>
            <a:r>
              <a:rPr sz="900">
                <a:solidFill>
                  <a:srgbClr val="99AABB"/>
                </a:solidFill>
                <a:latin typeface="Arial"/>
                <a:ea typeface="Arial"/>
              </a:rPr>
              <a:t>SilkFlow AI  |  FinTechathon 2026 — AI Track International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