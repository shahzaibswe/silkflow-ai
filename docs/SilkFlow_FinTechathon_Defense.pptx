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CF9EE20-4D95-4B15-9185-1863F39E89F1}">
  <a:tblStyle styleId="{ECF9EE20-4D95-4B15-9185-1863F39E89F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zh-CN" sz="1800" u="none" cap="none" strike="noStrike"/>
              <a:t>[0:00-0:30] Introduce team and one-line hook: real frauds cost billions; small exporters can't get finance; we built a working answer in three weeks.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 name="Google Shape;22;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zh-CN" sz="1800"/>
              <a:t>[0:30-1:15] Three documented cases — all verified public reporting. Stress: same mechanisms (paper trust, opaque credit, payment-vs-delivery, editable logs) still lock SMEs out today.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 name="Google Shape;3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zh-CN" sz="1800"/>
              <a:t>[1:15-2:00] Four pillars map 1:1 to the four failure modes on the previous slide. Say: this is a closed loop, not a feature list.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zh-CN" sz="1800"/>
              <a:t>[2:00-2:45] Emphasise every feature is a trade-finance risk factor. Say the model recommends but never moves money — policy and humans do.</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 name="Google Shape;7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zh-CN" sz="1800"/>
              <a:t>[2:45-3:30] Walk the flow once, quickly. Land the guardrail line: LLM explains, deterministic code computes, policy authorises, chain proves.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zh-CN" sz="1800"/>
              <a:t>[3:30-4:00] One sentence per role; note backend-enforced authorization (maps to the unauthorized-operations judging item).</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zh-CN" sz="1800"/>
              <a:t>[4:00-4:45] Screenshots from the running build. Point at order 96.7 auto-score and the -5,400 gap; mention labels on synthetic/simulated data.</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zh-CN" sz="1800"/>
              <a:t>[4:45-5:15] Trust side: escrow view, 199-entry verified chain, and the honest metrics panel where the baseline beats our XGBoost — we ship that truth in the UI.</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zh-CN" sz="1800"/>
              <a:t>[5:15-5:45] Judges' injection/inducement concern answered structurally: no numeric or money authority in the LLM path at all.</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zh-CN" sz="1800"/>
              <a:t>[5:45-6:30] Direction-F story: agent + wallet + policy. Be explicit: local Hardhat chain today, public-testnet hashes is roadmap item 1. Honesty is the differentiator.</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 name="Google Shape;170;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zh-CN" sz="1800"/>
              <a:t>[6:30-7:00] Map each card to a scored security threat class; all exercised by automated tests.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zh-CN" sz="1800"/>
              <a:t>[7:00-7:30] Offer the reproduction path from the source submission. Pause on the honest-metrics box — this is where we differentiate.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 name="Google Shape;211;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zh-CN" sz="1800"/>
              <a:t>[7:30-8:00] Read three rows max (paper, escrow, evidence); let the table speak.</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zh-CN" sz="1800"/>
              <a:t>[8:00-8:30] Quick 1-2-3 mapping; repeat the honest bar: verification, linkage, immutable evidence — not magic.</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 name="Google Shape;237;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zh-CN" sz="1800"/>
              <a:t>[8:30-9:00] Phase 2 (public testnet) is the ask-critical step; say we want judges' guidance to get there correctly.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5" name="Google Shape;255;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zh-CN" sz="1800"/>
              <a:t>[9:00-9:30] Close on the tagline, make the three asks explicit, thank the panel. Leave team roster for Q&amp;A.</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0F1E"/>
        </a:solidFill>
      </p:bgPr>
    </p:bg>
    <p:spTree>
      <p:nvGrpSpPr>
        <p:cNvPr id="10" name="Shape 10"/>
        <p:cNvGrpSpPr/>
        <p:nvPr/>
      </p:nvGrpSpPr>
      <p:grpSpPr>
        <a:xfrm>
          <a:off x="0" y="0"/>
          <a:ext cx="0" cy="0"/>
          <a:chOff x="0" y="0"/>
          <a:chExt cx="0" cy="0"/>
        </a:xfrm>
      </p:grpSpPr>
      <p:sp>
        <p:nvSpPr>
          <p:cNvPr id="11" name="Google Shape;11;p3"/>
          <p:cNvSpPr/>
          <p:nvPr/>
        </p:nvSpPr>
        <p:spPr>
          <a:xfrm>
            <a:off x="7048500" y="0"/>
            <a:ext cx="5143500" cy="6858000"/>
          </a:xfrm>
          <a:prstGeom prst="rect">
            <a:avLst/>
          </a:prstGeom>
          <a:solidFill>
            <a:srgbClr val="101C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2" name="Google Shape;12;p3"/>
          <p:cNvSpPr/>
          <p:nvPr/>
        </p:nvSpPr>
        <p:spPr>
          <a:xfrm>
            <a:off x="762000" y="2381250"/>
            <a:ext cx="1143000" cy="38100"/>
          </a:xfrm>
          <a:prstGeom prst="rect">
            <a:avLst/>
          </a:prstGeom>
          <a:solidFill>
            <a:srgbClr val="E8B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3" name="Google Shape;13;p3"/>
          <p:cNvSpPr txBox="1"/>
          <p:nvPr/>
        </p:nvSpPr>
        <p:spPr>
          <a:xfrm>
            <a:off x="762000" y="2647950"/>
            <a:ext cx="5905500" cy="6705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lang="zh-CN" sz="4000">
                <a:solidFill>
                  <a:srgbClr val="E8B430"/>
                </a:solidFill>
                <a:latin typeface="Arial"/>
                <a:ea typeface="Arial"/>
                <a:cs typeface="Arial"/>
                <a:sym typeface="Arial"/>
              </a:rPr>
              <a:t>SilkFlow AI</a:t>
            </a:r>
            <a:endParaRPr/>
          </a:p>
        </p:txBody>
      </p:sp>
      <p:sp>
        <p:nvSpPr>
          <p:cNvPr id="14" name="Google Shape;14;p3"/>
          <p:cNvSpPr txBox="1"/>
          <p:nvPr/>
        </p:nvSpPr>
        <p:spPr>
          <a:xfrm>
            <a:off x="762000" y="3352800"/>
            <a:ext cx="5810250" cy="5958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lang="zh-CN" sz="1700">
                <a:solidFill>
                  <a:srgbClr val="8EC5FF"/>
                </a:solidFill>
                <a:latin typeface="Arial"/>
                <a:ea typeface="Arial"/>
                <a:cs typeface="Arial"/>
                <a:sym typeface="Arial"/>
              </a:rPr>
              <a:t>Explainable AI credit scoring and on-chain escrow settlement for cross-border SME trade finance</a:t>
            </a:r>
            <a:endParaRPr/>
          </a:p>
        </p:txBody>
      </p:sp>
      <p:sp>
        <p:nvSpPr>
          <p:cNvPr id="15" name="Google Shape;15;p3"/>
          <p:cNvSpPr txBox="1"/>
          <p:nvPr/>
        </p:nvSpPr>
        <p:spPr>
          <a:xfrm>
            <a:off x="762000" y="4152900"/>
            <a:ext cx="5905500" cy="655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300">
                <a:solidFill>
                  <a:srgbClr val="FFFFFF"/>
                </a:solidFill>
                <a:latin typeface="Arial"/>
                <a:ea typeface="Arial"/>
                <a:cs typeface="Arial"/>
                <a:sym typeface="Arial"/>
              </a:rPr>
              <a:t>2026 Shenzhen International FinTech Competition </a:t>
            </a:r>
            <a:r>
              <a:rPr b="1" lang="zh-CN" sz="1300">
                <a:solidFill>
                  <a:srgbClr val="FFFFFF"/>
                </a:solidFill>
              </a:rPr>
              <a:t> </a:t>
            </a:r>
            <a:r>
              <a:rPr b="1" lang="zh-CN" sz="1300">
                <a:solidFill>
                  <a:srgbClr val="FFFFFF"/>
                </a:solidFill>
                <a:latin typeface="Arial"/>
                <a:ea typeface="Arial"/>
                <a:cs typeface="Arial"/>
                <a:sym typeface="Arial"/>
              </a:rPr>
              <a:t>AI Track (International)</a:t>
            </a:r>
            <a:endParaRPr/>
          </a:p>
          <a:p>
            <a:pPr indent="0" lvl="0" marL="0" marR="0" rtl="0" algn="l">
              <a:spcBef>
                <a:spcPts val="600"/>
              </a:spcBef>
              <a:spcAft>
                <a:spcPts val="0"/>
              </a:spcAft>
              <a:buNone/>
            </a:pPr>
            <a:r>
              <a:rPr lang="zh-CN" sz="1200">
                <a:solidFill>
                  <a:srgbClr val="99AABB"/>
                </a:solidFill>
                <a:latin typeface="Arial"/>
                <a:ea typeface="Arial"/>
                <a:cs typeface="Arial"/>
                <a:sym typeface="Arial"/>
              </a:rPr>
              <a:t>Direction F positioning: agent-driven settlement with real on-chain escrow logic</a:t>
            </a:r>
            <a:endParaRPr/>
          </a:p>
        </p:txBody>
      </p:sp>
      <p:sp>
        <p:nvSpPr>
          <p:cNvPr id="16" name="Google Shape;16;p3"/>
          <p:cNvSpPr txBox="1"/>
          <p:nvPr/>
        </p:nvSpPr>
        <p:spPr>
          <a:xfrm>
            <a:off x="762000" y="4953000"/>
            <a:ext cx="59055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1100">
                <a:solidFill>
                  <a:srgbClr val="99AABB"/>
                </a:solidFill>
                <a:latin typeface="Arial"/>
                <a:ea typeface="Arial"/>
                <a:cs typeface="Arial"/>
                <a:sym typeface="Arial"/>
              </a:rPr>
              <a:t>Team CoreTech Innovation · Nawabshah, Sindh, Pakistan · English submission ·</a:t>
            </a:r>
            <a:endParaRPr/>
          </a:p>
        </p:txBody>
      </p:sp>
      <p:sp>
        <p:nvSpPr>
          <p:cNvPr id="17" name="Google Shape;17;p3"/>
          <p:cNvSpPr txBox="1"/>
          <p:nvPr/>
        </p:nvSpPr>
        <p:spPr>
          <a:xfrm>
            <a:off x="7620000" y="952500"/>
            <a:ext cx="400050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400">
                <a:solidFill>
                  <a:srgbClr val="E8B430"/>
                </a:solidFill>
                <a:latin typeface="Arial"/>
                <a:ea typeface="Arial"/>
                <a:cs typeface="Arial"/>
                <a:sym typeface="Arial"/>
              </a:rPr>
              <a:t>THE PROBLEM IN NUMBERS</a:t>
            </a:r>
            <a:endParaRPr/>
          </a:p>
        </p:txBody>
      </p:sp>
      <p:sp>
        <p:nvSpPr>
          <p:cNvPr id="18" name="Google Shape;18;p3"/>
          <p:cNvSpPr txBox="1"/>
          <p:nvPr/>
        </p:nvSpPr>
        <p:spPr>
          <a:xfrm>
            <a:off x="7620000" y="1381125"/>
            <a:ext cx="4000500" cy="476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lang="zh-CN" sz="3000">
                <a:solidFill>
                  <a:srgbClr val="FFFFFF"/>
                </a:solidFill>
                <a:latin typeface="Arial"/>
                <a:ea typeface="Arial"/>
                <a:cs typeface="Arial"/>
                <a:sym typeface="Arial"/>
              </a:rPr>
              <a:t>$577M</a:t>
            </a:r>
            <a:endParaRPr/>
          </a:p>
          <a:p>
            <a:pPr indent="0" lvl="0" marL="0" marR="0" rtl="0" algn="l">
              <a:lnSpc>
                <a:spcPct val="115000"/>
              </a:lnSpc>
              <a:spcBef>
                <a:spcPts val="200"/>
              </a:spcBef>
              <a:spcAft>
                <a:spcPts val="0"/>
              </a:spcAft>
              <a:buNone/>
            </a:pPr>
            <a:r>
              <a:rPr lang="zh-CN" sz="1100">
                <a:solidFill>
                  <a:srgbClr val="8EC5FF"/>
                </a:solidFill>
                <a:latin typeface="Arial"/>
                <a:ea typeface="Arial"/>
                <a:cs typeface="Arial"/>
                <a:sym typeface="Arial"/>
              </a:rPr>
              <a:t>Trafigura nickel fraud, 2023  forged warehouse</a:t>
            </a:r>
            <a:endParaRPr/>
          </a:p>
          <a:p>
            <a:pPr indent="0" lvl="0" marL="0" marR="0" rtl="0" algn="l">
              <a:lnSpc>
                <a:spcPct val="115000"/>
              </a:lnSpc>
              <a:spcBef>
                <a:spcPts val="0"/>
              </a:spcBef>
              <a:spcAft>
                <a:spcPts val="0"/>
              </a:spcAft>
              <a:buNone/>
            </a:pPr>
            <a:r>
              <a:rPr lang="zh-CN" sz="1100">
                <a:solidFill>
                  <a:srgbClr val="8EC5FF"/>
                </a:solidFill>
                <a:latin typeface="Arial"/>
                <a:ea typeface="Arial"/>
                <a:cs typeface="Arial"/>
                <a:sym typeface="Arial"/>
              </a:rPr>
              <a:t>receipts on collateral that was never there</a:t>
            </a:r>
            <a:endParaRPr/>
          </a:p>
          <a:p>
            <a:pPr indent="0" lvl="0" marL="0" marR="0" rtl="0" algn="l">
              <a:lnSpc>
                <a:spcPct val="110000"/>
              </a:lnSpc>
              <a:spcBef>
                <a:spcPts val="1600"/>
              </a:spcBef>
              <a:spcAft>
                <a:spcPts val="0"/>
              </a:spcAft>
              <a:buNone/>
            </a:pPr>
            <a:r>
              <a:rPr b="1" lang="zh-CN" sz="3000">
                <a:solidFill>
                  <a:srgbClr val="FFFFFF"/>
                </a:solidFill>
                <a:latin typeface="Arial"/>
                <a:ea typeface="Arial"/>
                <a:cs typeface="Arial"/>
                <a:sym typeface="Arial"/>
              </a:rPr>
              <a:t>~$10B</a:t>
            </a:r>
            <a:endParaRPr/>
          </a:p>
          <a:p>
            <a:pPr indent="0" lvl="0" marL="0" marR="0" rtl="0" algn="l">
              <a:lnSpc>
                <a:spcPct val="115000"/>
              </a:lnSpc>
              <a:spcBef>
                <a:spcPts val="200"/>
              </a:spcBef>
              <a:spcAft>
                <a:spcPts val="0"/>
              </a:spcAft>
              <a:buNone/>
            </a:pPr>
            <a:r>
              <a:rPr lang="zh-CN" sz="1100">
                <a:solidFill>
                  <a:srgbClr val="8EC5FF"/>
                </a:solidFill>
                <a:latin typeface="Arial"/>
                <a:ea typeface="Arial"/>
                <a:cs typeface="Arial"/>
                <a:sym typeface="Arial"/>
              </a:rPr>
              <a:t>China fraudulent trade-financing exposed, 2014 </a:t>
            </a:r>
            <a:endParaRPr/>
          </a:p>
          <a:p>
            <a:pPr indent="0" lvl="0" marL="0" marR="0" rtl="0" algn="l">
              <a:lnSpc>
                <a:spcPct val="115000"/>
              </a:lnSpc>
              <a:spcBef>
                <a:spcPts val="0"/>
              </a:spcBef>
              <a:spcAft>
                <a:spcPts val="0"/>
              </a:spcAft>
              <a:buNone/>
            </a:pPr>
            <a:r>
              <a:rPr lang="zh-CN" sz="1100">
                <a:solidFill>
                  <a:srgbClr val="8EC5FF"/>
                </a:solidFill>
                <a:latin typeface="Arial"/>
                <a:ea typeface="Arial"/>
                <a:cs typeface="Arial"/>
                <a:sym typeface="Arial"/>
              </a:rPr>
              <a:t>forged docs and repeated invoices for one shipment</a:t>
            </a:r>
            <a:endParaRPr/>
          </a:p>
          <a:p>
            <a:pPr indent="0" lvl="0" marL="0" marR="0" rtl="0" algn="l">
              <a:lnSpc>
                <a:spcPct val="110000"/>
              </a:lnSpc>
              <a:spcBef>
                <a:spcPts val="1600"/>
              </a:spcBef>
              <a:spcAft>
                <a:spcPts val="0"/>
              </a:spcAft>
              <a:buNone/>
            </a:pPr>
            <a:r>
              <a:rPr b="1" lang="zh-CN" sz="3000">
                <a:solidFill>
                  <a:srgbClr val="FFFFFF"/>
                </a:solidFill>
                <a:latin typeface="Arial"/>
                <a:ea typeface="Arial"/>
                <a:cs typeface="Arial"/>
                <a:sym typeface="Arial"/>
              </a:rPr>
              <a:t>£29.4M</a:t>
            </a:r>
            <a:endParaRPr/>
          </a:p>
          <a:p>
            <a:pPr indent="0" lvl="0" marL="0" marR="0" rtl="0" algn="l">
              <a:lnSpc>
                <a:spcPct val="115000"/>
              </a:lnSpc>
              <a:spcBef>
                <a:spcPts val="200"/>
              </a:spcBef>
              <a:spcAft>
                <a:spcPts val="0"/>
              </a:spcAft>
              <a:buNone/>
            </a:pPr>
            <a:r>
              <a:rPr lang="zh-CN" sz="1100">
                <a:solidFill>
                  <a:srgbClr val="8EC5FF"/>
                </a:solidFill>
                <a:latin typeface="Arial"/>
                <a:ea typeface="Arial"/>
                <a:cs typeface="Arial"/>
                <a:sym typeface="Arial"/>
              </a:rPr>
              <a:t>Stenn supply-chain finance fund losses, 2019 </a:t>
            </a:r>
            <a:endParaRPr/>
          </a:p>
          <a:p>
            <a:pPr indent="0" lvl="0" marL="0" marR="0" rtl="0" algn="l">
              <a:lnSpc>
                <a:spcPct val="115000"/>
              </a:lnSpc>
              <a:spcBef>
                <a:spcPts val="0"/>
              </a:spcBef>
              <a:spcAft>
                <a:spcPts val="0"/>
              </a:spcAft>
              <a:buNone/>
            </a:pPr>
            <a:r>
              <a:rPr lang="zh-CN" sz="1100">
                <a:solidFill>
                  <a:srgbClr val="8EC5FF"/>
                </a:solidFill>
                <a:latin typeface="Arial"/>
                <a:ea typeface="Arial"/>
                <a:cs typeface="Arial"/>
                <a:sym typeface="Arial"/>
              </a:rPr>
              <a:t>inflated invoices and phantom invoices</a:t>
            </a:r>
            <a:endParaRPr/>
          </a:p>
          <a:p>
            <a:pPr indent="0" lvl="0" marL="0" marR="0" rtl="0" algn="l">
              <a:lnSpc>
                <a:spcPct val="110000"/>
              </a:lnSpc>
              <a:spcBef>
                <a:spcPts val="1600"/>
              </a:spcBef>
              <a:spcAft>
                <a:spcPts val="0"/>
              </a:spcAft>
              <a:buNone/>
            </a:pPr>
            <a:r>
              <a:rPr b="1" lang="zh-CN" sz="3000">
                <a:solidFill>
                  <a:srgbClr val="E8B430"/>
                </a:solidFill>
                <a:latin typeface="Arial"/>
                <a:ea typeface="Arial"/>
                <a:cs typeface="Arial"/>
                <a:sym typeface="Arial"/>
              </a:rPr>
              <a:t>65/65</a:t>
            </a:r>
            <a:endParaRPr/>
          </a:p>
          <a:p>
            <a:pPr indent="0" lvl="0" marL="0" marR="0" rtl="0" algn="l">
              <a:lnSpc>
                <a:spcPct val="115000"/>
              </a:lnSpc>
              <a:spcBef>
                <a:spcPts val="200"/>
              </a:spcBef>
              <a:spcAft>
                <a:spcPts val="0"/>
              </a:spcAft>
              <a:buNone/>
            </a:pPr>
            <a:r>
              <a:rPr lang="zh-CN" sz="1100">
                <a:solidFill>
                  <a:srgbClr val="8EC5FF"/>
                </a:solidFill>
                <a:latin typeface="Arial"/>
                <a:ea typeface="Arial"/>
                <a:cs typeface="Arial"/>
                <a:sym typeface="Arial"/>
              </a:rPr>
              <a:t>end-to-end tests passing on our working prototype</a:t>
            </a:r>
            <a:endParaRPr/>
          </a:p>
        </p:txBody>
      </p:sp>
      <p:sp>
        <p:nvSpPr>
          <p:cNvPr id="19" name="Google Shape;19;p3"/>
          <p:cNvSpPr txBox="1"/>
          <p:nvPr/>
        </p:nvSpPr>
        <p:spPr>
          <a:xfrm>
            <a:off x="7620000" y="6286500"/>
            <a:ext cx="40005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900">
                <a:solidFill>
                  <a:srgbClr val="99AABB"/>
                </a:solidFill>
                <a:latin typeface="Arial"/>
                <a:ea typeface="Arial"/>
                <a:cs typeface="Arial"/>
                <a:sym typeface="Arial"/>
              </a:rPr>
              <a:t>Sources: Reuters / FT / WSJ / GTR reporting </a:t>
            </a:r>
            <a:r>
              <a:rPr lang="zh-CN" sz="900">
                <a:solidFill>
                  <a:srgbClr val="99AABB"/>
                </a:solidFill>
              </a:rPr>
              <a:t> </a:t>
            </a:r>
            <a:r>
              <a:rPr lang="zh-CN" sz="900">
                <a:solidFill>
                  <a:srgbClr val="99AABB"/>
                </a:solidFill>
                <a:latin typeface="Arial"/>
                <a:ea typeface="Arial"/>
                <a:cs typeface="Arial"/>
                <a:sym typeface="Arial"/>
              </a:rPr>
              <a:t> details on later slides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0F1E"/>
        </a:solidFill>
      </p:bgPr>
    </p:bg>
    <p:spTree>
      <p:nvGrpSpPr>
        <p:cNvPr id="23" name="Shape 23"/>
        <p:cNvGrpSpPr/>
        <p:nvPr/>
      </p:nvGrpSpPr>
      <p:grpSpPr>
        <a:xfrm>
          <a:off x="0" y="0"/>
          <a:ext cx="0" cy="0"/>
          <a:chOff x="0" y="0"/>
          <a:chExt cx="0" cy="0"/>
        </a:xfrm>
      </p:grpSpPr>
      <p:sp>
        <p:nvSpPr>
          <p:cNvPr id="24" name="Google Shape;24;p4"/>
          <p:cNvSpPr txBox="1"/>
          <p:nvPr/>
        </p:nvSpPr>
        <p:spPr>
          <a:xfrm>
            <a:off x="276225" y="171450"/>
            <a:ext cx="19050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100">
                <a:solidFill>
                  <a:srgbClr val="E8B430"/>
                </a:solidFill>
                <a:latin typeface="Arial"/>
                <a:ea typeface="Arial"/>
                <a:cs typeface="Arial"/>
                <a:sym typeface="Arial"/>
              </a:rPr>
              <a:t>SILKFLOW AI</a:t>
            </a:r>
            <a:endParaRPr/>
          </a:p>
        </p:txBody>
      </p:sp>
      <p:sp>
        <p:nvSpPr>
          <p:cNvPr id="25" name="Google Shape;25;p4"/>
          <p:cNvSpPr/>
          <p:nvPr/>
        </p:nvSpPr>
        <p:spPr>
          <a:xfrm>
            <a:off x="276225" y="866775"/>
            <a:ext cx="11610975" cy="28575"/>
          </a:xfrm>
          <a:prstGeom prst="rect">
            <a:avLst/>
          </a:prstGeom>
          <a:solidFill>
            <a:srgbClr val="E8B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26" name="Google Shape;26;p4"/>
          <p:cNvSpPr txBox="1"/>
          <p:nvPr/>
        </p:nvSpPr>
        <p:spPr>
          <a:xfrm>
            <a:off x="457200" y="1028700"/>
            <a:ext cx="11249025"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2800">
                <a:solidFill>
                  <a:srgbClr val="FFFFFF"/>
                </a:solidFill>
                <a:latin typeface="Arial"/>
                <a:ea typeface="Arial"/>
                <a:cs typeface="Arial"/>
                <a:sym typeface="Arial"/>
              </a:rPr>
              <a:t>The Multi-Billion Trade</a:t>
            </a:r>
            <a:r>
              <a:rPr b="1" lang="zh-CN" sz="2800">
                <a:solidFill>
                  <a:srgbClr val="FFFFFF"/>
                </a:solidFill>
              </a:rPr>
              <a:t> </a:t>
            </a:r>
            <a:r>
              <a:rPr b="1" lang="zh-CN" sz="2800">
                <a:solidFill>
                  <a:srgbClr val="FFFFFF"/>
                </a:solidFill>
                <a:latin typeface="Arial"/>
                <a:ea typeface="Arial"/>
                <a:cs typeface="Arial"/>
                <a:sym typeface="Arial"/>
              </a:rPr>
              <a:t>Finance Trust Gap</a:t>
            </a:r>
            <a:endParaRPr/>
          </a:p>
        </p:txBody>
      </p:sp>
      <p:sp>
        <p:nvSpPr>
          <p:cNvPr id="27" name="Google Shape;27;p4"/>
          <p:cNvSpPr txBox="1"/>
          <p:nvPr/>
        </p:nvSpPr>
        <p:spPr>
          <a:xfrm>
            <a:off x="457200" y="1581150"/>
            <a:ext cx="11249025"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1400">
                <a:solidFill>
                  <a:srgbClr val="8EC5FF"/>
                </a:solidFill>
                <a:latin typeface="Arial"/>
                <a:ea typeface="Arial"/>
                <a:cs typeface="Arial"/>
                <a:sym typeface="Arial"/>
              </a:rPr>
              <a:t>Document fraud and duplicated paper have cost the industry billions </a:t>
            </a:r>
            <a:r>
              <a:rPr lang="zh-CN">
                <a:solidFill>
                  <a:srgbClr val="8EC5FF"/>
                </a:solidFill>
              </a:rPr>
              <a:t> </a:t>
            </a:r>
            <a:r>
              <a:rPr lang="zh-CN" sz="1400">
                <a:solidFill>
                  <a:srgbClr val="8EC5FF"/>
                </a:solidFill>
                <a:latin typeface="Arial"/>
                <a:ea typeface="Arial"/>
                <a:cs typeface="Arial"/>
                <a:sym typeface="Arial"/>
              </a:rPr>
              <a:t>and the same mechanisms lock small exporters out of finance today.</a:t>
            </a:r>
            <a:endParaRPr/>
          </a:p>
        </p:txBody>
      </p:sp>
      <p:sp>
        <p:nvSpPr>
          <p:cNvPr id="28" name="Google Shape;28;p4"/>
          <p:cNvSpPr/>
          <p:nvPr/>
        </p:nvSpPr>
        <p:spPr>
          <a:xfrm>
            <a:off x="457200" y="2076450"/>
            <a:ext cx="3562350" cy="219075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29" name="Google Shape;29;p4"/>
          <p:cNvSpPr txBox="1"/>
          <p:nvPr/>
        </p:nvSpPr>
        <p:spPr>
          <a:xfrm>
            <a:off x="666750" y="2266950"/>
            <a:ext cx="3143250" cy="1905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3400">
                <a:solidFill>
                  <a:srgbClr val="FFFFFF"/>
                </a:solidFill>
                <a:latin typeface="Arial"/>
                <a:ea typeface="Arial"/>
                <a:cs typeface="Arial"/>
                <a:sym typeface="Arial"/>
              </a:rPr>
              <a:t>$577M</a:t>
            </a:r>
            <a:endParaRPr/>
          </a:p>
          <a:p>
            <a:pPr indent="0" lvl="0" marL="0" marR="0" rtl="0" algn="l">
              <a:spcBef>
                <a:spcPts val="400"/>
              </a:spcBef>
              <a:spcAft>
                <a:spcPts val="0"/>
              </a:spcAft>
              <a:buNone/>
            </a:pPr>
            <a:r>
              <a:rPr b="1" lang="zh-CN" sz="1300">
                <a:solidFill>
                  <a:srgbClr val="E8B430"/>
                </a:solidFill>
                <a:latin typeface="Arial"/>
                <a:ea typeface="Arial"/>
                <a:cs typeface="Arial"/>
                <a:sym typeface="Arial"/>
              </a:rPr>
              <a:t>TRAFIGURA · 2023</a:t>
            </a:r>
            <a:endParaRPr/>
          </a:p>
          <a:p>
            <a:pPr indent="0" lvl="0" marL="0" marR="0" rtl="0" algn="l">
              <a:lnSpc>
                <a:spcPct val="120000"/>
              </a:lnSpc>
              <a:spcBef>
                <a:spcPts val="1000"/>
              </a:spcBef>
              <a:spcAft>
                <a:spcPts val="0"/>
              </a:spcAft>
              <a:buNone/>
            </a:pPr>
            <a:r>
              <a:rPr lang="zh-CN" sz="1200">
                <a:solidFill>
                  <a:srgbClr val="8EC5FF"/>
                </a:solidFill>
                <a:latin typeface="Arial"/>
                <a:ea typeface="Arial"/>
                <a:cs typeface="Arial"/>
                <a:sym typeface="Arial"/>
              </a:rPr>
              <a:t>Forged warehouse receipts secured multi-billion lending against nickel that had already been secretly re-sold.</a:t>
            </a:r>
            <a:endParaRPr/>
          </a:p>
        </p:txBody>
      </p:sp>
      <p:sp>
        <p:nvSpPr>
          <p:cNvPr id="30" name="Google Shape;30;p4"/>
          <p:cNvSpPr/>
          <p:nvPr/>
        </p:nvSpPr>
        <p:spPr>
          <a:xfrm>
            <a:off x="4295775" y="2076450"/>
            <a:ext cx="3562350" cy="219075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31" name="Google Shape;31;p4"/>
          <p:cNvSpPr txBox="1"/>
          <p:nvPr/>
        </p:nvSpPr>
        <p:spPr>
          <a:xfrm>
            <a:off x="4505325" y="2266950"/>
            <a:ext cx="3143250" cy="1905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3400">
                <a:solidFill>
                  <a:srgbClr val="FFFFFF"/>
                </a:solidFill>
                <a:latin typeface="Arial"/>
                <a:ea typeface="Arial"/>
                <a:cs typeface="Arial"/>
                <a:sym typeface="Arial"/>
              </a:rPr>
              <a:t>~$10B</a:t>
            </a:r>
            <a:endParaRPr/>
          </a:p>
          <a:p>
            <a:pPr indent="0" lvl="0" marL="0" marR="0" rtl="0" algn="l">
              <a:spcBef>
                <a:spcPts val="400"/>
              </a:spcBef>
              <a:spcAft>
                <a:spcPts val="0"/>
              </a:spcAft>
              <a:buNone/>
            </a:pPr>
            <a:r>
              <a:rPr b="1" lang="zh-CN" sz="1300">
                <a:solidFill>
                  <a:srgbClr val="E8B430"/>
                </a:solidFill>
                <a:latin typeface="Arial"/>
                <a:ea typeface="Arial"/>
                <a:cs typeface="Arial"/>
                <a:sym typeface="Arial"/>
              </a:rPr>
              <a:t>CHINA · 2014</a:t>
            </a:r>
            <a:endParaRPr/>
          </a:p>
          <a:p>
            <a:pPr indent="0" lvl="0" marL="0" marR="0" rtl="0" algn="l">
              <a:lnSpc>
                <a:spcPct val="120000"/>
              </a:lnSpc>
              <a:spcBef>
                <a:spcPts val="1000"/>
              </a:spcBef>
              <a:spcAft>
                <a:spcPts val="0"/>
              </a:spcAft>
              <a:buNone/>
            </a:pPr>
            <a:r>
              <a:rPr lang="zh-CN" sz="1200">
                <a:solidFill>
                  <a:srgbClr val="8EC5FF"/>
                </a:solidFill>
                <a:latin typeface="Arial"/>
                <a:ea typeface="Arial"/>
                <a:cs typeface="Arial"/>
                <a:sym typeface="Arial"/>
              </a:rPr>
              <a:t>Forged documents and one shipment invoiced repeatedly across banks </a:t>
            </a:r>
            <a:r>
              <a:rPr lang="zh-CN" sz="1200">
                <a:solidFill>
                  <a:srgbClr val="8EC5FF"/>
                </a:solidFill>
              </a:rPr>
              <a:t> </a:t>
            </a:r>
            <a:r>
              <a:rPr lang="zh-CN" sz="1200">
                <a:solidFill>
                  <a:srgbClr val="8EC5FF"/>
                </a:solidFill>
                <a:latin typeface="Arial"/>
                <a:ea typeface="Arial"/>
                <a:cs typeface="Arial"/>
                <a:sym typeface="Arial"/>
              </a:rPr>
              <a:t> exposed by credit defaults in 2014.</a:t>
            </a:r>
            <a:endParaRPr/>
          </a:p>
        </p:txBody>
      </p:sp>
      <p:sp>
        <p:nvSpPr>
          <p:cNvPr id="32" name="Google Shape;32;p4"/>
          <p:cNvSpPr/>
          <p:nvPr/>
        </p:nvSpPr>
        <p:spPr>
          <a:xfrm>
            <a:off x="8134350" y="2076450"/>
            <a:ext cx="3562350" cy="219075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33" name="Google Shape;33;p4"/>
          <p:cNvSpPr txBox="1"/>
          <p:nvPr/>
        </p:nvSpPr>
        <p:spPr>
          <a:xfrm>
            <a:off x="8343900" y="2266950"/>
            <a:ext cx="3143250" cy="1905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3400">
                <a:solidFill>
                  <a:srgbClr val="FFFFFF"/>
                </a:solidFill>
                <a:latin typeface="Arial"/>
                <a:ea typeface="Arial"/>
                <a:cs typeface="Arial"/>
                <a:sym typeface="Arial"/>
              </a:rPr>
              <a:t>£29.4M</a:t>
            </a:r>
            <a:endParaRPr/>
          </a:p>
          <a:p>
            <a:pPr indent="0" lvl="0" marL="0" marR="0" rtl="0" algn="l">
              <a:spcBef>
                <a:spcPts val="400"/>
              </a:spcBef>
              <a:spcAft>
                <a:spcPts val="0"/>
              </a:spcAft>
              <a:buNone/>
            </a:pPr>
            <a:r>
              <a:rPr b="1" lang="zh-CN" sz="1300">
                <a:solidFill>
                  <a:srgbClr val="E8B430"/>
                </a:solidFill>
                <a:latin typeface="Arial"/>
                <a:ea typeface="Arial"/>
                <a:cs typeface="Arial"/>
                <a:sym typeface="Arial"/>
              </a:rPr>
              <a:t>STENN · 2019</a:t>
            </a:r>
            <a:endParaRPr/>
          </a:p>
          <a:p>
            <a:pPr indent="0" lvl="0" marL="0" marR="0" rtl="0" algn="l">
              <a:lnSpc>
                <a:spcPct val="120000"/>
              </a:lnSpc>
              <a:spcBef>
                <a:spcPts val="1000"/>
              </a:spcBef>
              <a:spcAft>
                <a:spcPts val="0"/>
              </a:spcAft>
              <a:buNone/>
            </a:pPr>
            <a:r>
              <a:rPr lang="zh-CN" sz="1200">
                <a:solidFill>
                  <a:srgbClr val="8EC5FF"/>
                </a:solidFill>
                <a:latin typeface="Arial"/>
                <a:ea typeface="Arial"/>
                <a:cs typeface="Arial"/>
                <a:sym typeface="Arial"/>
              </a:rPr>
              <a:t>Inflated and phantom invoices drained a £115m supply-chain finance fund run by a fraud ring.</a:t>
            </a:r>
            <a:endParaRPr/>
          </a:p>
        </p:txBody>
      </p:sp>
      <p:sp>
        <p:nvSpPr>
          <p:cNvPr id="34" name="Google Shape;34;p4"/>
          <p:cNvSpPr txBox="1"/>
          <p:nvPr/>
        </p:nvSpPr>
        <p:spPr>
          <a:xfrm>
            <a:off x="638175" y="4457700"/>
            <a:ext cx="10791825" cy="1905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400">
                <a:solidFill>
                  <a:srgbClr val="FFFFFF"/>
                </a:solidFill>
                <a:latin typeface="Arial"/>
                <a:ea typeface="Arial"/>
                <a:cs typeface="Arial"/>
                <a:sym typeface="Arial"/>
              </a:rPr>
              <a:t>Why the same frauds keep working  and small exporters keep losing:</a:t>
            </a:r>
            <a:endParaRPr/>
          </a:p>
          <a:p>
            <a:pPr indent="0" lvl="0" marL="0" marR="0" rtl="0" algn="l">
              <a:lnSpc>
                <a:spcPct val="125000"/>
              </a:lnSpc>
              <a:spcBef>
                <a:spcPts val="800"/>
              </a:spcBef>
              <a:spcAft>
                <a:spcPts val="0"/>
              </a:spcAft>
              <a:buNone/>
            </a:pPr>
            <a:r>
              <a:rPr lang="zh-CN" sz="1200">
                <a:solidFill>
                  <a:srgbClr val="99AABB"/>
                </a:solidFill>
                <a:latin typeface="Arial"/>
                <a:ea typeface="Arial"/>
                <a:cs typeface="Arial"/>
                <a:sym typeface="Arial"/>
              </a:rPr>
              <a:t>•  Paper trust </a:t>
            </a:r>
            <a:r>
              <a:rPr lang="zh-CN" sz="1200">
                <a:solidFill>
                  <a:srgbClr val="99AABB"/>
                </a:solidFill>
              </a:rPr>
              <a:t> </a:t>
            </a:r>
            <a:r>
              <a:rPr lang="zh-CN" sz="1200">
                <a:solidFill>
                  <a:srgbClr val="99AABB"/>
                </a:solidFill>
                <a:latin typeface="Arial"/>
                <a:ea typeface="Arial"/>
                <a:cs typeface="Arial"/>
                <a:sym typeface="Arial"/>
              </a:rPr>
              <a:t> invoices, packing lists and bills of lading are verified by eye, so forged or duplicated documents slip through.</a:t>
            </a:r>
            <a:endParaRPr/>
          </a:p>
          <a:p>
            <a:pPr indent="0" lvl="0" marL="0" marR="0" rtl="0" algn="l">
              <a:lnSpc>
                <a:spcPct val="125000"/>
              </a:lnSpc>
              <a:spcBef>
                <a:spcPts val="400"/>
              </a:spcBef>
              <a:spcAft>
                <a:spcPts val="0"/>
              </a:spcAft>
              <a:buNone/>
            </a:pPr>
            <a:r>
              <a:rPr lang="zh-CN" sz="1200">
                <a:solidFill>
                  <a:srgbClr val="99AABB"/>
                </a:solidFill>
                <a:latin typeface="Arial"/>
                <a:ea typeface="Arial"/>
                <a:cs typeface="Arial"/>
                <a:sym typeface="Arial"/>
              </a:rPr>
              <a:t>•  Black-box credit </a:t>
            </a:r>
            <a:r>
              <a:rPr lang="zh-CN" sz="1200">
                <a:solidFill>
                  <a:srgbClr val="99AABB"/>
                </a:solidFill>
              </a:rPr>
              <a:t> , </a:t>
            </a:r>
            <a:r>
              <a:rPr lang="zh-CN" sz="1200">
                <a:solidFill>
                  <a:srgbClr val="99AABB"/>
                </a:solidFill>
                <a:latin typeface="Arial"/>
                <a:ea typeface="Arial"/>
                <a:cs typeface="Arial"/>
                <a:sym typeface="Arial"/>
              </a:rPr>
              <a:t>l</a:t>
            </a:r>
            <a:r>
              <a:rPr lang="zh-CN" sz="1200">
                <a:solidFill>
                  <a:srgbClr val="99AABB"/>
                </a:solidFill>
                <a:latin typeface="Arial"/>
                <a:ea typeface="Arial"/>
                <a:cs typeface="Arial"/>
                <a:sym typeface="Arial"/>
              </a:rPr>
              <a:t>enders see a verdict, never the reasons; exporters with clean records are still rejected without explanation.</a:t>
            </a:r>
            <a:endParaRPr/>
          </a:p>
          <a:p>
            <a:pPr indent="0" lvl="0" marL="0" marR="0" rtl="0" algn="l">
              <a:lnSpc>
                <a:spcPct val="125000"/>
              </a:lnSpc>
              <a:spcBef>
                <a:spcPts val="400"/>
              </a:spcBef>
              <a:spcAft>
                <a:spcPts val="0"/>
              </a:spcAft>
              <a:buNone/>
            </a:pPr>
            <a:r>
              <a:rPr lang="zh-CN" sz="1200">
                <a:solidFill>
                  <a:srgbClr val="99AABB"/>
                </a:solidFill>
                <a:latin typeface="Arial"/>
                <a:ea typeface="Arial"/>
                <a:cs typeface="Arial"/>
                <a:sym typeface="Arial"/>
              </a:rPr>
              <a:t>•  Payment-vs-delivery deadlock</a:t>
            </a:r>
            <a:r>
              <a:rPr lang="zh-CN" sz="1200">
                <a:solidFill>
                  <a:srgbClr val="99AABB"/>
                </a:solidFill>
              </a:rPr>
              <a:t>, </a:t>
            </a:r>
            <a:r>
              <a:rPr lang="zh-CN" sz="1200">
                <a:solidFill>
                  <a:srgbClr val="99AABB"/>
                </a:solidFill>
                <a:latin typeface="Arial"/>
                <a:ea typeface="Arial"/>
                <a:cs typeface="Arial"/>
                <a:sym typeface="Arial"/>
              </a:rPr>
              <a:t> neither side dares to move first: advances vanish, goods ship un-paid.</a:t>
            </a:r>
            <a:endParaRPr/>
          </a:p>
          <a:p>
            <a:pPr indent="0" lvl="0" marL="0" marR="0" rtl="0" algn="l">
              <a:lnSpc>
                <a:spcPct val="125000"/>
              </a:lnSpc>
              <a:spcBef>
                <a:spcPts val="400"/>
              </a:spcBef>
              <a:spcAft>
                <a:spcPts val="0"/>
              </a:spcAft>
              <a:buNone/>
            </a:pPr>
            <a:r>
              <a:rPr lang="zh-CN" sz="1200">
                <a:solidFill>
                  <a:srgbClr val="99AABB"/>
                </a:solidFill>
                <a:latin typeface="Arial"/>
                <a:ea typeface="Arial"/>
                <a:cs typeface="Arial"/>
                <a:sym typeface="Arial"/>
              </a:rPr>
              <a:t>•  Editable evidence </a:t>
            </a:r>
            <a:r>
              <a:rPr lang="zh-CN" sz="1200">
                <a:solidFill>
                  <a:srgbClr val="99AABB"/>
                </a:solidFill>
              </a:rPr>
              <a:t>, </a:t>
            </a:r>
            <a:r>
              <a:rPr lang="zh-CN" sz="1200">
                <a:solidFill>
                  <a:srgbClr val="99AABB"/>
                </a:solidFill>
                <a:latin typeface="Arial"/>
                <a:ea typeface="Arial"/>
                <a:cs typeface="Arial"/>
                <a:sym typeface="Arial"/>
              </a:rPr>
              <a:t> logs can be rewritten after the fact, so decisions cannot be proven to a counterparty or regulator.</a:t>
            </a:r>
            <a:endParaRPr/>
          </a:p>
        </p:txBody>
      </p:sp>
      <p:sp>
        <p:nvSpPr>
          <p:cNvPr id="35" name="Google Shape;35;p4"/>
          <p:cNvSpPr txBox="1"/>
          <p:nvPr/>
        </p:nvSpPr>
        <p:spPr>
          <a:xfrm>
            <a:off x="276225" y="6496050"/>
            <a:ext cx="1161097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900">
                <a:solidFill>
                  <a:srgbClr val="99AABB"/>
                </a:solidFill>
                <a:latin typeface="Arial"/>
                <a:ea typeface="Arial"/>
                <a:cs typeface="Arial"/>
                <a:sym typeface="Arial"/>
              </a:rPr>
              <a:t>SilkFlow AI  |  FinTechathon 2026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0F1E"/>
        </a:solidFill>
      </p:bgPr>
    </p:bg>
    <p:spTree>
      <p:nvGrpSpPr>
        <p:cNvPr id="39" name="Shape 39"/>
        <p:cNvGrpSpPr/>
        <p:nvPr/>
      </p:nvGrpSpPr>
      <p:grpSpPr>
        <a:xfrm>
          <a:off x="0" y="0"/>
          <a:ext cx="0" cy="0"/>
          <a:chOff x="0" y="0"/>
          <a:chExt cx="0" cy="0"/>
        </a:xfrm>
      </p:grpSpPr>
      <p:sp>
        <p:nvSpPr>
          <p:cNvPr id="40" name="Google Shape;40;p5"/>
          <p:cNvSpPr txBox="1"/>
          <p:nvPr/>
        </p:nvSpPr>
        <p:spPr>
          <a:xfrm>
            <a:off x="276225" y="171450"/>
            <a:ext cx="19050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100">
                <a:solidFill>
                  <a:srgbClr val="E8B430"/>
                </a:solidFill>
                <a:latin typeface="Arial"/>
                <a:ea typeface="Arial"/>
                <a:cs typeface="Arial"/>
                <a:sym typeface="Arial"/>
              </a:rPr>
              <a:t>SILKFLOW AI</a:t>
            </a:r>
            <a:endParaRPr/>
          </a:p>
        </p:txBody>
      </p:sp>
      <p:sp>
        <p:nvSpPr>
          <p:cNvPr id="41" name="Google Shape;41;p5"/>
          <p:cNvSpPr/>
          <p:nvPr/>
        </p:nvSpPr>
        <p:spPr>
          <a:xfrm>
            <a:off x="276225" y="866775"/>
            <a:ext cx="11610975" cy="28575"/>
          </a:xfrm>
          <a:prstGeom prst="rect">
            <a:avLst/>
          </a:prstGeom>
          <a:solidFill>
            <a:srgbClr val="E8B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42" name="Google Shape;42;p5"/>
          <p:cNvSpPr txBox="1"/>
          <p:nvPr/>
        </p:nvSpPr>
        <p:spPr>
          <a:xfrm>
            <a:off x="457200" y="1028700"/>
            <a:ext cx="11249025"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2800">
                <a:solidFill>
                  <a:srgbClr val="FFFFFF"/>
                </a:solidFill>
                <a:latin typeface="Arial"/>
                <a:ea typeface="Arial"/>
                <a:cs typeface="Arial"/>
                <a:sym typeface="Arial"/>
              </a:rPr>
              <a:t>Our Solution: SilkFlow AI</a:t>
            </a:r>
            <a:endParaRPr/>
          </a:p>
        </p:txBody>
      </p:sp>
      <p:sp>
        <p:nvSpPr>
          <p:cNvPr id="43" name="Google Shape;43;p5"/>
          <p:cNvSpPr txBox="1"/>
          <p:nvPr/>
        </p:nvSpPr>
        <p:spPr>
          <a:xfrm>
            <a:off x="457200" y="1581150"/>
            <a:ext cx="11249025"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1400">
                <a:solidFill>
                  <a:srgbClr val="8EC5FF"/>
                </a:solidFill>
                <a:latin typeface="Arial"/>
                <a:ea typeface="Arial"/>
                <a:cs typeface="Arial"/>
                <a:sym typeface="Arial"/>
              </a:rPr>
              <a:t>Score it. Explain it. Settle it. Prove it  one closed loop for cross-border SME trade, running today.</a:t>
            </a:r>
            <a:endParaRPr/>
          </a:p>
        </p:txBody>
      </p:sp>
      <p:sp>
        <p:nvSpPr>
          <p:cNvPr id="44" name="Google Shape;44;p5"/>
          <p:cNvSpPr/>
          <p:nvPr/>
        </p:nvSpPr>
        <p:spPr>
          <a:xfrm>
            <a:off x="457200" y="2047875"/>
            <a:ext cx="5429250" cy="1857375"/>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45" name="Google Shape;45;p5"/>
          <p:cNvSpPr txBox="1"/>
          <p:nvPr/>
        </p:nvSpPr>
        <p:spPr>
          <a:xfrm>
            <a:off x="666750" y="2200275"/>
            <a:ext cx="5010150" cy="1571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600">
                <a:solidFill>
                  <a:srgbClr val="E8B430"/>
                </a:solidFill>
                <a:latin typeface="Arial"/>
                <a:ea typeface="Arial"/>
                <a:cs typeface="Arial"/>
                <a:sym typeface="Arial"/>
              </a:rPr>
              <a:t>1  SCORE IT </a:t>
            </a:r>
            <a:r>
              <a:rPr b="1" lang="zh-CN" sz="1600">
                <a:solidFill>
                  <a:srgbClr val="E8B430"/>
                </a:solidFill>
              </a:rPr>
              <a:t>, </a:t>
            </a:r>
            <a:r>
              <a:rPr b="1" lang="zh-CN" sz="1600">
                <a:solidFill>
                  <a:srgbClr val="E8B430"/>
                </a:solidFill>
                <a:latin typeface="Arial"/>
                <a:ea typeface="Arial"/>
                <a:cs typeface="Arial"/>
                <a:sym typeface="Arial"/>
              </a:rPr>
              <a:t> automatically</a:t>
            </a:r>
            <a:endParaRPr/>
          </a:p>
          <a:p>
            <a:pPr indent="0" lvl="0" marL="0" marR="0" rtl="0" algn="l">
              <a:lnSpc>
                <a:spcPct val="125000"/>
              </a:lnSpc>
              <a:spcBef>
                <a:spcPts val="800"/>
              </a:spcBef>
              <a:spcAft>
                <a:spcPts val="0"/>
              </a:spcAft>
              <a:buNone/>
            </a:pPr>
            <a:r>
              <a:rPr lang="zh-CN" sz="1200">
                <a:solidFill>
                  <a:srgbClr val="FFFFFF"/>
                </a:solidFill>
                <a:latin typeface="Arial"/>
                <a:ea typeface="Arial"/>
                <a:cs typeface="Arial"/>
                <a:sym typeface="Arial"/>
              </a:rPr>
              <a:t>The document checker cross-validates invoice, packing-list and shipment fields; a passed check triggers credit scoring instantly. XGBoost + Isolation Forest over 16 engineered features flag anomalous trades before money moves.</a:t>
            </a:r>
            <a:endParaRPr/>
          </a:p>
        </p:txBody>
      </p:sp>
      <p:sp>
        <p:nvSpPr>
          <p:cNvPr id="46" name="Google Shape;46;p5"/>
          <p:cNvSpPr/>
          <p:nvPr/>
        </p:nvSpPr>
        <p:spPr>
          <a:xfrm>
            <a:off x="6305550" y="2047875"/>
            <a:ext cx="5429250" cy="1857375"/>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47" name="Google Shape;47;p5"/>
          <p:cNvSpPr txBox="1"/>
          <p:nvPr/>
        </p:nvSpPr>
        <p:spPr>
          <a:xfrm>
            <a:off x="6515100" y="2200275"/>
            <a:ext cx="5010150" cy="1571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600">
                <a:solidFill>
                  <a:srgbClr val="E8B430"/>
                </a:solidFill>
                <a:latin typeface="Arial"/>
                <a:ea typeface="Arial"/>
                <a:cs typeface="Arial"/>
                <a:sym typeface="Arial"/>
              </a:rPr>
              <a:t>2  EXPLAIN IT </a:t>
            </a:r>
            <a:r>
              <a:rPr b="1" lang="zh-CN" sz="1600">
                <a:solidFill>
                  <a:srgbClr val="E8B430"/>
                </a:solidFill>
              </a:rPr>
              <a:t>,</a:t>
            </a:r>
            <a:r>
              <a:rPr b="1" lang="zh-CN" sz="1600">
                <a:solidFill>
                  <a:srgbClr val="E8B430"/>
                </a:solidFill>
                <a:latin typeface="Arial"/>
                <a:ea typeface="Arial"/>
                <a:cs typeface="Arial"/>
                <a:sym typeface="Arial"/>
              </a:rPr>
              <a:t> no black box</a:t>
            </a:r>
            <a:endParaRPr/>
          </a:p>
          <a:p>
            <a:pPr indent="0" lvl="0" marL="0" marR="0" rtl="0" algn="l">
              <a:lnSpc>
                <a:spcPct val="125000"/>
              </a:lnSpc>
              <a:spcBef>
                <a:spcPts val="800"/>
              </a:spcBef>
              <a:spcAft>
                <a:spcPts val="0"/>
              </a:spcAft>
              <a:buNone/>
            </a:pPr>
            <a:r>
              <a:rPr lang="zh-CN" sz="1200">
                <a:solidFill>
                  <a:srgbClr val="FFFFFF"/>
                </a:solidFill>
                <a:latin typeface="Arial"/>
                <a:ea typeface="Arial"/>
                <a:cs typeface="Arial"/>
                <a:sym typeface="Arial"/>
              </a:rPr>
              <a:t>SHAP attributes every score to named factors — buyer payment history, on-time rate, country risk, FX volatility. Borderline cases escalate to a human reviewer with the reasons attached; the LLM only ever explains.</a:t>
            </a:r>
            <a:endParaRPr/>
          </a:p>
        </p:txBody>
      </p:sp>
      <p:sp>
        <p:nvSpPr>
          <p:cNvPr id="48" name="Google Shape;48;p5"/>
          <p:cNvSpPr/>
          <p:nvPr/>
        </p:nvSpPr>
        <p:spPr>
          <a:xfrm>
            <a:off x="457200" y="4048125"/>
            <a:ext cx="5429250" cy="1857375"/>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49" name="Google Shape;49;p5"/>
          <p:cNvSpPr txBox="1"/>
          <p:nvPr/>
        </p:nvSpPr>
        <p:spPr>
          <a:xfrm>
            <a:off x="666750" y="4200525"/>
            <a:ext cx="5010150" cy="1571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600">
                <a:solidFill>
                  <a:srgbClr val="E8B430"/>
                </a:solidFill>
                <a:latin typeface="Arial"/>
                <a:ea typeface="Arial"/>
                <a:cs typeface="Arial"/>
                <a:sym typeface="Arial"/>
              </a:rPr>
              <a:t>3  SETTLE IT </a:t>
            </a:r>
            <a:r>
              <a:rPr b="1" lang="zh-CN" sz="1600">
                <a:solidFill>
                  <a:srgbClr val="E8B430"/>
                </a:solidFill>
              </a:rPr>
              <a:t>, </a:t>
            </a:r>
            <a:r>
              <a:rPr b="1" lang="zh-CN" sz="1600">
                <a:solidFill>
                  <a:srgbClr val="E8B430"/>
                </a:solidFill>
                <a:latin typeface="Arial"/>
                <a:ea typeface="Arial"/>
                <a:cs typeface="Arial"/>
                <a:sym typeface="Arial"/>
              </a:rPr>
              <a:t> on-chain escrow</a:t>
            </a:r>
            <a:endParaRPr/>
          </a:p>
          <a:p>
            <a:pPr indent="0" lvl="0" marL="0" marR="0" rtl="0" algn="l">
              <a:lnSpc>
                <a:spcPct val="125000"/>
              </a:lnSpc>
              <a:spcBef>
                <a:spcPts val="800"/>
              </a:spcBef>
              <a:spcAft>
                <a:spcPts val="0"/>
              </a:spcAft>
              <a:buNone/>
            </a:pPr>
            <a:r>
              <a:rPr lang="zh-CN" sz="1200">
                <a:solidFill>
                  <a:srgbClr val="FFFFFF"/>
                </a:solidFill>
                <a:latin typeface="Arial"/>
                <a:ea typeface="Arial"/>
                <a:cs typeface="Arial"/>
                <a:sym typeface="Arial"/>
              </a:rPr>
              <a:t>Buyer funds lock into a Solidity escrow contract, not to the seller. Release requires verified shipment and delivery events; a dispute freezes the money instead of losing it. Payment and delivery are cryptographically linked.</a:t>
            </a:r>
            <a:endParaRPr/>
          </a:p>
        </p:txBody>
      </p:sp>
      <p:sp>
        <p:nvSpPr>
          <p:cNvPr id="50" name="Google Shape;50;p5"/>
          <p:cNvSpPr/>
          <p:nvPr/>
        </p:nvSpPr>
        <p:spPr>
          <a:xfrm>
            <a:off x="6305550" y="4048125"/>
            <a:ext cx="5429250" cy="1857375"/>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51" name="Google Shape;51;p5"/>
          <p:cNvSpPr txBox="1"/>
          <p:nvPr/>
        </p:nvSpPr>
        <p:spPr>
          <a:xfrm>
            <a:off x="6515100" y="4200525"/>
            <a:ext cx="5010150" cy="1571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600">
                <a:solidFill>
                  <a:srgbClr val="E8B430"/>
                </a:solidFill>
                <a:latin typeface="Arial"/>
                <a:ea typeface="Arial"/>
                <a:cs typeface="Arial"/>
                <a:sym typeface="Arial"/>
              </a:rPr>
              <a:t>4  PROVE IT </a:t>
            </a:r>
            <a:r>
              <a:rPr b="1" lang="zh-CN" sz="1600">
                <a:solidFill>
                  <a:srgbClr val="E8B430"/>
                </a:solidFill>
              </a:rPr>
              <a:t>, </a:t>
            </a:r>
            <a:r>
              <a:rPr b="1" lang="zh-CN" sz="1600">
                <a:solidFill>
                  <a:srgbClr val="E8B430"/>
                </a:solidFill>
                <a:latin typeface="Arial"/>
                <a:ea typeface="Arial"/>
                <a:cs typeface="Arial"/>
                <a:sym typeface="Arial"/>
              </a:rPr>
              <a:t> tamper-evident</a:t>
            </a:r>
            <a:endParaRPr/>
          </a:p>
          <a:p>
            <a:pPr indent="0" lvl="0" marL="0" marR="0" rtl="0" algn="l">
              <a:lnSpc>
                <a:spcPct val="125000"/>
              </a:lnSpc>
              <a:spcBef>
                <a:spcPts val="800"/>
              </a:spcBef>
              <a:spcAft>
                <a:spcPts val="0"/>
              </a:spcAft>
              <a:buNone/>
            </a:pPr>
            <a:r>
              <a:rPr lang="zh-CN" sz="1200">
                <a:solidFill>
                  <a:srgbClr val="FFFFFF"/>
                </a:solidFill>
                <a:latin typeface="Arial"/>
                <a:ea typeface="Arial"/>
                <a:cs typeface="Arial"/>
                <a:sym typeface="Arial"/>
              </a:rPr>
              <a:t>Every check, score, decision and release appends a SHA-256 hash-chained audit entry. One click re-verifies the full chain  edit any historical record and verification turns red immediately.</a:t>
            </a:r>
            <a:endParaRPr/>
          </a:p>
        </p:txBody>
      </p:sp>
      <p:sp>
        <p:nvSpPr>
          <p:cNvPr id="52" name="Google Shape;52;p5"/>
          <p:cNvSpPr txBox="1"/>
          <p:nvPr/>
        </p:nvSpPr>
        <p:spPr>
          <a:xfrm>
            <a:off x="457200" y="6057900"/>
            <a:ext cx="11249025"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1200">
                <a:solidFill>
                  <a:srgbClr val="99AABB"/>
                </a:solidFill>
                <a:latin typeface="Arial"/>
                <a:ea typeface="Arial"/>
                <a:cs typeface="Arial"/>
                <a:sym typeface="Arial"/>
              </a:rPr>
              <a:t>One platform, three portals </a:t>
            </a:r>
            <a:r>
              <a:rPr lang="zh-CN" sz="1200">
                <a:solidFill>
                  <a:srgbClr val="99AABB"/>
                </a:solidFill>
              </a:rPr>
              <a:t> </a:t>
            </a:r>
            <a:r>
              <a:rPr lang="zh-CN" sz="1200">
                <a:solidFill>
                  <a:srgbClr val="99AABB"/>
                </a:solidFill>
                <a:latin typeface="Arial"/>
                <a:ea typeface="Arial"/>
                <a:cs typeface="Arial"/>
                <a:sym typeface="Arial"/>
              </a:rPr>
              <a:t> exporter, buyer, reviewer/admin  with authorization enforced in the backend, not just hidden in the UI.</a:t>
            </a:r>
            <a:endParaRPr/>
          </a:p>
        </p:txBody>
      </p:sp>
      <p:sp>
        <p:nvSpPr>
          <p:cNvPr id="53" name="Google Shape;53;p5"/>
          <p:cNvSpPr txBox="1"/>
          <p:nvPr/>
        </p:nvSpPr>
        <p:spPr>
          <a:xfrm>
            <a:off x="276225" y="6496050"/>
            <a:ext cx="1161097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900">
                <a:solidFill>
                  <a:srgbClr val="99AABB"/>
                </a:solidFill>
                <a:latin typeface="Arial"/>
                <a:ea typeface="Arial"/>
                <a:cs typeface="Arial"/>
                <a:sym typeface="Arial"/>
              </a:rPr>
              <a:t>SilkFlow AI  |  FinTechathon 2026</a:t>
            </a:r>
            <a:r>
              <a:rPr lang="zh-CN" sz="900">
                <a:solidFill>
                  <a:srgbClr val="99AABB"/>
                </a:solidFill>
              </a:rPr>
              <a:t> </a:t>
            </a:r>
            <a:r>
              <a:rPr lang="zh-CN" sz="900">
                <a:solidFill>
                  <a:srgbClr val="99AABB"/>
                </a:solidFill>
                <a:latin typeface="Arial"/>
                <a:ea typeface="Arial"/>
                <a:cs typeface="Arial"/>
                <a:sym typeface="Arial"/>
              </a:rPr>
              <a:t>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0F1E"/>
        </a:solidFill>
      </p:bgPr>
    </p:bg>
    <p:spTree>
      <p:nvGrpSpPr>
        <p:cNvPr id="57" name="Shape 57"/>
        <p:cNvGrpSpPr/>
        <p:nvPr/>
      </p:nvGrpSpPr>
      <p:grpSpPr>
        <a:xfrm>
          <a:off x="0" y="0"/>
          <a:ext cx="0" cy="0"/>
          <a:chOff x="0" y="0"/>
          <a:chExt cx="0" cy="0"/>
        </a:xfrm>
      </p:grpSpPr>
      <p:sp>
        <p:nvSpPr>
          <p:cNvPr id="58" name="Google Shape;58;p6"/>
          <p:cNvSpPr txBox="1"/>
          <p:nvPr/>
        </p:nvSpPr>
        <p:spPr>
          <a:xfrm>
            <a:off x="276225" y="171450"/>
            <a:ext cx="19050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100">
                <a:solidFill>
                  <a:srgbClr val="E8B430"/>
                </a:solidFill>
                <a:latin typeface="Arial"/>
                <a:ea typeface="Arial"/>
                <a:cs typeface="Arial"/>
                <a:sym typeface="Arial"/>
              </a:rPr>
              <a:t>SILKFLOW AI</a:t>
            </a:r>
            <a:endParaRPr/>
          </a:p>
        </p:txBody>
      </p:sp>
      <p:sp>
        <p:nvSpPr>
          <p:cNvPr id="59" name="Google Shape;59;p6"/>
          <p:cNvSpPr/>
          <p:nvPr/>
        </p:nvSpPr>
        <p:spPr>
          <a:xfrm>
            <a:off x="276225" y="866775"/>
            <a:ext cx="11610975" cy="28575"/>
          </a:xfrm>
          <a:prstGeom prst="rect">
            <a:avLst/>
          </a:prstGeom>
          <a:solidFill>
            <a:srgbClr val="E8B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0" name="Google Shape;60;p6"/>
          <p:cNvSpPr txBox="1"/>
          <p:nvPr/>
        </p:nvSpPr>
        <p:spPr>
          <a:xfrm>
            <a:off x="457200" y="1028700"/>
            <a:ext cx="11249025"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2800">
                <a:solidFill>
                  <a:srgbClr val="FFFFFF"/>
                </a:solidFill>
                <a:latin typeface="Arial"/>
                <a:ea typeface="Arial"/>
                <a:cs typeface="Arial"/>
                <a:sym typeface="Arial"/>
              </a:rPr>
              <a:t>How The System Decides: One Score, Five Signals</a:t>
            </a:r>
            <a:endParaRPr/>
          </a:p>
        </p:txBody>
      </p:sp>
      <p:sp>
        <p:nvSpPr>
          <p:cNvPr id="61" name="Google Shape;61;p6"/>
          <p:cNvSpPr txBox="1"/>
          <p:nvPr/>
        </p:nvSpPr>
        <p:spPr>
          <a:xfrm>
            <a:off x="457200" y="1581150"/>
            <a:ext cx="11249025"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1400">
                <a:solidFill>
                  <a:srgbClr val="8EC5FF"/>
                </a:solidFill>
                <a:latin typeface="Arial"/>
                <a:ea typeface="Arial"/>
                <a:cs typeface="Arial"/>
                <a:sym typeface="Arial"/>
              </a:rPr>
              <a:t>16 engineered features feed an explainable ensemble  every input is a trade-finance risk factor, not a generic profile.</a:t>
            </a:r>
            <a:endParaRPr/>
          </a:p>
        </p:txBody>
      </p:sp>
      <p:sp>
        <p:nvSpPr>
          <p:cNvPr id="62" name="Google Shape;62;p6"/>
          <p:cNvSpPr/>
          <p:nvPr/>
        </p:nvSpPr>
        <p:spPr>
          <a:xfrm>
            <a:off x="457200" y="2076450"/>
            <a:ext cx="2133600" cy="257175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3" name="Google Shape;63;p6"/>
          <p:cNvSpPr txBox="1"/>
          <p:nvPr/>
        </p:nvSpPr>
        <p:spPr>
          <a:xfrm>
            <a:off x="619125" y="2228850"/>
            <a:ext cx="1809750" cy="228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300">
                <a:solidFill>
                  <a:srgbClr val="E8B430"/>
                </a:solidFill>
                <a:latin typeface="Arial"/>
                <a:ea typeface="Arial"/>
                <a:cs typeface="Arial"/>
                <a:sym typeface="Arial"/>
              </a:rPr>
              <a:t>Document integrity</a:t>
            </a:r>
            <a:endParaRPr/>
          </a:p>
          <a:p>
            <a:pPr indent="0" lvl="0" marL="0" marR="0" rtl="0" algn="l">
              <a:lnSpc>
                <a:spcPct val="125000"/>
              </a:lnSpc>
              <a:spcBef>
                <a:spcPts val="800"/>
              </a:spcBef>
              <a:spcAft>
                <a:spcPts val="0"/>
              </a:spcAft>
              <a:buNone/>
            </a:pPr>
            <a:r>
              <a:rPr lang="zh-CN" sz="1100">
                <a:solidFill>
                  <a:srgbClr val="FFFFFF"/>
                </a:solidFill>
                <a:latin typeface="Arial"/>
                <a:ea typeface="Arial"/>
                <a:cs typeface="Arial"/>
                <a:sym typeface="Arial"/>
              </a:rPr>
              <a:t>Invoice, packing list and shipment fields are cross-checked. A failed check stops the order before scoring.</a:t>
            </a:r>
            <a:endParaRPr/>
          </a:p>
        </p:txBody>
      </p:sp>
      <p:sp>
        <p:nvSpPr>
          <p:cNvPr id="64" name="Google Shape;64;p6"/>
          <p:cNvSpPr/>
          <p:nvPr/>
        </p:nvSpPr>
        <p:spPr>
          <a:xfrm>
            <a:off x="2724150" y="2076450"/>
            <a:ext cx="2133600" cy="257175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5" name="Google Shape;65;p6"/>
          <p:cNvSpPr txBox="1"/>
          <p:nvPr/>
        </p:nvSpPr>
        <p:spPr>
          <a:xfrm>
            <a:off x="2886075" y="2228850"/>
            <a:ext cx="1809750" cy="228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300">
                <a:solidFill>
                  <a:srgbClr val="E8B430"/>
                </a:solidFill>
                <a:latin typeface="Arial"/>
                <a:ea typeface="Arial"/>
                <a:cs typeface="Arial"/>
                <a:sym typeface="Arial"/>
              </a:rPr>
              <a:t>Buyer payment history</a:t>
            </a:r>
            <a:endParaRPr/>
          </a:p>
          <a:p>
            <a:pPr indent="0" lvl="0" marL="0" marR="0" rtl="0" algn="l">
              <a:lnSpc>
                <a:spcPct val="125000"/>
              </a:lnSpc>
              <a:spcBef>
                <a:spcPts val="800"/>
              </a:spcBef>
              <a:spcAft>
                <a:spcPts val="0"/>
              </a:spcAft>
              <a:buNone/>
            </a:pPr>
            <a:r>
              <a:rPr lang="zh-CN" sz="1100">
                <a:solidFill>
                  <a:srgbClr val="FFFFFF"/>
                </a:solidFill>
                <a:latin typeface="Arial"/>
                <a:ea typeface="Arial"/>
                <a:cs typeface="Arial"/>
                <a:sym typeface="Arial"/>
              </a:rPr>
              <a:t>How the buyer has actually paid on previous trades in the system  weighted as a top SHAP factor.</a:t>
            </a:r>
            <a:endParaRPr/>
          </a:p>
        </p:txBody>
      </p:sp>
      <p:sp>
        <p:nvSpPr>
          <p:cNvPr id="66" name="Google Shape;66;p6"/>
          <p:cNvSpPr/>
          <p:nvPr/>
        </p:nvSpPr>
        <p:spPr>
          <a:xfrm>
            <a:off x="4991100" y="2076450"/>
            <a:ext cx="2133600" cy="257175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7" name="Google Shape;67;p6"/>
          <p:cNvSpPr txBox="1"/>
          <p:nvPr/>
        </p:nvSpPr>
        <p:spPr>
          <a:xfrm>
            <a:off x="5153025" y="2228850"/>
            <a:ext cx="1809750" cy="228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300">
                <a:solidFill>
                  <a:srgbClr val="E8B430"/>
                </a:solidFill>
                <a:latin typeface="Arial"/>
                <a:ea typeface="Arial"/>
                <a:cs typeface="Arial"/>
                <a:sym typeface="Arial"/>
              </a:rPr>
              <a:t>On-time track record</a:t>
            </a:r>
            <a:endParaRPr/>
          </a:p>
          <a:p>
            <a:pPr indent="0" lvl="0" marL="0" marR="0" rtl="0" algn="l">
              <a:lnSpc>
                <a:spcPct val="125000"/>
              </a:lnSpc>
              <a:spcBef>
                <a:spcPts val="800"/>
              </a:spcBef>
              <a:spcAft>
                <a:spcPts val="0"/>
              </a:spcAft>
              <a:buNone/>
            </a:pPr>
            <a:r>
              <a:rPr lang="zh-CN" sz="1100">
                <a:solidFill>
                  <a:srgbClr val="FFFFFF"/>
                </a:solidFill>
                <a:latin typeface="Arial"/>
                <a:ea typeface="Arial"/>
                <a:cs typeface="Arial"/>
                <a:sym typeface="Arial"/>
              </a:rPr>
              <a:t>Delivery and settlement punctuality of both counterparties feeds directly into the score.</a:t>
            </a:r>
            <a:endParaRPr/>
          </a:p>
        </p:txBody>
      </p:sp>
      <p:sp>
        <p:nvSpPr>
          <p:cNvPr id="68" name="Google Shape;68;p6"/>
          <p:cNvSpPr/>
          <p:nvPr/>
        </p:nvSpPr>
        <p:spPr>
          <a:xfrm>
            <a:off x="7258050" y="2076450"/>
            <a:ext cx="2133600" cy="257175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9" name="Google Shape;69;p6"/>
          <p:cNvSpPr txBox="1"/>
          <p:nvPr/>
        </p:nvSpPr>
        <p:spPr>
          <a:xfrm>
            <a:off x="7419975" y="2228850"/>
            <a:ext cx="1809750" cy="228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300">
                <a:solidFill>
                  <a:srgbClr val="E8B430"/>
                </a:solidFill>
                <a:latin typeface="Arial"/>
                <a:ea typeface="Arial"/>
                <a:cs typeface="Arial"/>
                <a:sym typeface="Arial"/>
              </a:rPr>
              <a:t>Country &amp; FX risk</a:t>
            </a:r>
            <a:endParaRPr/>
          </a:p>
          <a:p>
            <a:pPr indent="0" lvl="0" marL="0" marR="0" rtl="0" algn="l">
              <a:lnSpc>
                <a:spcPct val="125000"/>
              </a:lnSpc>
              <a:spcBef>
                <a:spcPts val="800"/>
              </a:spcBef>
              <a:spcAft>
                <a:spcPts val="0"/>
              </a:spcAft>
              <a:buNone/>
            </a:pPr>
            <a:r>
              <a:rPr lang="zh-CN" sz="1100">
                <a:solidFill>
                  <a:srgbClr val="FFFFFF"/>
                </a:solidFill>
                <a:latin typeface="Arial"/>
                <a:ea typeface="Arial"/>
                <a:cs typeface="Arial"/>
                <a:sym typeface="Arial"/>
              </a:rPr>
              <a:t>Jurisdiction risk and currency-volatility features capture macro exposure of the specific trade.</a:t>
            </a:r>
            <a:endParaRPr/>
          </a:p>
        </p:txBody>
      </p:sp>
      <p:sp>
        <p:nvSpPr>
          <p:cNvPr id="70" name="Google Shape;70;p6"/>
          <p:cNvSpPr/>
          <p:nvPr/>
        </p:nvSpPr>
        <p:spPr>
          <a:xfrm>
            <a:off x="9525000" y="2076450"/>
            <a:ext cx="2133600" cy="257175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71" name="Google Shape;71;p6"/>
          <p:cNvSpPr txBox="1"/>
          <p:nvPr/>
        </p:nvSpPr>
        <p:spPr>
          <a:xfrm>
            <a:off x="9686925" y="2228850"/>
            <a:ext cx="1809750" cy="228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300">
                <a:solidFill>
                  <a:srgbClr val="E8B430"/>
                </a:solidFill>
                <a:latin typeface="Arial"/>
                <a:ea typeface="Arial"/>
                <a:cs typeface="Arial"/>
                <a:sym typeface="Arial"/>
              </a:rPr>
              <a:t>Anomaly guard</a:t>
            </a:r>
            <a:endParaRPr/>
          </a:p>
          <a:p>
            <a:pPr indent="0" lvl="0" marL="0" marR="0" rtl="0" algn="l">
              <a:lnSpc>
                <a:spcPct val="125000"/>
              </a:lnSpc>
              <a:spcBef>
                <a:spcPts val="800"/>
              </a:spcBef>
              <a:spcAft>
                <a:spcPts val="0"/>
              </a:spcAft>
              <a:buNone/>
            </a:pPr>
            <a:r>
              <a:rPr lang="zh-CN" sz="1100">
                <a:solidFill>
                  <a:srgbClr val="FFFFFF"/>
                </a:solidFill>
                <a:latin typeface="Arial"/>
                <a:ea typeface="Arial"/>
                <a:cs typeface="Arial"/>
                <a:sym typeface="Arial"/>
              </a:rPr>
              <a:t>Isolation Forest isolates the most unusual 2.5% of trades  size, pattern or behaviour outliers.</a:t>
            </a:r>
            <a:endParaRPr/>
          </a:p>
        </p:txBody>
      </p:sp>
      <p:sp>
        <p:nvSpPr>
          <p:cNvPr id="72" name="Google Shape;72;p6"/>
          <p:cNvSpPr txBox="1"/>
          <p:nvPr/>
        </p:nvSpPr>
        <p:spPr>
          <a:xfrm>
            <a:off x="457200" y="5048250"/>
            <a:ext cx="11430000" cy="396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1300">
                <a:solidFill>
                  <a:srgbClr val="FFFFFF"/>
                </a:solidFill>
                <a:latin typeface="Arial"/>
                <a:ea typeface="Arial"/>
                <a:cs typeface="Arial"/>
                <a:sym typeface="Arial"/>
              </a:rPr>
              <a:t>Score 0–100 → risk band:  low = agent may proceed </a:t>
            </a:r>
            <a:r>
              <a:rPr lang="zh-CN" sz="1300">
                <a:solidFill>
                  <a:srgbClr val="FFFFFF"/>
                </a:solidFill>
              </a:rPr>
              <a:t>,</a:t>
            </a:r>
            <a:r>
              <a:rPr lang="zh-CN" sz="1300">
                <a:solidFill>
                  <a:srgbClr val="FFFFFF"/>
                </a:solidFill>
                <a:latin typeface="Arial"/>
                <a:ea typeface="Arial"/>
                <a:cs typeface="Arial"/>
                <a:sym typeface="Arial"/>
              </a:rPr>
              <a:t>  medium = hold for review  </a:t>
            </a:r>
            <a:r>
              <a:rPr lang="zh-CN" sz="1300">
                <a:solidFill>
                  <a:srgbClr val="FFFFFF"/>
                </a:solidFill>
              </a:rPr>
              <a:t>, </a:t>
            </a:r>
            <a:r>
              <a:rPr lang="zh-CN" sz="1300">
                <a:solidFill>
                  <a:srgbClr val="FFFFFF"/>
                </a:solidFill>
                <a:latin typeface="Arial"/>
                <a:ea typeface="Arial"/>
                <a:cs typeface="Arial"/>
                <a:sym typeface="Arial"/>
              </a:rPr>
              <a:t>high / anomaly = escalate to a human. Models recommend; policy and people control the money.</a:t>
            </a:r>
            <a:endParaRPr/>
          </a:p>
        </p:txBody>
      </p:sp>
      <p:sp>
        <p:nvSpPr>
          <p:cNvPr id="73" name="Google Shape;73;p6"/>
          <p:cNvSpPr txBox="1"/>
          <p:nvPr/>
        </p:nvSpPr>
        <p:spPr>
          <a:xfrm>
            <a:off x="457200" y="5476875"/>
            <a:ext cx="11249025"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1100">
                <a:solidFill>
                  <a:srgbClr val="99AABB"/>
                </a:solidFill>
                <a:latin typeface="Arial"/>
                <a:ea typeface="Arial"/>
                <a:cs typeface="Arial"/>
                <a:sym typeface="Arial"/>
              </a:rPr>
              <a:t>Every explanation on screen is a real SHAP attribution from the scored model  shown per order, not marketing copy.</a:t>
            </a:r>
            <a:endParaRPr/>
          </a:p>
        </p:txBody>
      </p:sp>
      <p:sp>
        <p:nvSpPr>
          <p:cNvPr id="74" name="Google Shape;74;p6"/>
          <p:cNvSpPr txBox="1"/>
          <p:nvPr/>
        </p:nvSpPr>
        <p:spPr>
          <a:xfrm>
            <a:off x="276225" y="6496050"/>
            <a:ext cx="116109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900">
                <a:solidFill>
                  <a:srgbClr val="99AABB"/>
                </a:solidFill>
                <a:latin typeface="Arial"/>
                <a:ea typeface="Arial"/>
                <a:cs typeface="Arial"/>
                <a:sym typeface="Arial"/>
              </a:rPr>
              <a:t>SilkFlow AI  |  FinTechathon 2026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0F1E"/>
        </a:solidFill>
      </p:bgPr>
    </p:bg>
    <p:spTree>
      <p:nvGrpSpPr>
        <p:cNvPr id="78" name="Shape 78"/>
        <p:cNvGrpSpPr/>
        <p:nvPr/>
      </p:nvGrpSpPr>
      <p:grpSpPr>
        <a:xfrm>
          <a:off x="0" y="0"/>
          <a:ext cx="0" cy="0"/>
          <a:chOff x="0" y="0"/>
          <a:chExt cx="0" cy="0"/>
        </a:xfrm>
      </p:grpSpPr>
      <p:sp>
        <p:nvSpPr>
          <p:cNvPr id="79" name="Google Shape;79;p7"/>
          <p:cNvSpPr txBox="1"/>
          <p:nvPr/>
        </p:nvSpPr>
        <p:spPr>
          <a:xfrm>
            <a:off x="276225" y="171450"/>
            <a:ext cx="19050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100">
                <a:solidFill>
                  <a:srgbClr val="E8B430"/>
                </a:solidFill>
                <a:latin typeface="Arial"/>
                <a:ea typeface="Arial"/>
                <a:cs typeface="Arial"/>
                <a:sym typeface="Arial"/>
              </a:rPr>
              <a:t>SILKFLOW AI</a:t>
            </a:r>
            <a:endParaRPr/>
          </a:p>
        </p:txBody>
      </p:sp>
      <p:sp>
        <p:nvSpPr>
          <p:cNvPr id="80" name="Google Shape;80;p7"/>
          <p:cNvSpPr/>
          <p:nvPr/>
        </p:nvSpPr>
        <p:spPr>
          <a:xfrm>
            <a:off x="276225" y="866775"/>
            <a:ext cx="11610975" cy="28575"/>
          </a:xfrm>
          <a:prstGeom prst="rect">
            <a:avLst/>
          </a:prstGeom>
          <a:solidFill>
            <a:srgbClr val="E8B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81" name="Google Shape;81;p7"/>
          <p:cNvSpPr txBox="1"/>
          <p:nvPr/>
        </p:nvSpPr>
        <p:spPr>
          <a:xfrm>
            <a:off x="457200" y="1028700"/>
            <a:ext cx="11249025"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2800">
                <a:solidFill>
                  <a:srgbClr val="FFFFFF"/>
                </a:solidFill>
                <a:latin typeface="Arial"/>
                <a:ea typeface="Arial"/>
                <a:cs typeface="Arial"/>
                <a:sym typeface="Arial"/>
              </a:rPr>
              <a:t>Trade Lifecycle: Draft To Settled Every Step Guardrailed</a:t>
            </a:r>
            <a:endParaRPr/>
          </a:p>
        </p:txBody>
      </p:sp>
      <p:sp>
        <p:nvSpPr>
          <p:cNvPr id="82" name="Google Shape;82;p7"/>
          <p:cNvSpPr txBox="1"/>
          <p:nvPr/>
        </p:nvSpPr>
        <p:spPr>
          <a:xfrm>
            <a:off x="457200" y="1581150"/>
            <a:ext cx="11249025"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1400">
                <a:solidFill>
                  <a:srgbClr val="8EC5FF"/>
                </a:solidFill>
                <a:latin typeface="Arial"/>
                <a:ea typeface="Arial"/>
                <a:cs typeface="Arial"/>
                <a:sym typeface="Arial"/>
              </a:rPr>
              <a:t>The agent automates the routine hops; hard policy and humans keep the risky ones.</a:t>
            </a:r>
            <a:endParaRPr/>
          </a:p>
        </p:txBody>
      </p:sp>
      <p:sp>
        <p:nvSpPr>
          <p:cNvPr id="83" name="Google Shape;83;p7"/>
          <p:cNvSpPr/>
          <p:nvPr/>
        </p:nvSpPr>
        <p:spPr>
          <a:xfrm>
            <a:off x="419100" y="2152650"/>
            <a:ext cx="2743200" cy="800100"/>
          </a:xfrm>
          <a:prstGeom prst="rect">
            <a:avLst/>
          </a:prstGeom>
          <a:solidFill>
            <a:srgbClr val="101C3A"/>
          </a:solidFill>
          <a:ln cap="flat" cmpd="sng" w="12700">
            <a:solidFill>
              <a:srgbClr val="E8B43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zh-CN" sz="1200">
                <a:solidFill>
                  <a:srgbClr val="FFFFFF"/>
                </a:solidFill>
                <a:latin typeface="Arial"/>
                <a:ea typeface="Arial"/>
                <a:cs typeface="Arial"/>
                <a:sym typeface="Arial"/>
              </a:rPr>
              <a:t>1  Order + documents</a:t>
            </a:r>
            <a:endParaRPr/>
          </a:p>
        </p:txBody>
      </p:sp>
      <p:sp>
        <p:nvSpPr>
          <p:cNvPr id="84" name="Google Shape;84;p7"/>
          <p:cNvSpPr/>
          <p:nvPr/>
        </p:nvSpPr>
        <p:spPr>
          <a:xfrm>
            <a:off x="3238500" y="2152650"/>
            <a:ext cx="2743200" cy="800100"/>
          </a:xfrm>
          <a:prstGeom prst="rect">
            <a:avLst/>
          </a:prstGeom>
          <a:solidFill>
            <a:srgbClr val="101C3A"/>
          </a:solidFill>
          <a:ln cap="flat" cmpd="sng" w="12700">
            <a:solidFill>
              <a:srgbClr val="E8B43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zh-CN" sz="1200">
                <a:solidFill>
                  <a:srgbClr val="FFFFFF"/>
                </a:solidFill>
                <a:latin typeface="Arial"/>
                <a:ea typeface="Arial"/>
                <a:cs typeface="Arial"/>
                <a:sym typeface="Arial"/>
              </a:rPr>
              <a:t>2  Automated document check</a:t>
            </a:r>
            <a:endParaRPr/>
          </a:p>
        </p:txBody>
      </p:sp>
      <p:sp>
        <p:nvSpPr>
          <p:cNvPr id="85" name="Google Shape;85;p7"/>
          <p:cNvSpPr/>
          <p:nvPr/>
        </p:nvSpPr>
        <p:spPr>
          <a:xfrm>
            <a:off x="6057900" y="2152650"/>
            <a:ext cx="2743200" cy="800100"/>
          </a:xfrm>
          <a:prstGeom prst="rect">
            <a:avLst/>
          </a:prstGeom>
          <a:solidFill>
            <a:srgbClr val="101C3A"/>
          </a:solidFill>
          <a:ln cap="flat" cmpd="sng" w="12700">
            <a:solidFill>
              <a:srgbClr val="E8B43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zh-CN" sz="1200">
                <a:solidFill>
                  <a:srgbClr val="FFFFFF"/>
                </a:solidFill>
                <a:latin typeface="Arial"/>
                <a:ea typeface="Arial"/>
                <a:cs typeface="Arial"/>
                <a:sym typeface="Arial"/>
              </a:rPr>
              <a:t>3  Auto credit score + SHAP</a:t>
            </a:r>
            <a:endParaRPr/>
          </a:p>
        </p:txBody>
      </p:sp>
      <p:sp>
        <p:nvSpPr>
          <p:cNvPr id="86" name="Google Shape;86;p7"/>
          <p:cNvSpPr/>
          <p:nvPr/>
        </p:nvSpPr>
        <p:spPr>
          <a:xfrm>
            <a:off x="8877300" y="2152650"/>
            <a:ext cx="2857500" cy="800100"/>
          </a:xfrm>
          <a:prstGeom prst="rect">
            <a:avLst/>
          </a:prstGeom>
          <a:solidFill>
            <a:srgbClr val="101C3A"/>
          </a:solidFill>
          <a:ln cap="flat" cmpd="sng" w="12700">
            <a:solidFill>
              <a:srgbClr val="E8B43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zh-CN" sz="1200">
                <a:solidFill>
                  <a:srgbClr val="FFFFFF"/>
                </a:solidFill>
                <a:latin typeface="Arial"/>
                <a:ea typeface="Arial"/>
                <a:cs typeface="Arial"/>
                <a:sym typeface="Arial"/>
              </a:rPr>
              <a:t>4  Agent: approve / hold / escalate</a:t>
            </a:r>
            <a:endParaRPr/>
          </a:p>
        </p:txBody>
      </p:sp>
      <p:sp>
        <p:nvSpPr>
          <p:cNvPr id="87" name="Google Shape;87;p7"/>
          <p:cNvSpPr/>
          <p:nvPr/>
        </p:nvSpPr>
        <p:spPr>
          <a:xfrm>
            <a:off x="419100" y="3105150"/>
            <a:ext cx="2743200" cy="800100"/>
          </a:xfrm>
          <a:prstGeom prst="rect">
            <a:avLst/>
          </a:prstGeom>
          <a:solidFill>
            <a:srgbClr val="101C3A"/>
          </a:solidFill>
          <a:ln cap="flat" cmpd="sng" w="12700">
            <a:solidFill>
              <a:srgbClr val="E8B43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zh-CN" sz="1200">
                <a:solidFill>
                  <a:srgbClr val="FFFFFF"/>
                </a:solidFill>
                <a:latin typeface="Arial"/>
                <a:ea typeface="Arial"/>
                <a:cs typeface="Arial"/>
                <a:sym typeface="Arial"/>
              </a:rPr>
              <a:t>5  Buyer funds escrow on-chain</a:t>
            </a:r>
            <a:endParaRPr/>
          </a:p>
        </p:txBody>
      </p:sp>
      <p:sp>
        <p:nvSpPr>
          <p:cNvPr id="88" name="Google Shape;88;p7"/>
          <p:cNvSpPr/>
          <p:nvPr/>
        </p:nvSpPr>
        <p:spPr>
          <a:xfrm>
            <a:off x="3238500" y="3105150"/>
            <a:ext cx="2743200" cy="800100"/>
          </a:xfrm>
          <a:prstGeom prst="rect">
            <a:avLst/>
          </a:prstGeom>
          <a:solidFill>
            <a:srgbClr val="101C3A"/>
          </a:solidFill>
          <a:ln cap="flat" cmpd="sng" w="12700">
            <a:solidFill>
              <a:srgbClr val="E8B43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zh-CN" sz="1200">
                <a:solidFill>
                  <a:srgbClr val="FFFFFF"/>
                </a:solidFill>
                <a:latin typeface="Arial"/>
                <a:ea typeface="Arial"/>
                <a:cs typeface="Arial"/>
                <a:sym typeface="Arial"/>
              </a:rPr>
              <a:t>6  Shipment + delivery verified</a:t>
            </a:r>
            <a:endParaRPr/>
          </a:p>
        </p:txBody>
      </p:sp>
      <p:sp>
        <p:nvSpPr>
          <p:cNvPr id="89" name="Google Shape;89;p7"/>
          <p:cNvSpPr/>
          <p:nvPr/>
        </p:nvSpPr>
        <p:spPr>
          <a:xfrm>
            <a:off x="6057900" y="3105150"/>
            <a:ext cx="2743200" cy="800100"/>
          </a:xfrm>
          <a:prstGeom prst="rect">
            <a:avLst/>
          </a:prstGeom>
          <a:solidFill>
            <a:srgbClr val="101C3A"/>
          </a:solidFill>
          <a:ln cap="flat" cmpd="sng" w="12700">
            <a:solidFill>
              <a:srgbClr val="E8B43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zh-CN" sz="1200">
                <a:solidFill>
                  <a:srgbClr val="FFFFFF"/>
                </a:solidFill>
                <a:latin typeface="Arial"/>
                <a:ea typeface="Arial"/>
                <a:cs typeface="Arial"/>
                <a:sym typeface="Arial"/>
              </a:rPr>
              <a:t>7  Release · refund · split</a:t>
            </a:r>
            <a:endParaRPr/>
          </a:p>
        </p:txBody>
      </p:sp>
      <p:sp>
        <p:nvSpPr>
          <p:cNvPr id="90" name="Google Shape;90;p7"/>
          <p:cNvSpPr/>
          <p:nvPr/>
        </p:nvSpPr>
        <p:spPr>
          <a:xfrm>
            <a:off x="8877300" y="3105150"/>
            <a:ext cx="2743200" cy="800100"/>
          </a:xfrm>
          <a:prstGeom prst="rect">
            <a:avLst/>
          </a:prstGeom>
          <a:solidFill>
            <a:srgbClr val="070F1E"/>
          </a:solidFill>
          <a:ln cap="flat" cmpd="sng" w="12700">
            <a:solidFill>
              <a:srgbClr val="8EC5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lang="zh-CN" sz="1100">
                <a:solidFill>
                  <a:srgbClr val="E8B430"/>
                </a:solidFill>
                <a:latin typeface="Arial"/>
                <a:ea typeface="Arial"/>
                <a:cs typeface="Arial"/>
                <a:sym typeface="Arial"/>
              </a:rPr>
              <a:t>Dispute at any point</a:t>
            </a:r>
            <a:br>
              <a:rPr lang="zh-CN" sz="1800"/>
            </a:br>
            <a:r>
              <a:rPr lang="zh-CN" sz="1100">
                <a:solidFill>
                  <a:srgbClr val="E8B430"/>
                </a:solidFill>
                <a:latin typeface="Arial"/>
                <a:ea typeface="Arial"/>
                <a:cs typeface="Arial"/>
                <a:sym typeface="Arial"/>
              </a:rPr>
              <a:t>freezes funds in contract</a:t>
            </a:r>
            <a:endParaRPr/>
          </a:p>
        </p:txBody>
      </p:sp>
      <p:sp>
        <p:nvSpPr>
          <p:cNvPr id="91" name="Google Shape;91;p7"/>
          <p:cNvSpPr txBox="1"/>
          <p:nvPr/>
        </p:nvSpPr>
        <p:spPr>
          <a:xfrm>
            <a:off x="457200" y="4191000"/>
            <a:ext cx="11249025" cy="209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500">
                <a:solidFill>
                  <a:srgbClr val="E8B430"/>
                </a:solidFill>
                <a:latin typeface="Arial"/>
                <a:ea typeface="Arial"/>
                <a:cs typeface="Arial"/>
                <a:sym typeface="Arial"/>
              </a:rPr>
              <a:t>Guardrails on every hop</a:t>
            </a:r>
            <a:endParaRPr/>
          </a:p>
          <a:p>
            <a:pPr indent="0" lvl="0" marL="0" marR="0" rtl="0" algn="l">
              <a:lnSpc>
                <a:spcPct val="130000"/>
              </a:lnSpc>
              <a:spcBef>
                <a:spcPts val="1000"/>
              </a:spcBef>
              <a:spcAft>
                <a:spcPts val="0"/>
              </a:spcAft>
              <a:buNone/>
            </a:pPr>
            <a:r>
              <a:rPr lang="zh-CN" sz="1200">
                <a:solidFill>
                  <a:srgbClr val="FFFFFF"/>
                </a:solidFill>
                <a:latin typeface="Arial"/>
                <a:ea typeface="Arial"/>
                <a:cs typeface="Arial"/>
                <a:sym typeface="Arial"/>
              </a:rPr>
              <a:t>•  The LLM never computes a number and never authorises money movement </a:t>
            </a:r>
            <a:r>
              <a:rPr lang="zh-CN" sz="1200">
                <a:solidFill>
                  <a:srgbClr val="FFFFFF"/>
                </a:solidFill>
              </a:rPr>
              <a:t> </a:t>
            </a:r>
            <a:r>
              <a:rPr lang="zh-CN" sz="1200">
                <a:solidFill>
                  <a:srgbClr val="FFFFFF"/>
                </a:solidFill>
                <a:latin typeface="Arial"/>
                <a:ea typeface="Arial"/>
                <a:cs typeface="Arial"/>
                <a:sym typeface="Arial"/>
              </a:rPr>
              <a:t> deterministic Python computes, backend policy enforces.</a:t>
            </a:r>
            <a:endParaRPr/>
          </a:p>
          <a:p>
            <a:pPr indent="0" lvl="0" marL="0" marR="0" rtl="0" algn="l">
              <a:lnSpc>
                <a:spcPct val="130000"/>
              </a:lnSpc>
              <a:spcBef>
                <a:spcPts val="600"/>
              </a:spcBef>
              <a:spcAft>
                <a:spcPts val="0"/>
              </a:spcAft>
              <a:buNone/>
            </a:pPr>
            <a:r>
              <a:rPr lang="zh-CN" sz="1200">
                <a:solidFill>
                  <a:srgbClr val="FFFFFF"/>
                </a:solidFill>
                <a:latin typeface="Arial"/>
                <a:ea typeface="Arial"/>
                <a:cs typeface="Arial"/>
                <a:sym typeface="Arial"/>
              </a:rPr>
              <a:t>•  Cash-flow forecasts and gap alerts are plain arithmetic over scheduled receipts and payments  no AI guessing on financial figures.</a:t>
            </a:r>
            <a:endParaRPr/>
          </a:p>
          <a:p>
            <a:pPr indent="0" lvl="0" marL="0" marR="0" rtl="0" algn="l">
              <a:lnSpc>
                <a:spcPct val="130000"/>
              </a:lnSpc>
              <a:spcBef>
                <a:spcPts val="600"/>
              </a:spcBef>
              <a:spcAft>
                <a:spcPts val="0"/>
              </a:spcAft>
              <a:buNone/>
            </a:pPr>
            <a:r>
              <a:rPr lang="zh-CN" sz="1200">
                <a:solidFill>
                  <a:srgbClr val="FFFFFF"/>
                </a:solidFill>
                <a:latin typeface="Arial"/>
                <a:ea typeface="Arial"/>
                <a:cs typeface="Arial"/>
                <a:sym typeface="Arial"/>
              </a:rPr>
              <a:t>•  Policy limits force high-risk, anomalous or borderline trades into the human reviewer queue  an agent can never self-approve those.</a:t>
            </a:r>
            <a:endParaRPr/>
          </a:p>
          <a:p>
            <a:pPr indent="0" lvl="0" marL="0" marR="0" rtl="0" algn="l">
              <a:lnSpc>
                <a:spcPct val="130000"/>
              </a:lnSpc>
              <a:spcBef>
                <a:spcPts val="600"/>
              </a:spcBef>
              <a:spcAft>
                <a:spcPts val="0"/>
              </a:spcAft>
              <a:buNone/>
            </a:pPr>
            <a:r>
              <a:rPr lang="zh-CN" sz="1200">
                <a:solidFill>
                  <a:srgbClr val="FFFFFF"/>
                </a:solidFill>
                <a:latin typeface="Arial"/>
                <a:ea typeface="Arial"/>
                <a:cs typeface="Arial"/>
                <a:sym typeface="Arial"/>
              </a:rPr>
              <a:t>•  Each step writes an audit entry the moment it happens, hash-chained with SHA-256  the trail is produced by the flow, not assembled afterwards.</a:t>
            </a:r>
            <a:endParaRPr/>
          </a:p>
        </p:txBody>
      </p:sp>
      <p:sp>
        <p:nvSpPr>
          <p:cNvPr id="92" name="Google Shape;92;p7"/>
          <p:cNvSpPr txBox="1"/>
          <p:nvPr/>
        </p:nvSpPr>
        <p:spPr>
          <a:xfrm>
            <a:off x="276225" y="6496050"/>
            <a:ext cx="1161097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900">
                <a:solidFill>
                  <a:srgbClr val="99AABB"/>
                </a:solidFill>
                <a:latin typeface="Arial"/>
                <a:ea typeface="Arial"/>
                <a:cs typeface="Arial"/>
                <a:sym typeface="Arial"/>
              </a:rPr>
              <a:t>SilkFlow AI  |  FinTechathon 2026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0F1E"/>
        </a:solidFill>
      </p:bgPr>
    </p:bg>
    <p:spTree>
      <p:nvGrpSpPr>
        <p:cNvPr id="96" name="Shape 96"/>
        <p:cNvGrpSpPr/>
        <p:nvPr/>
      </p:nvGrpSpPr>
      <p:grpSpPr>
        <a:xfrm>
          <a:off x="0" y="0"/>
          <a:ext cx="0" cy="0"/>
          <a:chOff x="0" y="0"/>
          <a:chExt cx="0" cy="0"/>
        </a:xfrm>
      </p:grpSpPr>
      <p:sp>
        <p:nvSpPr>
          <p:cNvPr id="97" name="Google Shape;97;p8"/>
          <p:cNvSpPr txBox="1"/>
          <p:nvPr/>
        </p:nvSpPr>
        <p:spPr>
          <a:xfrm>
            <a:off x="276225" y="171450"/>
            <a:ext cx="19050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100">
                <a:solidFill>
                  <a:srgbClr val="E8B430"/>
                </a:solidFill>
                <a:latin typeface="Arial"/>
                <a:ea typeface="Arial"/>
                <a:cs typeface="Arial"/>
                <a:sym typeface="Arial"/>
              </a:rPr>
              <a:t>SILKFLOW AI</a:t>
            </a:r>
            <a:endParaRPr/>
          </a:p>
        </p:txBody>
      </p:sp>
      <p:sp>
        <p:nvSpPr>
          <p:cNvPr id="98" name="Google Shape;98;p8"/>
          <p:cNvSpPr/>
          <p:nvPr/>
        </p:nvSpPr>
        <p:spPr>
          <a:xfrm>
            <a:off x="276225" y="866775"/>
            <a:ext cx="11610975" cy="28575"/>
          </a:xfrm>
          <a:prstGeom prst="rect">
            <a:avLst/>
          </a:prstGeom>
          <a:solidFill>
            <a:srgbClr val="E8B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99" name="Google Shape;99;p8"/>
          <p:cNvSpPr txBox="1"/>
          <p:nvPr/>
        </p:nvSpPr>
        <p:spPr>
          <a:xfrm>
            <a:off x="457200" y="1028700"/>
            <a:ext cx="11249025"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2800">
                <a:solidFill>
                  <a:srgbClr val="FFFFFF"/>
                </a:solidFill>
                <a:latin typeface="Arial"/>
                <a:ea typeface="Arial"/>
                <a:cs typeface="Arial"/>
                <a:sym typeface="Arial"/>
              </a:rPr>
              <a:t>Three Roles, One Integrated Platform</a:t>
            </a:r>
            <a:endParaRPr/>
          </a:p>
        </p:txBody>
      </p:sp>
      <p:sp>
        <p:nvSpPr>
          <p:cNvPr id="100" name="Google Shape;100;p8"/>
          <p:cNvSpPr txBox="1"/>
          <p:nvPr/>
        </p:nvSpPr>
        <p:spPr>
          <a:xfrm>
            <a:off x="457200" y="1581150"/>
            <a:ext cx="11249025"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1400">
                <a:solidFill>
                  <a:srgbClr val="8EC5FF"/>
                </a:solidFill>
                <a:latin typeface="Arial"/>
                <a:ea typeface="Arial"/>
                <a:cs typeface="Arial"/>
                <a:sym typeface="Arial"/>
              </a:rPr>
              <a:t>Built around real trade-finance stakeholders  exporter, buyer, reviewer/admin  each with its own portal.</a:t>
            </a:r>
            <a:endParaRPr/>
          </a:p>
        </p:txBody>
      </p:sp>
      <p:sp>
        <p:nvSpPr>
          <p:cNvPr id="101" name="Google Shape;101;p8"/>
          <p:cNvSpPr/>
          <p:nvPr/>
        </p:nvSpPr>
        <p:spPr>
          <a:xfrm>
            <a:off x="457200" y="2038350"/>
            <a:ext cx="3562350" cy="361950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02" name="Google Shape;102;p8"/>
          <p:cNvSpPr txBox="1"/>
          <p:nvPr/>
        </p:nvSpPr>
        <p:spPr>
          <a:xfrm>
            <a:off x="666750" y="2209800"/>
            <a:ext cx="3143250" cy="3333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500">
                <a:solidFill>
                  <a:srgbClr val="E8B430"/>
                </a:solidFill>
                <a:latin typeface="Arial"/>
                <a:ea typeface="Arial"/>
                <a:cs typeface="Arial"/>
                <a:sym typeface="Arial"/>
              </a:rPr>
              <a:t>EXPORTER (SELLER)</a:t>
            </a:r>
            <a:endParaRPr/>
          </a:p>
          <a:p>
            <a:pPr indent="0" lvl="0" marL="0" marR="0" rtl="0" algn="l">
              <a:lnSpc>
                <a:spcPct val="130000"/>
              </a:lnSpc>
              <a:spcBef>
                <a:spcPts val="1200"/>
              </a:spcBef>
              <a:spcAft>
                <a:spcPts val="0"/>
              </a:spcAft>
              <a:buNone/>
            </a:pPr>
            <a:r>
              <a:rPr lang="zh-CN" sz="1150">
                <a:solidFill>
                  <a:srgbClr val="FFFFFF"/>
                </a:solidFill>
                <a:latin typeface="Arial"/>
                <a:ea typeface="Arial"/>
                <a:cs typeface="Arial"/>
                <a:sym typeface="Arial"/>
              </a:rPr>
              <a:t>•  Create a trade and upload docs in seconds</a:t>
            </a:r>
            <a:endParaRPr/>
          </a:p>
          <a:p>
            <a:pPr indent="0" lvl="0" marL="0" marR="0" rtl="0" algn="l">
              <a:lnSpc>
                <a:spcPct val="130000"/>
              </a:lnSpc>
              <a:spcBef>
                <a:spcPts val="700"/>
              </a:spcBef>
              <a:spcAft>
                <a:spcPts val="0"/>
              </a:spcAft>
              <a:buNone/>
            </a:pPr>
            <a:r>
              <a:rPr lang="zh-CN" sz="1150">
                <a:solidFill>
                  <a:srgbClr val="FFFFFF"/>
                </a:solidFill>
                <a:latin typeface="Arial"/>
                <a:ea typeface="Arial"/>
                <a:cs typeface="Arial"/>
                <a:sym typeface="Arial"/>
              </a:rPr>
              <a:t>•  Document check </a:t>
            </a:r>
            <a:r>
              <a:rPr lang="zh-CN" sz="1150">
                <a:solidFill>
                  <a:srgbClr val="FFFFFF"/>
                </a:solidFill>
              </a:rPr>
              <a:t>,</a:t>
            </a:r>
            <a:r>
              <a:rPr lang="zh-CN" sz="1150">
                <a:solidFill>
                  <a:srgbClr val="FFFFFF"/>
                </a:solidFill>
                <a:latin typeface="Arial"/>
                <a:ea typeface="Arial"/>
                <a:cs typeface="Arial"/>
                <a:sym typeface="Arial"/>
              </a:rPr>
              <a:t> instant auto credit score with SHAP reasons</a:t>
            </a:r>
            <a:endParaRPr/>
          </a:p>
          <a:p>
            <a:pPr indent="0" lvl="0" marL="0" marR="0" rtl="0" algn="l">
              <a:lnSpc>
                <a:spcPct val="130000"/>
              </a:lnSpc>
              <a:spcBef>
                <a:spcPts val="700"/>
              </a:spcBef>
              <a:spcAft>
                <a:spcPts val="0"/>
              </a:spcAft>
              <a:buNone/>
            </a:pPr>
            <a:r>
              <a:rPr lang="zh-CN" sz="1150">
                <a:solidFill>
                  <a:srgbClr val="FFFFFF"/>
                </a:solidFill>
                <a:latin typeface="Arial"/>
                <a:ea typeface="Arial"/>
                <a:cs typeface="Arial"/>
                <a:sym typeface="Arial"/>
              </a:rPr>
              <a:t>•  Deterministic weekly cash-flow forecast</a:t>
            </a:r>
            <a:endParaRPr/>
          </a:p>
          <a:p>
            <a:pPr indent="0" lvl="0" marL="0" marR="0" rtl="0" algn="l">
              <a:lnSpc>
                <a:spcPct val="130000"/>
              </a:lnSpc>
              <a:spcBef>
                <a:spcPts val="700"/>
              </a:spcBef>
              <a:spcAft>
                <a:spcPts val="0"/>
              </a:spcAft>
              <a:buNone/>
            </a:pPr>
            <a:r>
              <a:rPr lang="zh-CN" sz="1150">
                <a:solidFill>
                  <a:srgbClr val="FFFFFF"/>
                </a:solidFill>
                <a:latin typeface="Arial"/>
                <a:ea typeface="Arial"/>
                <a:cs typeface="Arial"/>
                <a:sym typeface="Arial"/>
              </a:rPr>
              <a:t>•  Cash-gap alerts and what-if scenarios for late payments</a:t>
            </a:r>
            <a:endParaRPr/>
          </a:p>
          <a:p>
            <a:pPr indent="0" lvl="0" marL="0" marR="0" rtl="0" algn="l">
              <a:lnSpc>
                <a:spcPct val="130000"/>
              </a:lnSpc>
              <a:spcBef>
                <a:spcPts val="700"/>
              </a:spcBef>
              <a:spcAft>
                <a:spcPts val="0"/>
              </a:spcAft>
              <a:buNone/>
            </a:pPr>
            <a:r>
              <a:rPr lang="zh-CN" sz="1150">
                <a:solidFill>
                  <a:srgbClr val="FFFFFF"/>
                </a:solidFill>
                <a:latin typeface="Arial"/>
                <a:ea typeface="Arial"/>
                <a:cs typeface="Arial"/>
                <a:sym typeface="Arial"/>
              </a:rPr>
              <a:t>•  Financing offers matched to the risk band</a:t>
            </a:r>
            <a:endParaRPr/>
          </a:p>
          <a:p>
            <a:pPr indent="0" lvl="0" marL="0" marR="0" rtl="0" algn="l">
              <a:lnSpc>
                <a:spcPct val="130000"/>
              </a:lnSpc>
              <a:spcBef>
                <a:spcPts val="700"/>
              </a:spcBef>
              <a:spcAft>
                <a:spcPts val="0"/>
              </a:spcAft>
              <a:buNone/>
            </a:pPr>
            <a:r>
              <a:rPr lang="zh-CN" sz="1150">
                <a:solidFill>
                  <a:srgbClr val="FFFFFF"/>
                </a:solidFill>
                <a:latin typeface="Arial"/>
                <a:ea typeface="Arial"/>
                <a:cs typeface="Arial"/>
                <a:sym typeface="Arial"/>
              </a:rPr>
              <a:t>•  SME copilot answers in plain English, fully cited</a:t>
            </a:r>
            <a:endParaRPr/>
          </a:p>
        </p:txBody>
      </p:sp>
      <p:sp>
        <p:nvSpPr>
          <p:cNvPr id="103" name="Google Shape;103;p8"/>
          <p:cNvSpPr/>
          <p:nvPr/>
        </p:nvSpPr>
        <p:spPr>
          <a:xfrm>
            <a:off x="4295775" y="2038350"/>
            <a:ext cx="3562350" cy="361950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04" name="Google Shape;104;p8"/>
          <p:cNvSpPr txBox="1"/>
          <p:nvPr/>
        </p:nvSpPr>
        <p:spPr>
          <a:xfrm>
            <a:off x="4505325" y="2209800"/>
            <a:ext cx="3143250" cy="3333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500">
                <a:solidFill>
                  <a:srgbClr val="E8B430"/>
                </a:solidFill>
                <a:latin typeface="Arial"/>
                <a:ea typeface="Arial"/>
                <a:cs typeface="Arial"/>
                <a:sym typeface="Arial"/>
              </a:rPr>
              <a:t>BUYER</a:t>
            </a:r>
            <a:endParaRPr/>
          </a:p>
          <a:p>
            <a:pPr indent="0" lvl="0" marL="0" marR="0" rtl="0" algn="l">
              <a:lnSpc>
                <a:spcPct val="130000"/>
              </a:lnSpc>
              <a:spcBef>
                <a:spcPts val="1200"/>
              </a:spcBef>
              <a:spcAft>
                <a:spcPts val="0"/>
              </a:spcAft>
              <a:buNone/>
            </a:pPr>
            <a:r>
              <a:rPr lang="zh-CN" sz="1150">
                <a:solidFill>
                  <a:srgbClr val="FFFFFF"/>
                </a:solidFill>
                <a:latin typeface="Arial"/>
                <a:ea typeface="Arial"/>
                <a:cs typeface="Arial"/>
                <a:sym typeface="Arial"/>
              </a:rPr>
              <a:t>•  Sees full trade terms, document status and the credit score before committing money</a:t>
            </a:r>
            <a:endParaRPr/>
          </a:p>
          <a:p>
            <a:pPr indent="0" lvl="0" marL="0" marR="0" rtl="0" algn="l">
              <a:lnSpc>
                <a:spcPct val="130000"/>
              </a:lnSpc>
              <a:spcBef>
                <a:spcPts val="700"/>
              </a:spcBef>
              <a:spcAft>
                <a:spcPts val="0"/>
              </a:spcAft>
              <a:buNone/>
            </a:pPr>
            <a:r>
              <a:rPr lang="zh-CN" sz="1150">
                <a:solidFill>
                  <a:srgbClr val="FFFFFF"/>
                </a:solidFill>
                <a:latin typeface="Arial"/>
                <a:ea typeface="Arial"/>
                <a:cs typeface="Arial"/>
                <a:sym typeface="Arial"/>
              </a:rPr>
              <a:t>•  Funds go into the escrow smart contract  not to the seller</a:t>
            </a:r>
            <a:endParaRPr/>
          </a:p>
          <a:p>
            <a:pPr indent="0" lvl="0" marL="0" marR="0" rtl="0" algn="l">
              <a:lnSpc>
                <a:spcPct val="130000"/>
              </a:lnSpc>
              <a:spcBef>
                <a:spcPts val="700"/>
              </a:spcBef>
              <a:spcAft>
                <a:spcPts val="0"/>
              </a:spcAft>
              <a:buNone/>
            </a:pPr>
            <a:r>
              <a:rPr lang="zh-CN" sz="1150">
                <a:solidFill>
                  <a:srgbClr val="FFFFFF"/>
                </a:solidFill>
                <a:latin typeface="Arial"/>
                <a:ea typeface="Arial"/>
                <a:cs typeface="Arial"/>
                <a:sym typeface="Arial"/>
              </a:rPr>
              <a:t>•  Release only on verified shipment + delivery events</a:t>
            </a:r>
            <a:endParaRPr/>
          </a:p>
          <a:p>
            <a:pPr indent="0" lvl="0" marL="0" marR="0" rtl="0" algn="l">
              <a:lnSpc>
                <a:spcPct val="130000"/>
              </a:lnSpc>
              <a:spcBef>
                <a:spcPts val="700"/>
              </a:spcBef>
              <a:spcAft>
                <a:spcPts val="0"/>
              </a:spcAft>
              <a:buNone/>
            </a:pPr>
            <a:r>
              <a:rPr lang="zh-CN" sz="1150">
                <a:solidFill>
                  <a:srgbClr val="FFFFFF"/>
                </a:solidFill>
                <a:latin typeface="Arial"/>
                <a:ea typeface="Arial"/>
                <a:cs typeface="Arial"/>
                <a:sym typeface="Arial"/>
              </a:rPr>
              <a:t>•  A dispute freezes the funds instead of losing them</a:t>
            </a:r>
            <a:endParaRPr/>
          </a:p>
          <a:p>
            <a:pPr indent="0" lvl="0" marL="0" marR="0" rtl="0" algn="l">
              <a:lnSpc>
                <a:spcPct val="130000"/>
              </a:lnSpc>
              <a:spcBef>
                <a:spcPts val="700"/>
              </a:spcBef>
              <a:spcAft>
                <a:spcPts val="0"/>
              </a:spcAft>
              <a:buNone/>
            </a:pPr>
            <a:r>
              <a:rPr lang="zh-CN" sz="1150">
                <a:solidFill>
                  <a:srgbClr val="FFFFFF"/>
                </a:solidFill>
                <a:latin typeface="Arial"/>
                <a:ea typeface="Arial"/>
                <a:cs typeface="Arial"/>
                <a:sym typeface="Arial"/>
              </a:rPr>
              <a:t>•  Inbox and alerts for every pending action</a:t>
            </a:r>
            <a:endParaRPr/>
          </a:p>
        </p:txBody>
      </p:sp>
      <p:sp>
        <p:nvSpPr>
          <p:cNvPr id="105" name="Google Shape;105;p8"/>
          <p:cNvSpPr/>
          <p:nvPr/>
        </p:nvSpPr>
        <p:spPr>
          <a:xfrm>
            <a:off x="8134350" y="2038350"/>
            <a:ext cx="3562350" cy="361950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06" name="Google Shape;106;p8"/>
          <p:cNvSpPr txBox="1"/>
          <p:nvPr/>
        </p:nvSpPr>
        <p:spPr>
          <a:xfrm>
            <a:off x="8343900" y="2209800"/>
            <a:ext cx="3143250" cy="3333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500">
                <a:solidFill>
                  <a:srgbClr val="E8B430"/>
                </a:solidFill>
                <a:latin typeface="Arial"/>
                <a:ea typeface="Arial"/>
                <a:cs typeface="Arial"/>
                <a:sym typeface="Arial"/>
              </a:rPr>
              <a:t>REVIEWER / ADMIN</a:t>
            </a:r>
            <a:endParaRPr/>
          </a:p>
          <a:p>
            <a:pPr indent="0" lvl="0" marL="0" marR="0" rtl="0" algn="l">
              <a:lnSpc>
                <a:spcPct val="130000"/>
              </a:lnSpc>
              <a:spcBef>
                <a:spcPts val="1200"/>
              </a:spcBef>
              <a:spcAft>
                <a:spcPts val="0"/>
              </a:spcAft>
              <a:buNone/>
            </a:pPr>
            <a:r>
              <a:rPr lang="zh-CN" sz="1150">
                <a:solidFill>
                  <a:srgbClr val="FFFFFF"/>
                </a:solidFill>
                <a:latin typeface="Arial"/>
                <a:ea typeface="Arial"/>
                <a:cs typeface="Arial"/>
                <a:sym typeface="Arial"/>
              </a:rPr>
              <a:t>•  Live feed of every agent decision across the book</a:t>
            </a:r>
            <a:endParaRPr/>
          </a:p>
          <a:p>
            <a:pPr indent="0" lvl="0" marL="0" marR="0" rtl="0" algn="l">
              <a:lnSpc>
                <a:spcPct val="130000"/>
              </a:lnSpc>
              <a:spcBef>
                <a:spcPts val="700"/>
              </a:spcBef>
              <a:spcAft>
                <a:spcPts val="0"/>
              </a:spcAft>
              <a:buNone/>
            </a:pPr>
            <a:r>
              <a:rPr lang="zh-CN" sz="1150">
                <a:solidFill>
                  <a:srgbClr val="FFFFFF"/>
                </a:solidFill>
                <a:latin typeface="Arial"/>
                <a:ea typeface="Arial"/>
                <a:cs typeface="Arial"/>
                <a:sym typeface="Arial"/>
              </a:rPr>
              <a:t>•  Case queue of escalations  human releases, refunds or splits</a:t>
            </a:r>
            <a:endParaRPr/>
          </a:p>
          <a:p>
            <a:pPr indent="0" lvl="0" marL="0" marR="0" rtl="0" algn="l">
              <a:lnSpc>
                <a:spcPct val="130000"/>
              </a:lnSpc>
              <a:spcBef>
                <a:spcPts val="700"/>
              </a:spcBef>
              <a:spcAft>
                <a:spcPts val="0"/>
              </a:spcAft>
              <a:buNone/>
            </a:pPr>
            <a:r>
              <a:rPr lang="zh-CN" sz="1150">
                <a:solidFill>
                  <a:srgbClr val="FFFFFF"/>
                </a:solidFill>
                <a:latin typeface="Arial"/>
                <a:ea typeface="Arial"/>
                <a:cs typeface="Arial"/>
                <a:sym typeface="Arial"/>
              </a:rPr>
              <a:t>•  One-click audit hash-chain verification and live tamper demo</a:t>
            </a:r>
            <a:endParaRPr/>
          </a:p>
          <a:p>
            <a:pPr indent="0" lvl="0" marL="0" marR="0" rtl="0" algn="l">
              <a:lnSpc>
                <a:spcPct val="130000"/>
              </a:lnSpc>
              <a:spcBef>
                <a:spcPts val="700"/>
              </a:spcBef>
              <a:spcAft>
                <a:spcPts val="0"/>
              </a:spcAft>
              <a:buNone/>
            </a:pPr>
            <a:r>
              <a:rPr lang="zh-CN" sz="1150">
                <a:solidFill>
                  <a:srgbClr val="FFFFFF"/>
                </a:solidFill>
                <a:latin typeface="Arial"/>
                <a:ea typeface="Arial"/>
                <a:cs typeface="Arial"/>
                <a:sym typeface="Arial"/>
              </a:rPr>
              <a:t>•  Model governance: honest holdout metrics, versions, drift</a:t>
            </a:r>
            <a:endParaRPr/>
          </a:p>
          <a:p>
            <a:pPr indent="0" lvl="0" marL="0" marR="0" rtl="0" algn="l">
              <a:lnSpc>
                <a:spcPct val="130000"/>
              </a:lnSpc>
              <a:spcBef>
                <a:spcPts val="700"/>
              </a:spcBef>
              <a:spcAft>
                <a:spcPts val="0"/>
              </a:spcAft>
              <a:buNone/>
            </a:pPr>
            <a:r>
              <a:rPr lang="zh-CN" sz="1150">
                <a:solidFill>
                  <a:srgbClr val="FFFFFF"/>
                </a:solidFill>
                <a:latin typeface="Arial"/>
                <a:ea typeface="Arial"/>
                <a:cs typeface="Arial"/>
                <a:sym typeface="Arial"/>
              </a:rPr>
              <a:t>•  Portfolio reports and user RBAC administration</a:t>
            </a:r>
            <a:endParaRPr/>
          </a:p>
        </p:txBody>
      </p:sp>
      <p:sp>
        <p:nvSpPr>
          <p:cNvPr id="107" name="Google Shape;107;p8"/>
          <p:cNvSpPr txBox="1"/>
          <p:nvPr/>
        </p:nvSpPr>
        <p:spPr>
          <a:xfrm>
            <a:off x="457200" y="5867400"/>
            <a:ext cx="11249025"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1200">
                <a:solidFill>
                  <a:srgbClr val="99AABB"/>
                </a:solidFill>
                <a:latin typeface="Arial"/>
                <a:ea typeface="Arial"/>
                <a:cs typeface="Arial"/>
                <a:sym typeface="Arial"/>
              </a:rPr>
              <a:t>Same backend, role-scoped APIs: a seller never sees another seller's orders; the reviewer console is authorization-enforced, not menu-hidden.</a:t>
            </a:r>
            <a:endParaRPr/>
          </a:p>
        </p:txBody>
      </p:sp>
      <p:sp>
        <p:nvSpPr>
          <p:cNvPr id="108" name="Google Shape;108;p8"/>
          <p:cNvSpPr txBox="1"/>
          <p:nvPr/>
        </p:nvSpPr>
        <p:spPr>
          <a:xfrm>
            <a:off x="276225" y="6496050"/>
            <a:ext cx="1161097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900">
                <a:solidFill>
                  <a:srgbClr val="99AABB"/>
                </a:solidFill>
                <a:latin typeface="Arial"/>
                <a:ea typeface="Arial"/>
                <a:cs typeface="Arial"/>
                <a:sym typeface="Arial"/>
              </a:rPr>
              <a:t>SilkFlow AI  |  FinTechathon 2026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0F1E"/>
        </a:solidFill>
      </p:bgPr>
    </p:bg>
    <p:spTree>
      <p:nvGrpSpPr>
        <p:cNvPr id="112" name="Shape 112"/>
        <p:cNvGrpSpPr/>
        <p:nvPr/>
      </p:nvGrpSpPr>
      <p:grpSpPr>
        <a:xfrm>
          <a:off x="0" y="0"/>
          <a:ext cx="0" cy="0"/>
          <a:chOff x="0" y="0"/>
          <a:chExt cx="0" cy="0"/>
        </a:xfrm>
      </p:grpSpPr>
      <p:sp>
        <p:nvSpPr>
          <p:cNvPr id="113" name="Google Shape;113;p9"/>
          <p:cNvSpPr txBox="1"/>
          <p:nvPr/>
        </p:nvSpPr>
        <p:spPr>
          <a:xfrm>
            <a:off x="276225" y="171450"/>
            <a:ext cx="19050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100">
                <a:solidFill>
                  <a:srgbClr val="E8B430"/>
                </a:solidFill>
                <a:latin typeface="Arial"/>
                <a:ea typeface="Arial"/>
                <a:cs typeface="Arial"/>
                <a:sym typeface="Arial"/>
              </a:rPr>
              <a:t>SILKFLOW AI</a:t>
            </a:r>
            <a:endParaRPr/>
          </a:p>
        </p:txBody>
      </p:sp>
      <p:sp>
        <p:nvSpPr>
          <p:cNvPr id="114" name="Google Shape;114;p9"/>
          <p:cNvSpPr/>
          <p:nvPr/>
        </p:nvSpPr>
        <p:spPr>
          <a:xfrm>
            <a:off x="276225" y="866775"/>
            <a:ext cx="11610975" cy="28575"/>
          </a:xfrm>
          <a:prstGeom prst="rect">
            <a:avLst/>
          </a:prstGeom>
          <a:solidFill>
            <a:srgbClr val="E8B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15" name="Google Shape;115;p9"/>
          <p:cNvSpPr txBox="1"/>
          <p:nvPr/>
        </p:nvSpPr>
        <p:spPr>
          <a:xfrm>
            <a:off x="457200" y="1028700"/>
            <a:ext cx="11249025"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2800">
                <a:solidFill>
                  <a:srgbClr val="FFFFFF"/>
                </a:solidFill>
                <a:latin typeface="Arial"/>
                <a:ea typeface="Arial"/>
                <a:cs typeface="Arial"/>
                <a:sym typeface="Arial"/>
              </a:rPr>
              <a:t>Product Screens 1/2 </a:t>
            </a:r>
            <a:r>
              <a:rPr b="1" lang="zh-CN" sz="2800">
                <a:solidFill>
                  <a:srgbClr val="FFFFFF"/>
                </a:solidFill>
              </a:rPr>
              <a:t>,</a:t>
            </a:r>
            <a:r>
              <a:rPr b="1" lang="zh-CN" sz="2800">
                <a:solidFill>
                  <a:srgbClr val="FFFFFF"/>
                </a:solidFill>
                <a:latin typeface="Arial"/>
                <a:ea typeface="Arial"/>
                <a:cs typeface="Arial"/>
                <a:sym typeface="Arial"/>
              </a:rPr>
              <a:t> The Exporter Portal</a:t>
            </a:r>
            <a:endParaRPr/>
          </a:p>
        </p:txBody>
      </p:sp>
      <p:sp>
        <p:nvSpPr>
          <p:cNvPr id="116" name="Google Shape;116;p9"/>
          <p:cNvSpPr txBox="1"/>
          <p:nvPr/>
        </p:nvSpPr>
        <p:spPr>
          <a:xfrm>
            <a:off x="457200" y="1581150"/>
            <a:ext cx="11249025"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1400">
                <a:solidFill>
                  <a:srgbClr val="8EC5FF"/>
                </a:solidFill>
                <a:latin typeface="Arial"/>
                <a:ea typeface="Arial"/>
                <a:cs typeface="Arial"/>
                <a:sym typeface="Arial"/>
              </a:rPr>
              <a:t>Live screens captured from the running local build </a:t>
            </a:r>
            <a:r>
              <a:rPr lang="zh-CN">
                <a:solidFill>
                  <a:srgbClr val="8EC5FF"/>
                </a:solidFill>
              </a:rPr>
              <a:t> </a:t>
            </a:r>
            <a:r>
              <a:rPr lang="zh-CN" sz="1400">
                <a:solidFill>
                  <a:srgbClr val="8EC5FF"/>
                </a:solidFill>
                <a:latin typeface="Arial"/>
                <a:ea typeface="Arial"/>
                <a:cs typeface="Arial"/>
                <a:sym typeface="Arial"/>
              </a:rPr>
              <a:t> no mockups, no design comps.</a:t>
            </a:r>
            <a:endParaRPr/>
          </a:p>
        </p:txBody>
      </p:sp>
      <p:pic>
        <p:nvPicPr>
          <p:cNvPr id="117" name="Google Shape;117;p9"/>
          <p:cNvPicPr preferRelativeResize="0"/>
          <p:nvPr/>
        </p:nvPicPr>
        <p:blipFill rotWithShape="1">
          <a:blip r:embed="rId3">
            <a:alphaModFix/>
          </a:blip>
          <a:srcRect b="0" l="0" r="0" t="0"/>
          <a:stretch/>
        </p:blipFill>
        <p:spPr>
          <a:xfrm>
            <a:off x="457200" y="2152650"/>
            <a:ext cx="3657600" cy="2057400"/>
          </a:xfrm>
          <a:prstGeom prst="rect">
            <a:avLst/>
          </a:prstGeom>
          <a:noFill/>
          <a:ln>
            <a:noFill/>
          </a:ln>
        </p:spPr>
      </p:pic>
      <p:pic>
        <p:nvPicPr>
          <p:cNvPr id="118" name="Google Shape;118;p9"/>
          <p:cNvPicPr preferRelativeResize="0"/>
          <p:nvPr/>
        </p:nvPicPr>
        <p:blipFill rotWithShape="1">
          <a:blip r:embed="rId4">
            <a:alphaModFix/>
          </a:blip>
          <a:srcRect b="0" l="0" r="0" t="0"/>
          <a:stretch/>
        </p:blipFill>
        <p:spPr>
          <a:xfrm>
            <a:off x="4267200" y="2152650"/>
            <a:ext cx="3657600" cy="2057400"/>
          </a:xfrm>
          <a:prstGeom prst="rect">
            <a:avLst/>
          </a:prstGeom>
          <a:noFill/>
          <a:ln>
            <a:noFill/>
          </a:ln>
        </p:spPr>
      </p:pic>
      <p:pic>
        <p:nvPicPr>
          <p:cNvPr id="119" name="Google Shape;119;p9"/>
          <p:cNvPicPr preferRelativeResize="0"/>
          <p:nvPr/>
        </p:nvPicPr>
        <p:blipFill rotWithShape="1">
          <a:blip r:embed="rId5">
            <a:alphaModFix/>
          </a:blip>
          <a:srcRect b="0" l="0" r="0" t="0"/>
          <a:stretch/>
        </p:blipFill>
        <p:spPr>
          <a:xfrm>
            <a:off x="8077200" y="2152650"/>
            <a:ext cx="3657600" cy="2057400"/>
          </a:xfrm>
          <a:prstGeom prst="rect">
            <a:avLst/>
          </a:prstGeom>
          <a:noFill/>
          <a:ln>
            <a:noFill/>
          </a:ln>
        </p:spPr>
      </p:pic>
      <p:sp>
        <p:nvSpPr>
          <p:cNvPr id="120" name="Google Shape;120;p9"/>
          <p:cNvSpPr txBox="1"/>
          <p:nvPr/>
        </p:nvSpPr>
        <p:spPr>
          <a:xfrm>
            <a:off x="457200" y="4305300"/>
            <a:ext cx="36576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300">
                <a:solidFill>
                  <a:srgbClr val="E8B430"/>
                </a:solidFill>
                <a:latin typeface="Arial"/>
                <a:ea typeface="Arial"/>
                <a:cs typeface="Arial"/>
                <a:sym typeface="Arial"/>
              </a:rPr>
              <a:t>Exporter dashboard</a:t>
            </a:r>
            <a:endParaRPr/>
          </a:p>
          <a:p>
            <a:pPr indent="0" lvl="0" marL="0" marR="0" rtl="0" algn="l">
              <a:lnSpc>
                <a:spcPct val="120000"/>
              </a:lnSpc>
              <a:spcBef>
                <a:spcPts val="500"/>
              </a:spcBef>
              <a:spcAft>
                <a:spcPts val="0"/>
              </a:spcAft>
              <a:buNone/>
            </a:pPr>
            <a:r>
              <a:rPr lang="zh-CN" sz="1100">
                <a:solidFill>
                  <a:srgbClr val="FFFFFF"/>
                </a:solidFill>
                <a:latin typeface="Arial"/>
                <a:ea typeface="Arial"/>
                <a:cs typeface="Arial"/>
                <a:sym typeface="Arial"/>
              </a:rPr>
              <a:t>Live orders, scores, escrow status and alerts at a glance for the seller's home portal.</a:t>
            </a:r>
            <a:endParaRPr/>
          </a:p>
        </p:txBody>
      </p:sp>
      <p:sp>
        <p:nvSpPr>
          <p:cNvPr id="121" name="Google Shape;121;p9"/>
          <p:cNvSpPr txBox="1"/>
          <p:nvPr/>
        </p:nvSpPr>
        <p:spPr>
          <a:xfrm>
            <a:off x="4267200" y="4305300"/>
            <a:ext cx="36576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300">
                <a:solidFill>
                  <a:srgbClr val="E8B430"/>
                </a:solidFill>
                <a:latin typeface="Arial"/>
                <a:ea typeface="Arial"/>
                <a:cs typeface="Arial"/>
                <a:sym typeface="Arial"/>
              </a:rPr>
              <a:t>Auto-scoring with reasons</a:t>
            </a:r>
            <a:endParaRPr/>
          </a:p>
          <a:p>
            <a:pPr indent="0" lvl="0" marL="0" marR="0" rtl="0" algn="l">
              <a:lnSpc>
                <a:spcPct val="120000"/>
              </a:lnSpc>
              <a:spcBef>
                <a:spcPts val="500"/>
              </a:spcBef>
              <a:spcAft>
                <a:spcPts val="0"/>
              </a:spcAft>
              <a:buNone/>
            </a:pPr>
            <a:r>
              <a:rPr lang="zh-CN" sz="1100">
                <a:solidFill>
                  <a:srgbClr val="FFFFFF"/>
                </a:solidFill>
                <a:latin typeface="Arial"/>
                <a:ea typeface="Arial"/>
                <a:cs typeface="Arial"/>
                <a:sym typeface="Arial"/>
              </a:rPr>
              <a:t>Order #9 scored 96.7 automatically after the passed check — SHAP shows which factors moved it.</a:t>
            </a:r>
            <a:endParaRPr/>
          </a:p>
        </p:txBody>
      </p:sp>
      <p:sp>
        <p:nvSpPr>
          <p:cNvPr id="122" name="Google Shape;122;p9"/>
          <p:cNvSpPr txBox="1"/>
          <p:nvPr/>
        </p:nvSpPr>
        <p:spPr>
          <a:xfrm>
            <a:off x="8077200" y="4305300"/>
            <a:ext cx="3657600" cy="8651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300">
                <a:solidFill>
                  <a:srgbClr val="E8B430"/>
                </a:solidFill>
                <a:latin typeface="Arial"/>
                <a:ea typeface="Arial"/>
                <a:cs typeface="Arial"/>
                <a:sym typeface="Arial"/>
              </a:rPr>
              <a:t>Cash-flow gap detection</a:t>
            </a:r>
            <a:endParaRPr/>
          </a:p>
          <a:p>
            <a:pPr indent="0" lvl="0" marL="0" marR="0" rtl="0" algn="l">
              <a:lnSpc>
                <a:spcPct val="120000"/>
              </a:lnSpc>
              <a:spcBef>
                <a:spcPts val="500"/>
              </a:spcBef>
              <a:spcAft>
                <a:spcPts val="0"/>
              </a:spcAft>
              <a:buNone/>
            </a:pPr>
            <a:r>
              <a:rPr lang="zh-CN" sz="1100">
                <a:solidFill>
                  <a:srgbClr val="FFFFFF"/>
                </a:solidFill>
                <a:latin typeface="Arial"/>
                <a:ea typeface="Arial"/>
                <a:cs typeface="Arial"/>
                <a:sym typeface="Arial"/>
              </a:rPr>
              <a:t>Deterministic forecast exposes a −$5,400 gap over 8 flagged weeks; alerts fire and what-if sliders test late payments.</a:t>
            </a:r>
            <a:endParaRPr/>
          </a:p>
        </p:txBody>
      </p:sp>
      <p:sp>
        <p:nvSpPr>
          <p:cNvPr id="123" name="Google Shape;123;p9"/>
          <p:cNvSpPr txBox="1"/>
          <p:nvPr/>
        </p:nvSpPr>
        <p:spPr>
          <a:xfrm>
            <a:off x="457200" y="5334000"/>
            <a:ext cx="11249025" cy="571500"/>
          </a:xfrm>
          <a:prstGeom prst="rect">
            <a:avLst/>
          </a:prstGeom>
          <a:solidFill>
            <a:schemeClr val="dk1"/>
          </a:solid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zh-CN" sz="1100">
                <a:solidFill>
                  <a:srgbClr val="99AABB"/>
                </a:solidFill>
                <a:latin typeface="Arial"/>
                <a:ea typeface="Arial"/>
                <a:cs typeface="Arial"/>
                <a:sym typeface="Arial"/>
              </a:rPr>
              <a:t>Financing offers shown alongside scores are label-as-simulated bank products matched to the risk band; all demo data is synthetic and labeled inside the app  the UI never pretends to be production.</a:t>
            </a:r>
            <a:endParaRPr/>
          </a:p>
        </p:txBody>
      </p:sp>
      <p:sp>
        <p:nvSpPr>
          <p:cNvPr id="124" name="Google Shape;124;p9"/>
          <p:cNvSpPr txBox="1"/>
          <p:nvPr/>
        </p:nvSpPr>
        <p:spPr>
          <a:xfrm>
            <a:off x="276225" y="6496050"/>
            <a:ext cx="1161097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900">
                <a:solidFill>
                  <a:srgbClr val="99AABB"/>
                </a:solidFill>
                <a:latin typeface="Arial"/>
                <a:ea typeface="Arial"/>
                <a:cs typeface="Arial"/>
                <a:sym typeface="Arial"/>
              </a:rPr>
              <a:t>SilkFlow AI  |  FinTechathon 2026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0F1E"/>
        </a:solidFill>
      </p:bgPr>
    </p:bg>
    <p:spTree>
      <p:nvGrpSpPr>
        <p:cNvPr id="128" name="Shape 128"/>
        <p:cNvGrpSpPr/>
        <p:nvPr/>
      </p:nvGrpSpPr>
      <p:grpSpPr>
        <a:xfrm>
          <a:off x="0" y="0"/>
          <a:ext cx="0" cy="0"/>
          <a:chOff x="0" y="0"/>
          <a:chExt cx="0" cy="0"/>
        </a:xfrm>
      </p:grpSpPr>
      <p:sp>
        <p:nvSpPr>
          <p:cNvPr id="129" name="Google Shape;129;p10"/>
          <p:cNvSpPr txBox="1"/>
          <p:nvPr/>
        </p:nvSpPr>
        <p:spPr>
          <a:xfrm>
            <a:off x="276225" y="171450"/>
            <a:ext cx="19050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100">
                <a:solidFill>
                  <a:srgbClr val="E8B430"/>
                </a:solidFill>
                <a:latin typeface="Arial"/>
                <a:ea typeface="Arial"/>
                <a:cs typeface="Arial"/>
                <a:sym typeface="Arial"/>
              </a:rPr>
              <a:t>SILKFLOW AI</a:t>
            </a:r>
            <a:endParaRPr/>
          </a:p>
        </p:txBody>
      </p:sp>
      <p:sp>
        <p:nvSpPr>
          <p:cNvPr id="130" name="Google Shape;130;p10"/>
          <p:cNvSpPr/>
          <p:nvPr/>
        </p:nvSpPr>
        <p:spPr>
          <a:xfrm>
            <a:off x="276225" y="866775"/>
            <a:ext cx="11610975" cy="28575"/>
          </a:xfrm>
          <a:prstGeom prst="rect">
            <a:avLst/>
          </a:prstGeom>
          <a:solidFill>
            <a:srgbClr val="E8B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31" name="Google Shape;131;p10"/>
          <p:cNvSpPr txBox="1"/>
          <p:nvPr/>
        </p:nvSpPr>
        <p:spPr>
          <a:xfrm>
            <a:off x="457200" y="1028700"/>
            <a:ext cx="11249025"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2800">
                <a:solidFill>
                  <a:srgbClr val="FFFFFF"/>
                </a:solidFill>
                <a:latin typeface="Arial"/>
                <a:ea typeface="Arial"/>
                <a:cs typeface="Arial"/>
                <a:sym typeface="Arial"/>
              </a:rPr>
              <a:t>Product Screens 2/2 </a:t>
            </a:r>
            <a:r>
              <a:rPr b="1" lang="zh-CN" sz="2800">
                <a:solidFill>
                  <a:srgbClr val="FFFFFF"/>
                </a:solidFill>
              </a:rPr>
              <a:t>,</a:t>
            </a:r>
            <a:r>
              <a:rPr b="1" lang="zh-CN" sz="2800">
                <a:solidFill>
                  <a:srgbClr val="FFFFFF"/>
                </a:solidFill>
                <a:latin typeface="Arial"/>
                <a:ea typeface="Arial"/>
                <a:cs typeface="Arial"/>
                <a:sym typeface="Arial"/>
              </a:rPr>
              <a:t> Buyer, Reviewer &amp; Admin</a:t>
            </a:r>
            <a:endParaRPr/>
          </a:p>
        </p:txBody>
      </p:sp>
      <p:sp>
        <p:nvSpPr>
          <p:cNvPr id="132" name="Google Shape;132;p10"/>
          <p:cNvSpPr txBox="1"/>
          <p:nvPr/>
        </p:nvSpPr>
        <p:spPr>
          <a:xfrm>
            <a:off x="457200" y="1581150"/>
            <a:ext cx="11249025"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1400">
                <a:solidFill>
                  <a:srgbClr val="8EC5FF"/>
                </a:solidFill>
                <a:latin typeface="Arial"/>
                <a:ea typeface="Arial"/>
                <a:cs typeface="Arial"/>
                <a:sym typeface="Arial"/>
              </a:rPr>
              <a:t>The trust side of the platform: money control, tamper evidence and model governance.</a:t>
            </a:r>
            <a:endParaRPr/>
          </a:p>
        </p:txBody>
      </p:sp>
      <p:pic>
        <p:nvPicPr>
          <p:cNvPr id="133" name="Google Shape;133;p10"/>
          <p:cNvPicPr preferRelativeResize="0"/>
          <p:nvPr/>
        </p:nvPicPr>
        <p:blipFill rotWithShape="1">
          <a:blip r:embed="rId3">
            <a:alphaModFix/>
          </a:blip>
          <a:srcRect b="0" l="0" r="0" t="0"/>
          <a:stretch/>
        </p:blipFill>
        <p:spPr>
          <a:xfrm>
            <a:off x="457200" y="2152650"/>
            <a:ext cx="3657600" cy="2057400"/>
          </a:xfrm>
          <a:prstGeom prst="rect">
            <a:avLst/>
          </a:prstGeom>
          <a:noFill/>
          <a:ln>
            <a:noFill/>
          </a:ln>
        </p:spPr>
      </p:pic>
      <p:pic>
        <p:nvPicPr>
          <p:cNvPr id="134" name="Google Shape;134;p10"/>
          <p:cNvPicPr preferRelativeResize="0"/>
          <p:nvPr/>
        </p:nvPicPr>
        <p:blipFill rotWithShape="1">
          <a:blip r:embed="rId4">
            <a:alphaModFix/>
          </a:blip>
          <a:srcRect b="0" l="0" r="0" t="0"/>
          <a:stretch/>
        </p:blipFill>
        <p:spPr>
          <a:xfrm>
            <a:off x="4267200" y="2152650"/>
            <a:ext cx="3657600" cy="2057400"/>
          </a:xfrm>
          <a:prstGeom prst="rect">
            <a:avLst/>
          </a:prstGeom>
          <a:noFill/>
          <a:ln>
            <a:noFill/>
          </a:ln>
        </p:spPr>
      </p:pic>
      <p:pic>
        <p:nvPicPr>
          <p:cNvPr id="135" name="Google Shape;135;p10"/>
          <p:cNvPicPr preferRelativeResize="0"/>
          <p:nvPr/>
        </p:nvPicPr>
        <p:blipFill rotWithShape="1">
          <a:blip r:embed="rId5">
            <a:alphaModFix/>
          </a:blip>
          <a:srcRect b="0" l="0" r="0" t="0"/>
          <a:stretch/>
        </p:blipFill>
        <p:spPr>
          <a:xfrm>
            <a:off x="8077200" y="2152650"/>
            <a:ext cx="3657600" cy="2057400"/>
          </a:xfrm>
          <a:prstGeom prst="rect">
            <a:avLst/>
          </a:prstGeom>
          <a:noFill/>
          <a:ln>
            <a:noFill/>
          </a:ln>
        </p:spPr>
      </p:pic>
      <p:sp>
        <p:nvSpPr>
          <p:cNvPr id="136" name="Google Shape;136;p10"/>
          <p:cNvSpPr txBox="1"/>
          <p:nvPr/>
        </p:nvSpPr>
        <p:spPr>
          <a:xfrm>
            <a:off x="457200" y="4305300"/>
            <a:ext cx="36576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300">
                <a:solidFill>
                  <a:srgbClr val="E8B430"/>
                </a:solidFill>
                <a:latin typeface="Arial"/>
                <a:ea typeface="Arial"/>
                <a:cs typeface="Arial"/>
                <a:sym typeface="Arial"/>
              </a:rPr>
              <a:t>Buyer escrow view</a:t>
            </a:r>
            <a:endParaRPr/>
          </a:p>
          <a:p>
            <a:pPr indent="0" lvl="0" marL="0" marR="0" rtl="0" algn="l">
              <a:lnSpc>
                <a:spcPct val="120000"/>
              </a:lnSpc>
              <a:spcBef>
                <a:spcPts val="500"/>
              </a:spcBef>
              <a:spcAft>
                <a:spcPts val="0"/>
              </a:spcAft>
              <a:buNone/>
            </a:pPr>
            <a:r>
              <a:rPr lang="zh-CN" sz="1100">
                <a:solidFill>
                  <a:srgbClr val="FFFFFF"/>
                </a:solidFill>
                <a:latin typeface="Arial"/>
                <a:ea typeface="Arial"/>
                <a:cs typeface="Arial"/>
                <a:sym typeface="Arial"/>
              </a:rPr>
              <a:t>Buyer funds sit in the smart contract; release is linked to verified delivery, disputes freeze the money.</a:t>
            </a:r>
            <a:endParaRPr/>
          </a:p>
        </p:txBody>
      </p:sp>
      <p:sp>
        <p:nvSpPr>
          <p:cNvPr id="137" name="Google Shape;137;p10"/>
          <p:cNvSpPr txBox="1"/>
          <p:nvPr/>
        </p:nvSpPr>
        <p:spPr>
          <a:xfrm>
            <a:off x="4267200" y="4305300"/>
            <a:ext cx="36576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300">
                <a:solidFill>
                  <a:srgbClr val="E8B430"/>
                </a:solidFill>
                <a:latin typeface="Arial"/>
                <a:ea typeface="Arial"/>
                <a:cs typeface="Arial"/>
                <a:sym typeface="Arial"/>
              </a:rPr>
              <a:t>Audit trail  verified</a:t>
            </a:r>
            <a:endParaRPr/>
          </a:p>
          <a:p>
            <a:pPr indent="0" lvl="0" marL="0" marR="0" rtl="0" algn="l">
              <a:lnSpc>
                <a:spcPct val="120000"/>
              </a:lnSpc>
              <a:spcBef>
                <a:spcPts val="500"/>
              </a:spcBef>
              <a:spcAft>
                <a:spcPts val="0"/>
              </a:spcAft>
              <a:buNone/>
            </a:pPr>
            <a:r>
              <a:rPr lang="zh-CN" sz="1100">
                <a:solidFill>
                  <a:srgbClr val="FFFFFF"/>
                </a:solidFill>
                <a:latin typeface="Arial"/>
                <a:ea typeface="Arial"/>
                <a:cs typeface="Arial"/>
                <a:sym typeface="Arial"/>
              </a:rPr>
              <a:t>199 hash-chained entries pass one-click integrity verification; any edit to history turns the chain red.</a:t>
            </a:r>
            <a:endParaRPr/>
          </a:p>
        </p:txBody>
      </p:sp>
      <p:sp>
        <p:nvSpPr>
          <p:cNvPr id="138" name="Google Shape;138;p10"/>
          <p:cNvSpPr txBox="1"/>
          <p:nvPr/>
        </p:nvSpPr>
        <p:spPr>
          <a:xfrm>
            <a:off x="8077200" y="4305300"/>
            <a:ext cx="36576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300">
                <a:solidFill>
                  <a:srgbClr val="E8B430"/>
                </a:solidFill>
                <a:latin typeface="Arial"/>
                <a:ea typeface="Arial"/>
                <a:cs typeface="Arial"/>
                <a:sym typeface="Arial"/>
              </a:rPr>
              <a:t>Honest model governance</a:t>
            </a:r>
            <a:endParaRPr/>
          </a:p>
          <a:p>
            <a:pPr indent="0" lvl="0" marL="0" marR="0" rtl="0" algn="l">
              <a:lnSpc>
                <a:spcPct val="120000"/>
              </a:lnSpc>
              <a:spcBef>
                <a:spcPts val="500"/>
              </a:spcBef>
              <a:spcAft>
                <a:spcPts val="0"/>
              </a:spcAft>
              <a:buNone/>
            </a:pPr>
            <a:r>
              <a:rPr lang="zh-CN" sz="1100">
                <a:solidFill>
                  <a:srgbClr val="FFFFFF"/>
                </a:solidFill>
                <a:latin typeface="Arial"/>
                <a:ea typeface="Arial"/>
                <a:cs typeface="Arial"/>
                <a:sym typeface="Arial"/>
              </a:rPr>
              <a:t>The admin panel publishes the uncomfortable truth: the simple baseline outperforms XGBoost on our holdout.</a:t>
            </a:r>
            <a:endParaRPr/>
          </a:p>
        </p:txBody>
      </p:sp>
      <p:sp>
        <p:nvSpPr>
          <p:cNvPr id="139" name="Google Shape;139;p10"/>
          <p:cNvSpPr txBox="1"/>
          <p:nvPr/>
        </p:nvSpPr>
        <p:spPr>
          <a:xfrm>
            <a:off x="457200" y="5334000"/>
            <a:ext cx="11249025"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1100">
                <a:solidFill>
                  <a:srgbClr val="99AABB"/>
                </a:solidFill>
                <a:latin typeface="Arial"/>
                <a:ea typeface="Arial"/>
                <a:cs typeface="Arial"/>
                <a:sym typeface="Arial"/>
              </a:rPr>
              <a:t>Judging weights security at 30%  our answer is architectural: the LLM explains, deterministic code computes, policy authorises, and the hash chain proves what happened.</a:t>
            </a:r>
            <a:endParaRPr/>
          </a:p>
        </p:txBody>
      </p:sp>
      <p:sp>
        <p:nvSpPr>
          <p:cNvPr id="140" name="Google Shape;140;p10"/>
          <p:cNvSpPr txBox="1"/>
          <p:nvPr/>
        </p:nvSpPr>
        <p:spPr>
          <a:xfrm>
            <a:off x="276225" y="6496050"/>
            <a:ext cx="1161097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900">
                <a:solidFill>
                  <a:srgbClr val="99AABB"/>
                </a:solidFill>
                <a:latin typeface="Arial"/>
                <a:ea typeface="Arial"/>
                <a:cs typeface="Arial"/>
                <a:sym typeface="Arial"/>
              </a:rPr>
              <a:t>SilkFlow AI  |  FinTechathon 2026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0F1E"/>
        </a:solidFill>
      </p:bgPr>
    </p:bg>
    <p:spTree>
      <p:nvGrpSpPr>
        <p:cNvPr id="144" name="Shape 144"/>
        <p:cNvGrpSpPr/>
        <p:nvPr/>
      </p:nvGrpSpPr>
      <p:grpSpPr>
        <a:xfrm>
          <a:off x="0" y="0"/>
          <a:ext cx="0" cy="0"/>
          <a:chOff x="0" y="0"/>
          <a:chExt cx="0" cy="0"/>
        </a:xfrm>
      </p:grpSpPr>
      <p:sp>
        <p:nvSpPr>
          <p:cNvPr id="145" name="Google Shape;145;p11"/>
          <p:cNvSpPr txBox="1"/>
          <p:nvPr/>
        </p:nvSpPr>
        <p:spPr>
          <a:xfrm>
            <a:off x="276225" y="171450"/>
            <a:ext cx="19050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100">
                <a:solidFill>
                  <a:srgbClr val="E8B430"/>
                </a:solidFill>
                <a:latin typeface="Arial"/>
                <a:ea typeface="Arial"/>
                <a:cs typeface="Arial"/>
                <a:sym typeface="Arial"/>
              </a:rPr>
              <a:t>SILKFLOW AI</a:t>
            </a:r>
            <a:endParaRPr/>
          </a:p>
        </p:txBody>
      </p:sp>
      <p:sp>
        <p:nvSpPr>
          <p:cNvPr id="146" name="Google Shape;146;p11"/>
          <p:cNvSpPr/>
          <p:nvPr/>
        </p:nvSpPr>
        <p:spPr>
          <a:xfrm>
            <a:off x="276225" y="866775"/>
            <a:ext cx="11610975" cy="28575"/>
          </a:xfrm>
          <a:prstGeom prst="rect">
            <a:avLst/>
          </a:prstGeom>
          <a:solidFill>
            <a:srgbClr val="E8B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47" name="Google Shape;147;p11"/>
          <p:cNvSpPr txBox="1"/>
          <p:nvPr/>
        </p:nvSpPr>
        <p:spPr>
          <a:xfrm>
            <a:off x="457200" y="1028700"/>
            <a:ext cx="11249025"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2800">
                <a:solidFill>
                  <a:srgbClr val="FFFFFF"/>
                </a:solidFill>
                <a:latin typeface="Arial"/>
                <a:ea typeface="Arial"/>
                <a:cs typeface="Arial"/>
                <a:sym typeface="Arial"/>
              </a:rPr>
              <a:t>The SME Copilot </a:t>
            </a:r>
            <a:r>
              <a:rPr b="1" lang="zh-CN" sz="2800">
                <a:solidFill>
                  <a:srgbClr val="FFFFFF"/>
                </a:solidFill>
              </a:rPr>
              <a:t> </a:t>
            </a:r>
            <a:r>
              <a:rPr b="1" lang="zh-CN" sz="2800">
                <a:solidFill>
                  <a:srgbClr val="FFFFFF"/>
                </a:solidFill>
                <a:latin typeface="Arial"/>
                <a:ea typeface="Arial"/>
                <a:cs typeface="Arial"/>
                <a:sym typeface="Arial"/>
              </a:rPr>
              <a:t> And The Fences Around It</a:t>
            </a:r>
            <a:endParaRPr/>
          </a:p>
        </p:txBody>
      </p:sp>
      <p:sp>
        <p:nvSpPr>
          <p:cNvPr id="148" name="Google Shape;148;p11"/>
          <p:cNvSpPr txBox="1"/>
          <p:nvPr/>
        </p:nvSpPr>
        <p:spPr>
          <a:xfrm>
            <a:off x="457200" y="1581150"/>
            <a:ext cx="11249025"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1400">
                <a:solidFill>
                  <a:srgbClr val="8EC5FF"/>
                </a:solidFill>
                <a:latin typeface="Arial"/>
                <a:ea typeface="Arial"/>
                <a:cs typeface="Arial"/>
                <a:sym typeface="Arial"/>
              </a:rPr>
              <a:t>Conversational access to your own business data  with math and money taken out of the LLM's hands entirely.</a:t>
            </a:r>
            <a:endParaRPr/>
          </a:p>
        </p:txBody>
      </p:sp>
      <p:sp>
        <p:nvSpPr>
          <p:cNvPr id="149" name="Google Shape;149;p11"/>
          <p:cNvSpPr txBox="1"/>
          <p:nvPr/>
        </p:nvSpPr>
        <p:spPr>
          <a:xfrm>
            <a:off x="457200" y="2114550"/>
            <a:ext cx="5810250" cy="3524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400">
                <a:solidFill>
                  <a:srgbClr val="E8B430"/>
                </a:solidFill>
                <a:latin typeface="Arial"/>
                <a:ea typeface="Arial"/>
                <a:cs typeface="Arial"/>
                <a:sym typeface="Arial"/>
              </a:rPr>
              <a:t>1  The LLM never computes a number</a:t>
            </a:r>
            <a:endParaRPr/>
          </a:p>
          <a:p>
            <a:pPr indent="0" lvl="0" marL="0" marR="0" rtl="0" algn="l">
              <a:lnSpc>
                <a:spcPct val="122000"/>
              </a:lnSpc>
              <a:spcBef>
                <a:spcPts val="400"/>
              </a:spcBef>
              <a:spcAft>
                <a:spcPts val="0"/>
              </a:spcAft>
              <a:buNone/>
            </a:pPr>
            <a:r>
              <a:rPr lang="zh-CN" sz="1150">
                <a:solidFill>
                  <a:srgbClr val="FFFFFF"/>
                </a:solidFill>
                <a:latin typeface="Arial"/>
                <a:ea typeface="Arial"/>
                <a:cs typeface="Arial"/>
                <a:sym typeface="Arial"/>
              </a:rPr>
              <a:t>Every figure comes from the deterministic engine and is cited in the answer. Hallucinated numbers are structurally impossible.</a:t>
            </a:r>
            <a:endParaRPr/>
          </a:p>
          <a:p>
            <a:pPr indent="0" lvl="0" marL="0" marR="0" rtl="0" algn="l">
              <a:spcBef>
                <a:spcPts val="1300"/>
              </a:spcBef>
              <a:spcAft>
                <a:spcPts val="0"/>
              </a:spcAft>
              <a:buNone/>
            </a:pPr>
            <a:r>
              <a:rPr b="1" lang="zh-CN" sz="1400">
                <a:solidFill>
                  <a:srgbClr val="E8B430"/>
                </a:solidFill>
                <a:latin typeface="Arial"/>
                <a:ea typeface="Arial"/>
                <a:cs typeface="Arial"/>
                <a:sym typeface="Arial"/>
              </a:rPr>
              <a:t>2  The LLM never authorises money</a:t>
            </a:r>
            <a:endParaRPr/>
          </a:p>
          <a:p>
            <a:pPr indent="0" lvl="0" marL="0" marR="0" rtl="0" algn="l">
              <a:lnSpc>
                <a:spcPct val="122000"/>
              </a:lnSpc>
              <a:spcBef>
                <a:spcPts val="400"/>
              </a:spcBef>
              <a:spcAft>
                <a:spcPts val="0"/>
              </a:spcAft>
              <a:buNone/>
            </a:pPr>
            <a:r>
              <a:rPr lang="zh-CN" sz="1150">
                <a:solidFill>
                  <a:srgbClr val="FFFFFF"/>
                </a:solidFill>
                <a:latin typeface="Arial"/>
                <a:ea typeface="Arial"/>
                <a:cs typeface="Arial"/>
                <a:sym typeface="Arial"/>
              </a:rPr>
              <a:t>Escrow actions require an authenticated role plus backend policy checks; prose can never trigger a transfer.</a:t>
            </a:r>
            <a:endParaRPr/>
          </a:p>
          <a:p>
            <a:pPr indent="0" lvl="0" marL="0" marR="0" rtl="0" algn="l">
              <a:spcBef>
                <a:spcPts val="1300"/>
              </a:spcBef>
              <a:spcAft>
                <a:spcPts val="0"/>
              </a:spcAft>
              <a:buNone/>
            </a:pPr>
            <a:r>
              <a:rPr b="1" lang="zh-CN" sz="1400">
                <a:solidFill>
                  <a:srgbClr val="E8B430"/>
                </a:solidFill>
                <a:latin typeface="Arial"/>
                <a:ea typeface="Arial"/>
                <a:cs typeface="Arial"/>
                <a:sym typeface="Arial"/>
              </a:rPr>
              <a:t>3  Grounded or silent</a:t>
            </a:r>
            <a:endParaRPr/>
          </a:p>
          <a:p>
            <a:pPr indent="0" lvl="0" marL="0" marR="0" rtl="0" algn="l">
              <a:lnSpc>
                <a:spcPct val="122000"/>
              </a:lnSpc>
              <a:spcBef>
                <a:spcPts val="400"/>
              </a:spcBef>
              <a:spcAft>
                <a:spcPts val="0"/>
              </a:spcAft>
              <a:buNone/>
            </a:pPr>
            <a:r>
              <a:rPr lang="zh-CN" sz="1150">
                <a:solidFill>
                  <a:srgbClr val="FFFFFF"/>
                </a:solidFill>
                <a:latin typeface="Arial"/>
                <a:ea typeface="Arial"/>
                <a:cs typeface="Arial"/>
                <a:sym typeface="Arial"/>
              </a:rPr>
              <a:t>Answers are grounded in the caller's own scoped data; if the data does not exist, the copilot says so.</a:t>
            </a:r>
            <a:endParaRPr/>
          </a:p>
          <a:p>
            <a:pPr indent="0" lvl="0" marL="0" marR="0" rtl="0" algn="l">
              <a:spcBef>
                <a:spcPts val="1300"/>
              </a:spcBef>
              <a:spcAft>
                <a:spcPts val="0"/>
              </a:spcAft>
              <a:buNone/>
            </a:pPr>
            <a:r>
              <a:rPr b="1" lang="zh-CN" sz="1400">
                <a:solidFill>
                  <a:srgbClr val="E8B430"/>
                </a:solidFill>
                <a:latin typeface="Arial"/>
                <a:ea typeface="Arial"/>
                <a:cs typeface="Arial"/>
                <a:sym typeface="Arial"/>
              </a:rPr>
              <a:t>4  Honest labelling</a:t>
            </a:r>
            <a:endParaRPr/>
          </a:p>
          <a:p>
            <a:pPr indent="0" lvl="0" marL="0" marR="0" rtl="0" algn="l">
              <a:lnSpc>
                <a:spcPct val="122000"/>
              </a:lnSpc>
              <a:spcBef>
                <a:spcPts val="400"/>
              </a:spcBef>
              <a:spcAft>
                <a:spcPts val="0"/>
              </a:spcAft>
              <a:buNone/>
            </a:pPr>
            <a:r>
              <a:rPr lang="zh-CN" sz="1150">
                <a:solidFill>
                  <a:srgbClr val="FFFFFF"/>
                </a:solidFill>
                <a:latin typeface="Arial"/>
                <a:ea typeface="Arial"/>
                <a:cs typeface="Arial"/>
                <a:sym typeface="Arial"/>
              </a:rPr>
              <a:t>Demo mode shows a visible badge; synthetic data and simulated offers are labeled in the interface.</a:t>
            </a:r>
            <a:endParaRPr/>
          </a:p>
        </p:txBody>
      </p:sp>
      <p:pic>
        <p:nvPicPr>
          <p:cNvPr id="150" name="Google Shape;150;p11"/>
          <p:cNvPicPr preferRelativeResize="0"/>
          <p:nvPr/>
        </p:nvPicPr>
        <p:blipFill rotWithShape="1">
          <a:blip r:embed="rId3">
            <a:alphaModFix/>
          </a:blip>
          <a:srcRect b="0" l="0" r="0" t="0"/>
          <a:stretch/>
        </p:blipFill>
        <p:spPr>
          <a:xfrm>
            <a:off x="6781800" y="2114550"/>
            <a:ext cx="4953000" cy="2781300"/>
          </a:xfrm>
          <a:prstGeom prst="rect">
            <a:avLst/>
          </a:prstGeom>
          <a:noFill/>
          <a:ln>
            <a:noFill/>
          </a:ln>
        </p:spPr>
      </p:pic>
      <p:sp>
        <p:nvSpPr>
          <p:cNvPr id="151" name="Google Shape;151;p11"/>
          <p:cNvSpPr txBox="1"/>
          <p:nvPr/>
        </p:nvSpPr>
        <p:spPr>
          <a:xfrm>
            <a:off x="6286500" y="5191125"/>
            <a:ext cx="5905500" cy="533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250">
                <a:solidFill>
                  <a:srgbClr val="E8B430"/>
                </a:solidFill>
                <a:latin typeface="Arial"/>
                <a:ea typeface="Arial"/>
                <a:cs typeface="Arial"/>
                <a:sym typeface="Arial"/>
              </a:rPr>
              <a:t>Right: live copilot answering a seller's cash-gap question — cited figures and the demo-mode badge are visible in the capture.</a:t>
            </a:r>
            <a:endParaRPr/>
          </a:p>
        </p:txBody>
      </p:sp>
      <p:sp>
        <p:nvSpPr>
          <p:cNvPr id="152" name="Google Shape;152;p11"/>
          <p:cNvSpPr txBox="1"/>
          <p:nvPr/>
        </p:nvSpPr>
        <p:spPr>
          <a:xfrm>
            <a:off x="276225" y="6496050"/>
            <a:ext cx="1161097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900">
                <a:solidFill>
                  <a:srgbClr val="99AABB"/>
                </a:solidFill>
                <a:latin typeface="Arial"/>
                <a:ea typeface="Arial"/>
                <a:cs typeface="Arial"/>
                <a:sym typeface="Arial"/>
              </a:rPr>
              <a:t>SilkFlow AI  |  FinTechathon 2026 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0F1E"/>
        </a:solidFill>
      </p:bgPr>
    </p:bg>
    <p:spTree>
      <p:nvGrpSpPr>
        <p:cNvPr id="156" name="Shape 156"/>
        <p:cNvGrpSpPr/>
        <p:nvPr/>
      </p:nvGrpSpPr>
      <p:grpSpPr>
        <a:xfrm>
          <a:off x="0" y="0"/>
          <a:ext cx="0" cy="0"/>
          <a:chOff x="0" y="0"/>
          <a:chExt cx="0" cy="0"/>
        </a:xfrm>
      </p:grpSpPr>
      <p:sp>
        <p:nvSpPr>
          <p:cNvPr id="157" name="Google Shape;157;p12"/>
          <p:cNvSpPr txBox="1"/>
          <p:nvPr/>
        </p:nvSpPr>
        <p:spPr>
          <a:xfrm>
            <a:off x="276225" y="171450"/>
            <a:ext cx="19050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100">
                <a:solidFill>
                  <a:srgbClr val="E8B430"/>
                </a:solidFill>
                <a:latin typeface="Arial"/>
                <a:ea typeface="Arial"/>
                <a:cs typeface="Arial"/>
                <a:sym typeface="Arial"/>
              </a:rPr>
              <a:t>SILKFLOW AI</a:t>
            </a:r>
            <a:endParaRPr/>
          </a:p>
        </p:txBody>
      </p:sp>
      <p:sp>
        <p:nvSpPr>
          <p:cNvPr id="158" name="Google Shape;158;p12"/>
          <p:cNvSpPr/>
          <p:nvPr/>
        </p:nvSpPr>
        <p:spPr>
          <a:xfrm>
            <a:off x="276225" y="866775"/>
            <a:ext cx="11610975" cy="28575"/>
          </a:xfrm>
          <a:prstGeom prst="rect">
            <a:avLst/>
          </a:prstGeom>
          <a:solidFill>
            <a:srgbClr val="E8B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59" name="Google Shape;159;p12"/>
          <p:cNvSpPr txBox="1"/>
          <p:nvPr/>
        </p:nvSpPr>
        <p:spPr>
          <a:xfrm>
            <a:off x="457200" y="1028700"/>
            <a:ext cx="11249025"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2800">
                <a:solidFill>
                  <a:srgbClr val="FFFFFF"/>
                </a:solidFill>
                <a:latin typeface="Arial"/>
                <a:ea typeface="Arial"/>
                <a:cs typeface="Arial"/>
                <a:sym typeface="Arial"/>
              </a:rPr>
              <a:t>On-Chain Escrow  The Agent-Settlement Story</a:t>
            </a:r>
            <a:endParaRPr/>
          </a:p>
        </p:txBody>
      </p:sp>
      <p:sp>
        <p:nvSpPr>
          <p:cNvPr id="160" name="Google Shape;160;p12"/>
          <p:cNvSpPr txBox="1"/>
          <p:nvPr/>
        </p:nvSpPr>
        <p:spPr>
          <a:xfrm>
            <a:off x="457200" y="1581150"/>
            <a:ext cx="11249025"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1400">
                <a:solidFill>
                  <a:srgbClr val="8EC5FF"/>
                </a:solidFill>
                <a:latin typeface="Arial"/>
                <a:ea typeface="Arial"/>
                <a:cs typeface="Arial"/>
                <a:sym typeface="Arial"/>
              </a:rPr>
              <a:t>An AI agent moving money through a smart contract with hard policy limits  and total honesty about scope.</a:t>
            </a:r>
            <a:endParaRPr/>
          </a:p>
        </p:txBody>
      </p:sp>
      <p:sp>
        <p:nvSpPr>
          <p:cNvPr id="161" name="Google Shape;161;p12"/>
          <p:cNvSpPr/>
          <p:nvPr/>
        </p:nvSpPr>
        <p:spPr>
          <a:xfrm>
            <a:off x="457200" y="2038350"/>
            <a:ext cx="5600700" cy="314325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62" name="Google Shape;162;p12"/>
          <p:cNvSpPr txBox="1"/>
          <p:nvPr/>
        </p:nvSpPr>
        <p:spPr>
          <a:xfrm>
            <a:off x="666750" y="2209800"/>
            <a:ext cx="5191125" cy="285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500">
                <a:solidFill>
                  <a:srgbClr val="E8B430"/>
                </a:solidFill>
                <a:latin typeface="Arial"/>
                <a:ea typeface="Arial"/>
                <a:cs typeface="Arial"/>
                <a:sym typeface="Arial"/>
              </a:rPr>
              <a:t>Contract mechanics</a:t>
            </a:r>
            <a:endParaRPr/>
          </a:p>
          <a:p>
            <a:pPr indent="0" lvl="0" marL="0" marR="0" rtl="0" algn="l">
              <a:lnSpc>
                <a:spcPct val="130000"/>
              </a:lnSpc>
              <a:spcBef>
                <a:spcPts val="1200"/>
              </a:spcBef>
              <a:spcAft>
                <a:spcPts val="0"/>
              </a:spcAft>
              <a:buNone/>
            </a:pPr>
            <a:r>
              <a:rPr lang="zh-CN" sz="1200">
                <a:solidFill>
                  <a:srgbClr val="FFFFFF"/>
                </a:solidFill>
                <a:latin typeface="Arial"/>
                <a:ea typeface="Arial"/>
                <a:cs typeface="Arial"/>
                <a:sym typeface="Arial"/>
              </a:rPr>
              <a:t>•  Buyer's stablecoin deposit is locked in SilkEscrow  never sent to the seller</a:t>
            </a:r>
            <a:endParaRPr/>
          </a:p>
          <a:p>
            <a:pPr indent="0" lvl="0" marL="0" marR="0" rtl="0" algn="l">
              <a:lnSpc>
                <a:spcPct val="130000"/>
              </a:lnSpc>
              <a:spcBef>
                <a:spcPts val="800"/>
              </a:spcBef>
              <a:spcAft>
                <a:spcPts val="0"/>
              </a:spcAft>
              <a:buNone/>
            </a:pPr>
            <a:r>
              <a:rPr lang="zh-CN" sz="1200">
                <a:solidFill>
                  <a:srgbClr val="FFFFFF"/>
                </a:solidFill>
                <a:latin typeface="Arial"/>
                <a:ea typeface="Arial"/>
                <a:cs typeface="Arial"/>
                <a:sym typeface="Arial"/>
              </a:rPr>
              <a:t>•  Release requires the verified policy: shipment event AND delivery event</a:t>
            </a:r>
            <a:endParaRPr/>
          </a:p>
          <a:p>
            <a:pPr indent="0" lvl="0" marL="0" marR="0" rtl="0" algn="l">
              <a:lnSpc>
                <a:spcPct val="130000"/>
              </a:lnSpc>
              <a:spcBef>
                <a:spcPts val="800"/>
              </a:spcBef>
              <a:spcAft>
                <a:spcPts val="0"/>
              </a:spcAft>
              <a:buNone/>
            </a:pPr>
            <a:r>
              <a:rPr lang="zh-CN" sz="1200">
                <a:solidFill>
                  <a:srgbClr val="FFFFFF"/>
                </a:solidFill>
                <a:latin typeface="Arial"/>
                <a:ea typeface="Arial"/>
                <a:cs typeface="Arial"/>
                <a:sym typeface="Arial"/>
              </a:rPr>
              <a:t>•  A dispute freezes funds; a human decision then releases, refunds or splits</a:t>
            </a:r>
            <a:endParaRPr/>
          </a:p>
          <a:p>
            <a:pPr indent="0" lvl="0" marL="0" marR="0" rtl="0" algn="l">
              <a:lnSpc>
                <a:spcPct val="130000"/>
              </a:lnSpc>
              <a:spcBef>
                <a:spcPts val="800"/>
              </a:spcBef>
              <a:spcAft>
                <a:spcPts val="0"/>
              </a:spcAft>
              <a:buNone/>
            </a:pPr>
            <a:r>
              <a:rPr lang="zh-CN" sz="1200">
                <a:solidFill>
                  <a:srgbClr val="FFFFFF"/>
                </a:solidFill>
                <a:latin typeface="Arial"/>
                <a:ea typeface="Arial"/>
                <a:cs typeface="Arial"/>
                <a:sym typeface="Arial"/>
              </a:rPr>
              <a:t>•  High risk band blocks auto-release regardless of model confidence</a:t>
            </a:r>
            <a:endParaRPr/>
          </a:p>
          <a:p>
            <a:pPr indent="0" lvl="0" marL="0" marR="0" rtl="0" algn="l">
              <a:lnSpc>
                <a:spcPct val="130000"/>
              </a:lnSpc>
              <a:spcBef>
                <a:spcPts val="800"/>
              </a:spcBef>
              <a:spcAft>
                <a:spcPts val="0"/>
              </a:spcAft>
              <a:buNone/>
            </a:pPr>
            <a:r>
              <a:rPr lang="zh-CN" sz="1200">
                <a:solidFill>
                  <a:srgbClr val="FFFFFF"/>
                </a:solidFill>
                <a:latin typeface="Arial"/>
                <a:ea typeface="Arial"/>
                <a:cs typeface="Arial"/>
                <a:sym typeface="Arial"/>
              </a:rPr>
              <a:t>•  Every state transition is written to the append-only hash-chained audit</a:t>
            </a:r>
            <a:endParaRPr/>
          </a:p>
        </p:txBody>
      </p:sp>
      <p:sp>
        <p:nvSpPr>
          <p:cNvPr id="163" name="Google Shape;163;p12"/>
          <p:cNvSpPr/>
          <p:nvPr/>
        </p:nvSpPr>
        <p:spPr>
          <a:xfrm>
            <a:off x="6305550" y="2038350"/>
            <a:ext cx="5600700" cy="314325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64" name="Google Shape;164;p12"/>
          <p:cNvSpPr txBox="1"/>
          <p:nvPr/>
        </p:nvSpPr>
        <p:spPr>
          <a:xfrm>
            <a:off x="6515100" y="2209800"/>
            <a:ext cx="5191125" cy="285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500">
                <a:solidFill>
                  <a:srgbClr val="E8B430"/>
                </a:solidFill>
                <a:latin typeface="Arial"/>
                <a:ea typeface="Arial"/>
                <a:cs typeface="Arial"/>
                <a:sym typeface="Arial"/>
              </a:rPr>
              <a:t>Real deployed artifacts</a:t>
            </a:r>
            <a:endParaRPr/>
          </a:p>
          <a:p>
            <a:pPr indent="0" lvl="0" marL="0" marR="0" rtl="0" algn="l">
              <a:lnSpc>
                <a:spcPct val="130000"/>
              </a:lnSpc>
              <a:spcBef>
                <a:spcPts val="1200"/>
              </a:spcBef>
              <a:spcAft>
                <a:spcPts val="0"/>
              </a:spcAft>
              <a:buNone/>
            </a:pPr>
            <a:r>
              <a:rPr lang="zh-CN" sz="1150">
                <a:solidFill>
                  <a:srgbClr val="FFFFFF"/>
                </a:solidFill>
                <a:latin typeface="Arial"/>
                <a:ea typeface="Arial"/>
                <a:cs typeface="Arial"/>
                <a:sym typeface="Arial"/>
              </a:rPr>
              <a:t>SilkEscrow   0x0DCd1Bf9A1b36cE34237eEaFef220932846BCD82</a:t>
            </a:r>
            <a:endParaRPr/>
          </a:p>
          <a:p>
            <a:pPr indent="0" lvl="0" marL="0" marR="0" rtl="0" algn="l">
              <a:lnSpc>
                <a:spcPct val="130000"/>
              </a:lnSpc>
              <a:spcBef>
                <a:spcPts val="600"/>
              </a:spcBef>
              <a:spcAft>
                <a:spcPts val="0"/>
              </a:spcAft>
              <a:buNone/>
            </a:pPr>
            <a:r>
              <a:rPr lang="zh-CN" sz="1150">
                <a:solidFill>
                  <a:srgbClr val="FFFFFF"/>
                </a:solidFill>
                <a:latin typeface="Arial"/>
                <a:ea typeface="Arial"/>
                <a:cs typeface="Arial"/>
                <a:sym typeface="Arial"/>
              </a:rPr>
              <a:t>MockStable   0xA51c1fc2f0D1a1b8494Ed1FE312d7C3a78Ed91C0</a:t>
            </a:r>
            <a:endParaRPr/>
          </a:p>
          <a:p>
            <a:pPr indent="0" lvl="0" marL="0" marR="0" rtl="0" algn="l">
              <a:lnSpc>
                <a:spcPct val="130000"/>
              </a:lnSpc>
              <a:spcBef>
                <a:spcPts val="1200"/>
              </a:spcBef>
              <a:spcAft>
                <a:spcPts val="0"/>
              </a:spcAft>
              <a:buNone/>
            </a:pPr>
            <a:r>
              <a:rPr lang="zh-CN" sz="1200">
                <a:solidFill>
                  <a:srgbClr val="8EC5FF"/>
                </a:solidFill>
                <a:latin typeface="Arial"/>
                <a:ea typeface="Arial"/>
                <a:cs typeface="Arial"/>
                <a:sym typeface="Arial"/>
              </a:rPr>
              <a:t>Compiled and deployed on a local Hardhat chain; the backend talks JSON-RPC through a lightweight client.</a:t>
            </a:r>
            <a:endParaRPr/>
          </a:p>
          <a:p>
            <a:pPr indent="0" lvl="0" marL="0" marR="0" rtl="0" algn="l">
              <a:lnSpc>
                <a:spcPct val="130000"/>
              </a:lnSpc>
              <a:spcBef>
                <a:spcPts val="1200"/>
              </a:spcBef>
              <a:spcAft>
                <a:spcPts val="0"/>
              </a:spcAft>
              <a:buNone/>
            </a:pPr>
            <a:r>
              <a:rPr b="1" lang="zh-CN" sz="1200">
                <a:solidFill>
                  <a:srgbClr val="FFFFFF"/>
                </a:solidFill>
                <a:latin typeface="Arial"/>
                <a:ea typeface="Arial"/>
                <a:cs typeface="Arial"/>
                <a:sym typeface="Arial"/>
              </a:rPr>
              <a:t>38/38 contract tests  ·  65/65 end-to-end tests executed against the live chain with escrow flows included.</a:t>
            </a:r>
            <a:endParaRPr/>
          </a:p>
        </p:txBody>
      </p:sp>
      <p:sp>
        <p:nvSpPr>
          <p:cNvPr id="165" name="Google Shape;165;p12"/>
          <p:cNvSpPr/>
          <p:nvPr/>
        </p:nvSpPr>
        <p:spPr>
          <a:xfrm>
            <a:off x="457200" y="5314950"/>
            <a:ext cx="11449050" cy="1143000"/>
          </a:xfrm>
          <a:prstGeom prst="rect">
            <a:avLst/>
          </a:prstGeom>
          <a:solidFill>
            <a:srgbClr val="101C3A"/>
          </a:solidFill>
          <a:ln cap="flat" cmpd="sng" w="12700">
            <a:solidFill>
              <a:srgbClr val="8EC5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66" name="Google Shape;166;p12"/>
          <p:cNvSpPr txBox="1"/>
          <p:nvPr/>
        </p:nvSpPr>
        <p:spPr>
          <a:xfrm>
            <a:off x="666750" y="5467350"/>
            <a:ext cx="1095375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300">
                <a:solidFill>
                  <a:srgbClr val="8EC5FF"/>
                </a:solidFill>
                <a:latin typeface="Arial"/>
                <a:ea typeface="Arial"/>
                <a:cs typeface="Arial"/>
                <a:sym typeface="Arial"/>
              </a:rPr>
              <a:t>Scope honesty (a design principle, not a disclaimer)</a:t>
            </a:r>
            <a:endParaRPr/>
          </a:p>
          <a:p>
            <a:pPr indent="0" lvl="0" marL="0" marR="0" rtl="0" algn="l">
              <a:lnSpc>
                <a:spcPct val="125000"/>
              </a:lnSpc>
              <a:spcBef>
                <a:spcPts val="600"/>
              </a:spcBef>
              <a:spcAft>
                <a:spcPts val="0"/>
              </a:spcAft>
              <a:buNone/>
            </a:pPr>
            <a:r>
              <a:rPr lang="zh-CN" sz="1200">
                <a:solidFill>
                  <a:srgbClr val="FFFFFF"/>
                </a:solidFill>
                <a:latin typeface="Arial"/>
                <a:ea typeface="Arial"/>
                <a:cs typeface="Arial"/>
                <a:sym typeface="Arial"/>
              </a:rPr>
              <a:t>Everything runs on a dev chain with unlocked standard Hardhat accounts  no private keys, no real funds, no mainnet claims. Deploying the identical contracts to a public testnet with verifiable transaction hashes is the first roadmap item after the hackathon.</a:t>
            </a:r>
            <a:endParaRPr/>
          </a:p>
        </p:txBody>
      </p:sp>
      <p:sp>
        <p:nvSpPr>
          <p:cNvPr id="167" name="Google Shape;167;p12"/>
          <p:cNvSpPr txBox="1"/>
          <p:nvPr/>
        </p:nvSpPr>
        <p:spPr>
          <a:xfrm>
            <a:off x="457200" y="6521800"/>
            <a:ext cx="11430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900">
                <a:solidFill>
                  <a:srgbClr val="99AABB"/>
                </a:solidFill>
                <a:latin typeface="Arial"/>
                <a:ea typeface="Arial"/>
                <a:cs typeface="Arial"/>
                <a:sym typeface="Arial"/>
              </a:rPr>
              <a:t>SilkFlow AI  |  FinTechathon 2026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0F1E"/>
        </a:solidFill>
      </p:bgPr>
    </p:bg>
    <p:spTree>
      <p:nvGrpSpPr>
        <p:cNvPr id="171" name="Shape 171"/>
        <p:cNvGrpSpPr/>
        <p:nvPr/>
      </p:nvGrpSpPr>
      <p:grpSpPr>
        <a:xfrm>
          <a:off x="0" y="0"/>
          <a:ext cx="0" cy="0"/>
          <a:chOff x="0" y="0"/>
          <a:chExt cx="0" cy="0"/>
        </a:xfrm>
      </p:grpSpPr>
      <p:sp>
        <p:nvSpPr>
          <p:cNvPr id="172" name="Google Shape;172;p13"/>
          <p:cNvSpPr txBox="1"/>
          <p:nvPr/>
        </p:nvSpPr>
        <p:spPr>
          <a:xfrm>
            <a:off x="276225" y="171450"/>
            <a:ext cx="19050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100">
                <a:solidFill>
                  <a:srgbClr val="E8B430"/>
                </a:solidFill>
                <a:latin typeface="Arial"/>
                <a:ea typeface="Arial"/>
                <a:cs typeface="Arial"/>
                <a:sym typeface="Arial"/>
              </a:rPr>
              <a:t>SILKFLOW AI</a:t>
            </a:r>
            <a:endParaRPr/>
          </a:p>
        </p:txBody>
      </p:sp>
      <p:sp>
        <p:nvSpPr>
          <p:cNvPr id="173" name="Google Shape;173;p13"/>
          <p:cNvSpPr/>
          <p:nvPr/>
        </p:nvSpPr>
        <p:spPr>
          <a:xfrm>
            <a:off x="276225" y="866775"/>
            <a:ext cx="11610975" cy="28575"/>
          </a:xfrm>
          <a:prstGeom prst="rect">
            <a:avLst/>
          </a:prstGeom>
          <a:solidFill>
            <a:srgbClr val="E8B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74" name="Google Shape;174;p13"/>
          <p:cNvSpPr txBox="1"/>
          <p:nvPr/>
        </p:nvSpPr>
        <p:spPr>
          <a:xfrm>
            <a:off x="457200" y="1028700"/>
            <a:ext cx="11249025"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2800">
                <a:solidFill>
                  <a:srgbClr val="FFFFFF"/>
                </a:solidFill>
                <a:latin typeface="Arial"/>
                <a:ea typeface="Arial"/>
                <a:cs typeface="Arial"/>
                <a:sym typeface="Arial"/>
              </a:rPr>
              <a:t>Security By Architecture  Not By Prompt</a:t>
            </a:r>
            <a:endParaRPr/>
          </a:p>
        </p:txBody>
      </p:sp>
      <p:sp>
        <p:nvSpPr>
          <p:cNvPr id="175" name="Google Shape;175;p13"/>
          <p:cNvSpPr txBox="1"/>
          <p:nvPr/>
        </p:nvSpPr>
        <p:spPr>
          <a:xfrm>
            <a:off x="457200" y="1581150"/>
            <a:ext cx="11249025"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1400">
                <a:solidFill>
                  <a:srgbClr val="8EC5FF"/>
                </a:solidFill>
                <a:latin typeface="Arial"/>
                <a:ea typeface="Arial"/>
                <a:cs typeface="Arial"/>
                <a:sym typeface="Arial"/>
              </a:rPr>
              <a:t>Each attack class the rubric scores is closed in code, not by hoping the model behaves.</a:t>
            </a:r>
            <a:endParaRPr/>
          </a:p>
        </p:txBody>
      </p:sp>
      <p:sp>
        <p:nvSpPr>
          <p:cNvPr id="176" name="Google Shape;176;p13"/>
          <p:cNvSpPr/>
          <p:nvPr/>
        </p:nvSpPr>
        <p:spPr>
          <a:xfrm>
            <a:off x="457200" y="2019300"/>
            <a:ext cx="3562350" cy="169545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77" name="Google Shape;177;p13"/>
          <p:cNvSpPr txBox="1"/>
          <p:nvPr/>
        </p:nvSpPr>
        <p:spPr>
          <a:xfrm>
            <a:off x="647700" y="2171700"/>
            <a:ext cx="3200400" cy="1428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300">
                <a:solidFill>
                  <a:srgbClr val="E8B430"/>
                </a:solidFill>
                <a:latin typeface="Arial"/>
                <a:ea typeface="Arial"/>
                <a:cs typeface="Arial"/>
                <a:sym typeface="Arial"/>
              </a:rPr>
              <a:t>Unauthorized operations</a:t>
            </a:r>
            <a:endParaRPr/>
          </a:p>
          <a:p>
            <a:pPr indent="0" lvl="0" marL="0" marR="0" rtl="0" algn="l">
              <a:lnSpc>
                <a:spcPct val="125000"/>
              </a:lnSpc>
              <a:spcBef>
                <a:spcPts val="700"/>
              </a:spcBef>
              <a:spcAft>
                <a:spcPts val="0"/>
              </a:spcAft>
              <a:buNone/>
            </a:pPr>
            <a:r>
              <a:rPr lang="zh-CN" sz="1100">
                <a:solidFill>
                  <a:srgbClr val="FFFFFF"/>
                </a:solidFill>
                <a:latin typeface="Arial"/>
                <a:ea typeface="Arial"/>
                <a:cs typeface="Arial"/>
                <a:sym typeface="Arial"/>
              </a:rPr>
              <a:t>Every endpoint enforces role and order-ownership in the backend; cross-role access fails with 403 — hiding menus is never the control.</a:t>
            </a:r>
            <a:endParaRPr/>
          </a:p>
        </p:txBody>
      </p:sp>
      <p:sp>
        <p:nvSpPr>
          <p:cNvPr id="178" name="Google Shape;178;p13"/>
          <p:cNvSpPr/>
          <p:nvPr/>
        </p:nvSpPr>
        <p:spPr>
          <a:xfrm>
            <a:off x="4295775" y="2019300"/>
            <a:ext cx="3562350" cy="169545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79" name="Google Shape;179;p13"/>
          <p:cNvSpPr txBox="1"/>
          <p:nvPr/>
        </p:nvSpPr>
        <p:spPr>
          <a:xfrm>
            <a:off x="4486275" y="2171700"/>
            <a:ext cx="3200400" cy="1428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300">
                <a:solidFill>
                  <a:srgbClr val="E8B430"/>
                </a:solidFill>
                <a:latin typeface="Arial"/>
                <a:ea typeface="Arial"/>
                <a:cs typeface="Arial"/>
                <a:sym typeface="Arial"/>
              </a:rPr>
              <a:t>Prompt injection</a:t>
            </a:r>
            <a:endParaRPr/>
          </a:p>
          <a:p>
            <a:pPr indent="0" lvl="0" marL="0" marR="0" rtl="0" algn="l">
              <a:lnSpc>
                <a:spcPct val="125000"/>
              </a:lnSpc>
              <a:spcBef>
                <a:spcPts val="700"/>
              </a:spcBef>
              <a:spcAft>
                <a:spcPts val="0"/>
              </a:spcAft>
              <a:buNone/>
            </a:pPr>
            <a:r>
              <a:rPr lang="zh-CN" sz="1100">
                <a:solidFill>
                  <a:srgbClr val="FFFFFF"/>
                </a:solidFill>
                <a:latin typeface="Arial"/>
                <a:ea typeface="Arial"/>
                <a:cs typeface="Arial"/>
                <a:sym typeface="Arial"/>
              </a:rPr>
              <a:t>User text is treated as data: it cannot trigger tools, queries or money movement, and the copilot has no write capability at all.</a:t>
            </a:r>
            <a:endParaRPr/>
          </a:p>
        </p:txBody>
      </p:sp>
      <p:sp>
        <p:nvSpPr>
          <p:cNvPr id="180" name="Google Shape;180;p13"/>
          <p:cNvSpPr/>
          <p:nvPr/>
        </p:nvSpPr>
        <p:spPr>
          <a:xfrm>
            <a:off x="8134350" y="2019300"/>
            <a:ext cx="3562350" cy="169545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81" name="Google Shape;181;p13"/>
          <p:cNvSpPr txBox="1"/>
          <p:nvPr/>
        </p:nvSpPr>
        <p:spPr>
          <a:xfrm>
            <a:off x="8324850" y="2171700"/>
            <a:ext cx="3200400" cy="1428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300">
                <a:solidFill>
                  <a:srgbClr val="E8B430"/>
                </a:solidFill>
                <a:latin typeface="Arial"/>
                <a:ea typeface="Arial"/>
                <a:cs typeface="Arial"/>
                <a:sym typeface="Arial"/>
              </a:rPr>
              <a:t>Induced transfers / hallucination</a:t>
            </a:r>
            <a:endParaRPr/>
          </a:p>
          <a:p>
            <a:pPr indent="0" lvl="0" marL="0" marR="0" rtl="0" algn="l">
              <a:lnSpc>
                <a:spcPct val="125000"/>
              </a:lnSpc>
              <a:spcBef>
                <a:spcPts val="700"/>
              </a:spcBef>
              <a:spcAft>
                <a:spcPts val="0"/>
              </a:spcAft>
              <a:buNone/>
            </a:pPr>
            <a:r>
              <a:rPr lang="zh-CN" sz="1100">
                <a:solidFill>
                  <a:srgbClr val="FFFFFF"/>
                </a:solidFill>
                <a:latin typeface="Arial"/>
                <a:ea typeface="Arial"/>
                <a:cs typeface="Arial"/>
                <a:sym typeface="Arial"/>
              </a:rPr>
              <a:t>The LLM physically cannot authorise or compute a payment: deterministic Python computes, backend policy authorises, humans escalate.</a:t>
            </a:r>
            <a:endParaRPr/>
          </a:p>
        </p:txBody>
      </p:sp>
      <p:sp>
        <p:nvSpPr>
          <p:cNvPr id="182" name="Google Shape;182;p13"/>
          <p:cNvSpPr/>
          <p:nvPr/>
        </p:nvSpPr>
        <p:spPr>
          <a:xfrm>
            <a:off x="457200" y="3886200"/>
            <a:ext cx="3562350" cy="169545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83" name="Google Shape;183;p13"/>
          <p:cNvSpPr txBox="1"/>
          <p:nvPr/>
        </p:nvSpPr>
        <p:spPr>
          <a:xfrm>
            <a:off x="647700" y="4038600"/>
            <a:ext cx="3200400" cy="1428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300">
                <a:solidFill>
                  <a:srgbClr val="E8B430"/>
                </a:solidFill>
                <a:latin typeface="Arial"/>
                <a:ea typeface="Arial"/>
                <a:cs typeface="Arial"/>
                <a:sym typeface="Arial"/>
              </a:rPr>
              <a:t>Information theft</a:t>
            </a:r>
            <a:endParaRPr/>
          </a:p>
          <a:p>
            <a:pPr indent="0" lvl="0" marL="0" marR="0" rtl="0" algn="l">
              <a:lnSpc>
                <a:spcPct val="125000"/>
              </a:lnSpc>
              <a:spcBef>
                <a:spcPts val="700"/>
              </a:spcBef>
              <a:spcAft>
                <a:spcPts val="0"/>
              </a:spcAft>
              <a:buNone/>
            </a:pPr>
            <a:r>
              <a:rPr lang="zh-CN" sz="1100">
                <a:solidFill>
                  <a:srgbClr val="FFFFFF"/>
                </a:solidFill>
                <a:latin typeface="Arial"/>
                <a:ea typeface="Arial"/>
                <a:cs typeface="Arial"/>
                <a:sym typeface="Arial"/>
              </a:rPr>
              <a:t>Data access is scope-filtered per role and per business; no secrets in logs; dev accounts only — zero real keys exist to steal.</a:t>
            </a:r>
            <a:endParaRPr/>
          </a:p>
        </p:txBody>
      </p:sp>
      <p:sp>
        <p:nvSpPr>
          <p:cNvPr id="184" name="Google Shape;184;p13"/>
          <p:cNvSpPr/>
          <p:nvPr/>
        </p:nvSpPr>
        <p:spPr>
          <a:xfrm>
            <a:off x="4295775" y="3886200"/>
            <a:ext cx="3562350" cy="169545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85" name="Google Shape;185;p13"/>
          <p:cNvSpPr txBox="1"/>
          <p:nvPr/>
        </p:nvSpPr>
        <p:spPr>
          <a:xfrm>
            <a:off x="4486275" y="4038600"/>
            <a:ext cx="3200400" cy="1428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300">
                <a:solidFill>
                  <a:srgbClr val="E8B430"/>
                </a:solidFill>
                <a:latin typeface="Arial"/>
                <a:ea typeface="Arial"/>
                <a:cs typeface="Arial"/>
                <a:sym typeface="Arial"/>
              </a:rPr>
              <a:t>Abuse controls</a:t>
            </a:r>
            <a:endParaRPr/>
          </a:p>
          <a:p>
            <a:pPr indent="0" lvl="0" marL="0" marR="0" rtl="0" algn="l">
              <a:lnSpc>
                <a:spcPct val="125000"/>
              </a:lnSpc>
              <a:spcBef>
                <a:spcPts val="700"/>
              </a:spcBef>
              <a:spcAft>
                <a:spcPts val="0"/>
              </a:spcAft>
              <a:buNone/>
            </a:pPr>
            <a:r>
              <a:rPr lang="zh-CN" sz="1100">
                <a:solidFill>
                  <a:srgbClr val="FFFFFF"/>
                </a:solidFill>
                <a:latin typeface="Arial"/>
                <a:ea typeface="Arial"/>
                <a:cs typeface="Arial"/>
                <a:sym typeface="Arial"/>
              </a:rPr>
              <a:t>Rate limiting on auth and copilot, idempotency keys on payment-side calls, validation and pagination on every listing.</a:t>
            </a:r>
            <a:endParaRPr/>
          </a:p>
        </p:txBody>
      </p:sp>
      <p:sp>
        <p:nvSpPr>
          <p:cNvPr id="186" name="Google Shape;186;p13"/>
          <p:cNvSpPr/>
          <p:nvPr/>
        </p:nvSpPr>
        <p:spPr>
          <a:xfrm>
            <a:off x="8134350" y="3886200"/>
            <a:ext cx="3562350" cy="169545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87" name="Google Shape;187;p13"/>
          <p:cNvSpPr txBox="1"/>
          <p:nvPr/>
        </p:nvSpPr>
        <p:spPr>
          <a:xfrm>
            <a:off x="8324850" y="4038600"/>
            <a:ext cx="3200400" cy="1428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300">
                <a:solidFill>
                  <a:srgbClr val="E8B430"/>
                </a:solidFill>
                <a:latin typeface="Arial"/>
                <a:ea typeface="Arial"/>
                <a:cs typeface="Arial"/>
                <a:sym typeface="Arial"/>
              </a:rPr>
              <a:t>Tamper evidence</a:t>
            </a:r>
            <a:endParaRPr/>
          </a:p>
          <a:p>
            <a:pPr indent="0" lvl="0" marL="0" marR="0" rtl="0" algn="l">
              <a:lnSpc>
                <a:spcPct val="125000"/>
              </a:lnSpc>
              <a:spcBef>
                <a:spcPts val="700"/>
              </a:spcBef>
              <a:spcAft>
                <a:spcPts val="0"/>
              </a:spcAft>
              <a:buNone/>
            </a:pPr>
            <a:r>
              <a:rPr lang="zh-CN" sz="1100">
                <a:solidFill>
                  <a:srgbClr val="FFFFFF"/>
                </a:solidFill>
                <a:latin typeface="Arial"/>
                <a:ea typeface="Arial"/>
                <a:cs typeface="Arial"/>
                <a:sym typeface="Arial"/>
              </a:rPr>
              <a:t>SHA-256 hash-chained audit: any after-the-fact DB edit breaks verification instantly — even for a DBA with full access.</a:t>
            </a:r>
            <a:endParaRPr/>
          </a:p>
        </p:txBody>
      </p:sp>
      <p:sp>
        <p:nvSpPr>
          <p:cNvPr id="188" name="Google Shape;188;p13"/>
          <p:cNvSpPr txBox="1"/>
          <p:nvPr/>
        </p:nvSpPr>
        <p:spPr>
          <a:xfrm>
            <a:off x="457200" y="5810250"/>
            <a:ext cx="11249025"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1200">
                <a:solidFill>
                  <a:srgbClr val="99AABB"/>
                </a:solidFill>
                <a:latin typeface="Arial"/>
                <a:ea typeface="Arial"/>
                <a:cs typeface="Arial"/>
                <a:sym typeface="Arial"/>
              </a:rPr>
              <a:t>All of the above is exercised by the automated test suite  results on the next slide.</a:t>
            </a:r>
            <a:endParaRPr/>
          </a:p>
        </p:txBody>
      </p:sp>
      <p:sp>
        <p:nvSpPr>
          <p:cNvPr id="189" name="Google Shape;189;p13"/>
          <p:cNvSpPr txBox="1"/>
          <p:nvPr/>
        </p:nvSpPr>
        <p:spPr>
          <a:xfrm>
            <a:off x="504825" y="6496050"/>
            <a:ext cx="116109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900">
                <a:solidFill>
                  <a:srgbClr val="99AABB"/>
                </a:solidFill>
                <a:latin typeface="Arial"/>
                <a:ea typeface="Arial"/>
                <a:cs typeface="Arial"/>
                <a:sym typeface="Arial"/>
              </a:rPr>
              <a:t>SilkFlow AI  |  FinTechathon 2026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0F1E"/>
        </a:solidFill>
      </p:bgPr>
    </p:bg>
    <p:spTree>
      <p:nvGrpSpPr>
        <p:cNvPr id="193" name="Shape 193"/>
        <p:cNvGrpSpPr/>
        <p:nvPr/>
      </p:nvGrpSpPr>
      <p:grpSpPr>
        <a:xfrm>
          <a:off x="0" y="0"/>
          <a:ext cx="0" cy="0"/>
          <a:chOff x="0" y="0"/>
          <a:chExt cx="0" cy="0"/>
        </a:xfrm>
      </p:grpSpPr>
      <p:sp>
        <p:nvSpPr>
          <p:cNvPr id="194" name="Google Shape;194;p14"/>
          <p:cNvSpPr txBox="1"/>
          <p:nvPr/>
        </p:nvSpPr>
        <p:spPr>
          <a:xfrm>
            <a:off x="276225" y="171450"/>
            <a:ext cx="19050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100">
                <a:solidFill>
                  <a:srgbClr val="E8B430"/>
                </a:solidFill>
                <a:latin typeface="Arial"/>
                <a:ea typeface="Arial"/>
                <a:cs typeface="Arial"/>
                <a:sym typeface="Arial"/>
              </a:rPr>
              <a:t>SILKFLOW AI</a:t>
            </a:r>
            <a:endParaRPr/>
          </a:p>
        </p:txBody>
      </p:sp>
      <p:sp>
        <p:nvSpPr>
          <p:cNvPr id="195" name="Google Shape;195;p14"/>
          <p:cNvSpPr/>
          <p:nvPr/>
        </p:nvSpPr>
        <p:spPr>
          <a:xfrm>
            <a:off x="276225" y="866775"/>
            <a:ext cx="11610975" cy="28575"/>
          </a:xfrm>
          <a:prstGeom prst="rect">
            <a:avLst/>
          </a:prstGeom>
          <a:solidFill>
            <a:srgbClr val="E8B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96" name="Google Shape;196;p14"/>
          <p:cNvSpPr txBox="1"/>
          <p:nvPr/>
        </p:nvSpPr>
        <p:spPr>
          <a:xfrm>
            <a:off x="457200" y="1028700"/>
            <a:ext cx="11249025"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2800">
                <a:solidFill>
                  <a:srgbClr val="FFFFFF"/>
                </a:solidFill>
                <a:latin typeface="Arial"/>
                <a:ea typeface="Arial"/>
                <a:cs typeface="Arial"/>
                <a:sym typeface="Arial"/>
              </a:rPr>
              <a:t>Verification Evidence  Measured, Not Claimed</a:t>
            </a:r>
            <a:endParaRPr/>
          </a:p>
        </p:txBody>
      </p:sp>
      <p:sp>
        <p:nvSpPr>
          <p:cNvPr id="197" name="Google Shape;197;p14"/>
          <p:cNvSpPr txBox="1"/>
          <p:nvPr/>
        </p:nvSpPr>
        <p:spPr>
          <a:xfrm>
            <a:off x="457200" y="1581150"/>
            <a:ext cx="11249025"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1400">
                <a:solidFill>
                  <a:srgbClr val="8EC5FF"/>
                </a:solidFill>
                <a:latin typeface="Arial"/>
                <a:ea typeface="Arial"/>
                <a:cs typeface="Arial"/>
                <a:sym typeface="Arial"/>
              </a:rPr>
              <a:t>Every number here comes from automated runs reproducible from the submitted source.</a:t>
            </a:r>
            <a:endParaRPr/>
          </a:p>
        </p:txBody>
      </p:sp>
      <p:sp>
        <p:nvSpPr>
          <p:cNvPr id="198" name="Google Shape;198;p14"/>
          <p:cNvSpPr/>
          <p:nvPr/>
        </p:nvSpPr>
        <p:spPr>
          <a:xfrm>
            <a:off x="457200" y="2038350"/>
            <a:ext cx="2676525" cy="1666875"/>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99" name="Google Shape;199;p14"/>
          <p:cNvSpPr txBox="1"/>
          <p:nvPr/>
        </p:nvSpPr>
        <p:spPr>
          <a:xfrm>
            <a:off x="628650" y="2190750"/>
            <a:ext cx="2333625" cy="14287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zh-CN" sz="3400">
                <a:solidFill>
                  <a:srgbClr val="FFFFFF"/>
                </a:solidFill>
                <a:latin typeface="Arial"/>
                <a:ea typeface="Arial"/>
                <a:cs typeface="Arial"/>
                <a:sym typeface="Arial"/>
              </a:rPr>
              <a:t>65/65</a:t>
            </a:r>
            <a:endParaRPr/>
          </a:p>
          <a:p>
            <a:pPr indent="0" lvl="0" marL="0" marR="0" rtl="0" algn="ctr">
              <a:lnSpc>
                <a:spcPct val="120000"/>
              </a:lnSpc>
              <a:spcBef>
                <a:spcPts val="600"/>
              </a:spcBef>
              <a:spcAft>
                <a:spcPts val="0"/>
              </a:spcAft>
              <a:buNone/>
            </a:pPr>
            <a:r>
              <a:rPr lang="zh-CN" sz="1200">
                <a:solidFill>
                  <a:srgbClr val="8EC5FF"/>
                </a:solidFill>
                <a:latin typeface="Arial"/>
                <a:ea typeface="Arial"/>
                <a:cs typeface="Arial"/>
                <a:sym typeface="Arial"/>
              </a:rPr>
              <a:t>end-to-end API tests green against the running stack and live chain</a:t>
            </a:r>
            <a:endParaRPr/>
          </a:p>
        </p:txBody>
      </p:sp>
      <p:sp>
        <p:nvSpPr>
          <p:cNvPr id="200" name="Google Shape;200;p14"/>
          <p:cNvSpPr/>
          <p:nvPr/>
        </p:nvSpPr>
        <p:spPr>
          <a:xfrm>
            <a:off x="3381375" y="2038350"/>
            <a:ext cx="2676525" cy="1666875"/>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201" name="Google Shape;201;p14"/>
          <p:cNvSpPr txBox="1"/>
          <p:nvPr/>
        </p:nvSpPr>
        <p:spPr>
          <a:xfrm>
            <a:off x="3552825" y="2190750"/>
            <a:ext cx="2333625" cy="14287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zh-CN" sz="3400">
                <a:solidFill>
                  <a:srgbClr val="FFFFFF"/>
                </a:solidFill>
                <a:latin typeface="Arial"/>
                <a:ea typeface="Arial"/>
                <a:cs typeface="Arial"/>
                <a:sym typeface="Arial"/>
              </a:rPr>
              <a:t>38/38</a:t>
            </a:r>
            <a:endParaRPr/>
          </a:p>
          <a:p>
            <a:pPr indent="0" lvl="0" marL="0" marR="0" rtl="0" algn="ctr">
              <a:lnSpc>
                <a:spcPct val="120000"/>
              </a:lnSpc>
              <a:spcBef>
                <a:spcPts val="600"/>
              </a:spcBef>
              <a:spcAft>
                <a:spcPts val="0"/>
              </a:spcAft>
              <a:buNone/>
            </a:pPr>
            <a:r>
              <a:rPr lang="zh-CN" sz="1200">
                <a:solidFill>
                  <a:srgbClr val="8EC5FF"/>
                </a:solidFill>
                <a:latin typeface="Arial"/>
                <a:ea typeface="Arial"/>
                <a:cs typeface="Arial"/>
                <a:sym typeface="Arial"/>
              </a:rPr>
              <a:t>Hardhat contract tests: fund, release, dispute, refund, split</a:t>
            </a:r>
            <a:endParaRPr/>
          </a:p>
        </p:txBody>
      </p:sp>
      <p:sp>
        <p:nvSpPr>
          <p:cNvPr id="202" name="Google Shape;202;p14"/>
          <p:cNvSpPr/>
          <p:nvPr/>
        </p:nvSpPr>
        <p:spPr>
          <a:xfrm>
            <a:off x="6305550" y="2038350"/>
            <a:ext cx="2676525" cy="1666875"/>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203" name="Google Shape;203;p14"/>
          <p:cNvSpPr txBox="1"/>
          <p:nvPr/>
        </p:nvSpPr>
        <p:spPr>
          <a:xfrm>
            <a:off x="6477000" y="2190750"/>
            <a:ext cx="2333625" cy="14287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zh-CN" sz="3400">
                <a:solidFill>
                  <a:srgbClr val="FFFFFF"/>
                </a:solidFill>
                <a:latin typeface="Arial"/>
                <a:ea typeface="Arial"/>
                <a:cs typeface="Arial"/>
                <a:sym typeface="Arial"/>
              </a:rPr>
              <a:t>199</a:t>
            </a:r>
            <a:endParaRPr/>
          </a:p>
          <a:p>
            <a:pPr indent="0" lvl="0" marL="0" marR="0" rtl="0" algn="ctr">
              <a:lnSpc>
                <a:spcPct val="120000"/>
              </a:lnSpc>
              <a:spcBef>
                <a:spcPts val="600"/>
              </a:spcBef>
              <a:spcAft>
                <a:spcPts val="0"/>
              </a:spcAft>
              <a:buNone/>
            </a:pPr>
            <a:r>
              <a:rPr lang="zh-CN" sz="1200">
                <a:solidFill>
                  <a:srgbClr val="8EC5FF"/>
                </a:solidFill>
                <a:latin typeface="Arial"/>
                <a:ea typeface="Arial"/>
                <a:cs typeface="Arial"/>
                <a:sym typeface="Arial"/>
              </a:rPr>
              <a:t>hash-chained audit entries verified consistent in one click</a:t>
            </a:r>
            <a:endParaRPr/>
          </a:p>
        </p:txBody>
      </p:sp>
      <p:sp>
        <p:nvSpPr>
          <p:cNvPr id="204" name="Google Shape;204;p14"/>
          <p:cNvSpPr/>
          <p:nvPr/>
        </p:nvSpPr>
        <p:spPr>
          <a:xfrm>
            <a:off x="9229725" y="2038350"/>
            <a:ext cx="2676525" cy="1666875"/>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205" name="Google Shape;205;p14"/>
          <p:cNvSpPr txBox="1"/>
          <p:nvPr/>
        </p:nvSpPr>
        <p:spPr>
          <a:xfrm>
            <a:off x="9401175" y="2190750"/>
            <a:ext cx="2333625" cy="14287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zh-CN" sz="3400">
                <a:solidFill>
                  <a:srgbClr val="FFFFFF"/>
                </a:solidFill>
                <a:latin typeface="Arial"/>
                <a:ea typeface="Arial"/>
                <a:cs typeface="Arial"/>
                <a:sym typeface="Arial"/>
              </a:rPr>
              <a:t>1,000</a:t>
            </a:r>
            <a:endParaRPr/>
          </a:p>
          <a:p>
            <a:pPr indent="0" lvl="0" marL="0" marR="0" rtl="0" algn="ctr">
              <a:lnSpc>
                <a:spcPct val="120000"/>
              </a:lnSpc>
              <a:spcBef>
                <a:spcPts val="600"/>
              </a:spcBef>
              <a:spcAft>
                <a:spcPts val="0"/>
              </a:spcAft>
              <a:buNone/>
            </a:pPr>
            <a:r>
              <a:rPr lang="zh-CN" sz="1200">
                <a:solidFill>
                  <a:srgbClr val="8EC5FF"/>
                </a:solidFill>
                <a:latin typeface="Arial"/>
                <a:ea typeface="Arial"/>
                <a:cs typeface="Arial"/>
                <a:sym typeface="Arial"/>
              </a:rPr>
              <a:t>held-out synthetic trades scoring both models on identical data</a:t>
            </a:r>
            <a:endParaRPr/>
          </a:p>
        </p:txBody>
      </p:sp>
      <p:sp>
        <p:nvSpPr>
          <p:cNvPr id="206" name="Google Shape;206;p14"/>
          <p:cNvSpPr/>
          <p:nvPr/>
        </p:nvSpPr>
        <p:spPr>
          <a:xfrm>
            <a:off x="457200" y="3924300"/>
            <a:ext cx="11449050" cy="1809750"/>
          </a:xfrm>
          <a:prstGeom prst="rect">
            <a:avLst/>
          </a:prstGeom>
          <a:solidFill>
            <a:srgbClr val="101C3A"/>
          </a:solidFill>
          <a:ln cap="flat" cmpd="sng" w="12700">
            <a:solidFill>
              <a:srgbClr val="8EC5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207" name="Google Shape;207;p14"/>
          <p:cNvSpPr txBox="1"/>
          <p:nvPr/>
        </p:nvSpPr>
        <p:spPr>
          <a:xfrm>
            <a:off x="666750" y="4076700"/>
            <a:ext cx="10953750" cy="15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400">
                <a:solidFill>
                  <a:srgbClr val="8EC5FF"/>
                </a:solidFill>
                <a:latin typeface="Arial"/>
                <a:ea typeface="Arial"/>
                <a:cs typeface="Arial"/>
                <a:sym typeface="Arial"/>
              </a:rPr>
              <a:t>Honest metrics as policy  the part most teams hide</a:t>
            </a:r>
            <a:endParaRPr/>
          </a:p>
          <a:p>
            <a:pPr indent="0" lvl="0" marL="0" marR="0" rtl="0" algn="l">
              <a:lnSpc>
                <a:spcPct val="128000"/>
              </a:lnSpc>
              <a:spcBef>
                <a:spcPts val="900"/>
              </a:spcBef>
              <a:spcAft>
                <a:spcPts val="0"/>
              </a:spcAft>
              <a:buNone/>
            </a:pPr>
            <a:r>
              <a:rPr lang="zh-CN" sz="1200">
                <a:solidFill>
                  <a:srgbClr val="FFFFFF"/>
                </a:solidFill>
                <a:latin typeface="Arial"/>
                <a:ea typeface="Arial"/>
                <a:cs typeface="Arial"/>
                <a:sym typeface="Arial"/>
              </a:rPr>
              <a:t>On the same holdout, the logistic baseline scores AUC 0.763 and the XGBoost model 0.725 and the product UI itself publishes the baseline's win. Training data is 5,000 labeled synthetic trades, the bank offers are simulated, and logistics events are mocked: each labeled in the interface.</a:t>
            </a:r>
            <a:endParaRPr/>
          </a:p>
          <a:p>
            <a:pPr indent="0" lvl="0" marL="0" marR="0" rtl="0" algn="l">
              <a:lnSpc>
                <a:spcPct val="128000"/>
              </a:lnSpc>
              <a:spcBef>
                <a:spcPts val="800"/>
              </a:spcBef>
              <a:spcAft>
                <a:spcPts val="0"/>
              </a:spcAft>
              <a:buNone/>
            </a:pPr>
            <a:r>
              <a:rPr b="1" lang="zh-CN" sz="1200">
                <a:solidFill>
                  <a:srgbClr val="E8B430"/>
                </a:solidFill>
                <a:latin typeface="Arial"/>
                <a:ea typeface="Arial"/>
                <a:cs typeface="Arial"/>
                <a:sym typeface="Arial"/>
              </a:rPr>
              <a:t>A system that must be trusted with money should never need curated numbers to look good.</a:t>
            </a:r>
            <a:endParaRPr/>
          </a:p>
        </p:txBody>
      </p:sp>
      <p:sp>
        <p:nvSpPr>
          <p:cNvPr id="208" name="Google Shape;208;p14"/>
          <p:cNvSpPr txBox="1"/>
          <p:nvPr/>
        </p:nvSpPr>
        <p:spPr>
          <a:xfrm>
            <a:off x="504825" y="6496050"/>
            <a:ext cx="116109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900">
                <a:solidFill>
                  <a:srgbClr val="99AABB"/>
                </a:solidFill>
                <a:latin typeface="Arial"/>
                <a:ea typeface="Arial"/>
                <a:cs typeface="Arial"/>
                <a:sym typeface="Arial"/>
              </a:rPr>
              <a:t>SilkFlow AI  |  FinTechathon 2026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0F1E"/>
        </a:solidFill>
      </p:bgPr>
    </p:bg>
    <p:spTree>
      <p:nvGrpSpPr>
        <p:cNvPr id="212" name="Shape 212"/>
        <p:cNvGrpSpPr/>
        <p:nvPr/>
      </p:nvGrpSpPr>
      <p:grpSpPr>
        <a:xfrm>
          <a:off x="0" y="0"/>
          <a:ext cx="0" cy="0"/>
          <a:chOff x="0" y="0"/>
          <a:chExt cx="0" cy="0"/>
        </a:xfrm>
      </p:grpSpPr>
      <p:sp>
        <p:nvSpPr>
          <p:cNvPr id="213" name="Google Shape;213;p15"/>
          <p:cNvSpPr txBox="1"/>
          <p:nvPr/>
        </p:nvSpPr>
        <p:spPr>
          <a:xfrm>
            <a:off x="276225" y="171450"/>
            <a:ext cx="19050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100">
                <a:solidFill>
                  <a:srgbClr val="E8B430"/>
                </a:solidFill>
                <a:latin typeface="Arial"/>
                <a:ea typeface="Arial"/>
                <a:cs typeface="Arial"/>
                <a:sym typeface="Arial"/>
              </a:rPr>
              <a:t>SILKFLOW AI</a:t>
            </a:r>
            <a:endParaRPr/>
          </a:p>
        </p:txBody>
      </p:sp>
      <p:sp>
        <p:nvSpPr>
          <p:cNvPr id="214" name="Google Shape;214;p15"/>
          <p:cNvSpPr/>
          <p:nvPr/>
        </p:nvSpPr>
        <p:spPr>
          <a:xfrm>
            <a:off x="276225" y="866775"/>
            <a:ext cx="11610975" cy="28575"/>
          </a:xfrm>
          <a:prstGeom prst="rect">
            <a:avLst/>
          </a:prstGeom>
          <a:solidFill>
            <a:srgbClr val="E8B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215" name="Google Shape;215;p15"/>
          <p:cNvSpPr txBox="1"/>
          <p:nvPr/>
        </p:nvSpPr>
        <p:spPr>
          <a:xfrm>
            <a:off x="457200" y="1028700"/>
            <a:ext cx="11249025"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2800">
                <a:solidFill>
                  <a:srgbClr val="FFFFFF"/>
                </a:solidFill>
                <a:latin typeface="Arial"/>
                <a:ea typeface="Arial"/>
                <a:cs typeface="Arial"/>
                <a:sym typeface="Arial"/>
              </a:rPr>
              <a:t>Why SilkFlow Wins Against Legacy Practice</a:t>
            </a:r>
            <a:endParaRPr/>
          </a:p>
        </p:txBody>
      </p:sp>
      <p:sp>
        <p:nvSpPr>
          <p:cNvPr id="216" name="Google Shape;216;p15"/>
          <p:cNvSpPr txBox="1"/>
          <p:nvPr/>
        </p:nvSpPr>
        <p:spPr>
          <a:xfrm>
            <a:off x="457200" y="1581150"/>
            <a:ext cx="11249025"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1400">
                <a:solidFill>
                  <a:srgbClr val="8EC5FF"/>
                </a:solidFill>
                <a:latin typeface="Arial"/>
                <a:ea typeface="Arial"/>
                <a:cs typeface="Arial"/>
                <a:sym typeface="Arial"/>
              </a:rPr>
              <a:t>Not AI for its own sake  each line removes a failure mode that produced the real-world frauds.</a:t>
            </a:r>
            <a:endParaRPr/>
          </a:p>
        </p:txBody>
      </p:sp>
      <p:sp>
        <p:nvSpPr>
          <p:cNvPr id="217" name="Google Shape;217;p15"/>
          <p:cNvSpPr txBox="1"/>
          <p:nvPr/>
        </p:nvSpPr>
        <p:spPr>
          <a:xfrm>
            <a:off x="428625" y="6572250"/>
            <a:ext cx="116109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900">
                <a:solidFill>
                  <a:srgbClr val="99AABB"/>
                </a:solidFill>
                <a:latin typeface="Arial"/>
                <a:ea typeface="Arial"/>
                <a:cs typeface="Arial"/>
                <a:sym typeface="Arial"/>
              </a:rPr>
              <a:t>SilkFlow AI  |  FinTechathon 2026</a:t>
            </a:r>
            <a:endParaRPr/>
          </a:p>
        </p:txBody>
      </p:sp>
      <p:graphicFrame>
        <p:nvGraphicFramePr>
          <p:cNvPr id="218" name="Google Shape;218;p15"/>
          <p:cNvGraphicFramePr/>
          <p:nvPr/>
        </p:nvGraphicFramePr>
        <p:xfrm>
          <a:off x="457188" y="2143069"/>
          <a:ext cx="3000000" cy="3000000"/>
        </p:xfrm>
        <a:graphic>
          <a:graphicData uri="http://schemas.openxmlformats.org/drawingml/2006/table">
            <a:tbl>
              <a:tblPr firstRow="1">
                <a:noFill/>
                <a:tableStyleId>{ECF9EE20-4D95-4B15-9185-1863F39E89F1}</a:tableStyleId>
              </a:tblPr>
              <a:tblGrid>
                <a:gridCol w="4200000"/>
                <a:gridCol w="7077300"/>
              </a:tblGrid>
              <a:tr h="480000">
                <a:tc>
                  <a:txBody>
                    <a:bodyPr/>
                    <a:lstStyle/>
                    <a:p>
                      <a:pPr indent="0" lvl="0" marL="0" rtl="0" algn="l">
                        <a:spcBef>
                          <a:spcPts val="0"/>
                        </a:spcBef>
                        <a:spcAft>
                          <a:spcPts val="0"/>
                        </a:spcAft>
                        <a:buNone/>
                      </a:pPr>
                      <a:r>
                        <a:rPr b="1" lang="zh-CN" sz="1800">
                          <a:solidFill>
                            <a:srgbClr val="070F1E"/>
                          </a:solidFill>
                        </a:rPr>
                        <a:t>Legacy trade-finance practice</a:t>
                      </a:r>
                      <a:endParaRPr/>
                    </a:p>
                  </a:txBody>
                  <a:tcPr marT="45725" marB="45725" marR="91450" marL="91450">
                    <a:lnL cap="flat" cmpd="sng" w="9525">
                      <a:solidFill>
                        <a:srgbClr val="E8B430"/>
                      </a:solidFill>
                      <a:prstDash val="solid"/>
                      <a:round/>
                      <a:headEnd len="sm" w="sm" type="none"/>
                      <a:tailEnd len="sm" w="sm" type="none"/>
                    </a:lnL>
                    <a:lnR cap="flat" cmpd="sng" w="9525">
                      <a:solidFill>
                        <a:srgbClr val="E8B430"/>
                      </a:solidFill>
                      <a:prstDash val="solid"/>
                      <a:round/>
                      <a:headEnd len="sm" w="sm" type="none"/>
                      <a:tailEnd len="sm" w="sm" type="none"/>
                    </a:lnR>
                    <a:lnT cap="flat" cmpd="sng" w="9525">
                      <a:solidFill>
                        <a:srgbClr val="E8B430"/>
                      </a:solidFill>
                      <a:prstDash val="solid"/>
                      <a:round/>
                      <a:headEnd len="sm" w="sm" type="none"/>
                      <a:tailEnd len="sm" w="sm" type="none"/>
                    </a:lnT>
                    <a:lnB cap="flat" cmpd="sng" w="9525">
                      <a:solidFill>
                        <a:srgbClr val="E8B43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zh-CN" sz="1800">
                          <a:solidFill>
                            <a:srgbClr val="070F1E"/>
                          </a:solidFill>
                        </a:rPr>
                        <a:t>SilkFlow AI</a:t>
                      </a:r>
                      <a:endParaRPr/>
                    </a:p>
                  </a:txBody>
                  <a:tcPr marT="45725" marB="45725" marR="91450" marL="91450">
                    <a:lnL cap="flat" cmpd="sng" w="9525">
                      <a:solidFill>
                        <a:srgbClr val="E8B430"/>
                      </a:solidFill>
                      <a:prstDash val="solid"/>
                      <a:round/>
                      <a:headEnd len="sm" w="sm" type="none"/>
                      <a:tailEnd len="sm" w="sm" type="none"/>
                    </a:lnL>
                    <a:lnR cap="flat" cmpd="sng" w="9525">
                      <a:solidFill>
                        <a:srgbClr val="E8B430"/>
                      </a:solidFill>
                      <a:prstDash val="solid"/>
                      <a:round/>
                      <a:headEnd len="sm" w="sm" type="none"/>
                      <a:tailEnd len="sm" w="sm" type="none"/>
                    </a:lnR>
                    <a:lnT cap="flat" cmpd="sng" w="9525">
                      <a:solidFill>
                        <a:srgbClr val="E8B430"/>
                      </a:solidFill>
                      <a:prstDash val="solid"/>
                      <a:round/>
                      <a:headEnd len="sm" w="sm" type="none"/>
                      <a:tailEnd len="sm" w="sm" type="none"/>
                    </a:lnT>
                    <a:lnB cap="flat" cmpd="sng" w="9525">
                      <a:solidFill>
                        <a:srgbClr val="E8B430"/>
                      </a:solidFill>
                      <a:prstDash val="solid"/>
                      <a:round/>
                      <a:headEnd len="sm" w="sm" type="none"/>
                      <a:tailEnd len="sm" w="sm" type="none"/>
                    </a:lnB>
                    <a:solidFill>
                      <a:schemeClr val="lt1"/>
                    </a:solidFill>
                  </a:tcPr>
                </a:tc>
              </a:tr>
              <a:tr h="528000">
                <a:tc>
                  <a:txBody>
                    <a:bodyPr/>
                    <a:lstStyle/>
                    <a:p>
                      <a:pPr indent="0" lvl="0" marL="0" rtl="0" algn="l">
                        <a:spcBef>
                          <a:spcPts val="0"/>
                        </a:spcBef>
                        <a:spcAft>
                          <a:spcPts val="0"/>
                        </a:spcAft>
                        <a:buNone/>
                      </a:pPr>
                      <a:r>
                        <a:rPr lang="zh-CN" sz="1800">
                          <a:solidFill>
                            <a:srgbClr val="99AABB"/>
                          </a:solidFill>
                        </a:rPr>
                        <a:t>Paper documents verified by eye forged or duplicated receipts pass</a:t>
                      </a:r>
                      <a:endParaRPr/>
                    </a:p>
                  </a:txBody>
                  <a:tcPr marT="45725" marB="45725" marR="91450" marL="91450">
                    <a:lnL cap="flat" cmpd="sng" w="9525">
                      <a:solidFill>
                        <a:srgbClr val="E8B430"/>
                      </a:solidFill>
                      <a:prstDash val="solid"/>
                      <a:round/>
                      <a:headEnd len="sm" w="sm" type="none"/>
                      <a:tailEnd len="sm" w="sm" type="none"/>
                    </a:lnL>
                    <a:lnR cap="flat" cmpd="sng" w="9525">
                      <a:solidFill>
                        <a:srgbClr val="E8B430"/>
                      </a:solidFill>
                      <a:prstDash val="solid"/>
                      <a:round/>
                      <a:headEnd len="sm" w="sm" type="none"/>
                      <a:tailEnd len="sm" w="sm" type="none"/>
                    </a:lnR>
                    <a:lnT cap="flat" cmpd="sng" w="9525">
                      <a:solidFill>
                        <a:srgbClr val="E8B430"/>
                      </a:solidFill>
                      <a:prstDash val="solid"/>
                      <a:round/>
                      <a:headEnd len="sm" w="sm" type="none"/>
                      <a:tailEnd len="sm" w="sm" type="none"/>
                    </a:lnT>
                    <a:lnB cap="flat" cmpd="sng" w="9525">
                      <a:solidFill>
                        <a:srgbClr val="E8B430"/>
                      </a:solidFill>
                      <a:prstDash val="solid"/>
                      <a:round/>
                      <a:headEnd len="sm" w="sm" type="none"/>
                      <a:tailEnd len="sm" w="sm" type="none"/>
                    </a:lnB>
                    <a:solidFill>
                      <a:srgbClr val="101C3A"/>
                    </a:solidFill>
                  </a:tcPr>
                </a:tc>
                <a:tc>
                  <a:txBody>
                    <a:bodyPr/>
                    <a:lstStyle/>
                    <a:p>
                      <a:pPr indent="0" lvl="0" marL="0" rtl="0" algn="l">
                        <a:spcBef>
                          <a:spcPts val="0"/>
                        </a:spcBef>
                        <a:spcAft>
                          <a:spcPts val="0"/>
                        </a:spcAft>
                        <a:buNone/>
                      </a:pPr>
                      <a:r>
                        <a:rPr lang="zh-CN" sz="1800">
                          <a:solidFill>
                            <a:srgbClr val="FFFFFF"/>
                          </a:solidFill>
                        </a:rPr>
                        <a:t>Every document field cross-checked, then an anomaly model screens the trade</a:t>
                      </a:r>
                      <a:endParaRPr/>
                    </a:p>
                  </a:txBody>
                  <a:tcPr marT="45725" marB="45725" marR="91450" marL="91450">
                    <a:lnL cap="flat" cmpd="sng" w="9525">
                      <a:solidFill>
                        <a:srgbClr val="E8B430"/>
                      </a:solidFill>
                      <a:prstDash val="solid"/>
                      <a:round/>
                      <a:headEnd len="sm" w="sm" type="none"/>
                      <a:tailEnd len="sm" w="sm" type="none"/>
                    </a:lnL>
                    <a:lnR cap="flat" cmpd="sng" w="9525">
                      <a:solidFill>
                        <a:srgbClr val="E8B430"/>
                      </a:solidFill>
                      <a:prstDash val="solid"/>
                      <a:round/>
                      <a:headEnd len="sm" w="sm" type="none"/>
                      <a:tailEnd len="sm" w="sm" type="none"/>
                    </a:lnR>
                    <a:lnT cap="flat" cmpd="sng" w="9525">
                      <a:solidFill>
                        <a:srgbClr val="E8B430"/>
                      </a:solidFill>
                      <a:prstDash val="solid"/>
                      <a:round/>
                      <a:headEnd len="sm" w="sm" type="none"/>
                      <a:tailEnd len="sm" w="sm" type="none"/>
                    </a:lnT>
                    <a:lnB cap="flat" cmpd="sng" w="9525">
                      <a:solidFill>
                        <a:srgbClr val="E8B430"/>
                      </a:solidFill>
                      <a:prstDash val="solid"/>
                      <a:round/>
                      <a:headEnd len="sm" w="sm" type="none"/>
                      <a:tailEnd len="sm" w="sm" type="none"/>
                    </a:lnB>
                    <a:solidFill>
                      <a:srgbClr val="101C3A"/>
                    </a:solidFill>
                  </a:tcPr>
                </a:tc>
              </a:tr>
              <a:tr h="528000">
                <a:tc>
                  <a:txBody>
                    <a:bodyPr/>
                    <a:lstStyle/>
                    <a:p>
                      <a:pPr indent="0" lvl="0" marL="0" rtl="0" algn="l">
                        <a:spcBef>
                          <a:spcPts val="0"/>
                        </a:spcBef>
                        <a:spcAft>
                          <a:spcPts val="0"/>
                        </a:spcAft>
                        <a:buNone/>
                      </a:pPr>
                      <a:r>
                        <a:rPr lang="zh-CN" sz="1800">
                          <a:solidFill>
                            <a:srgbClr val="99AABB"/>
                          </a:solidFill>
                        </a:rPr>
                        <a:t>Opaque relationship-based credit verdicts</a:t>
                      </a:r>
                      <a:endParaRPr/>
                    </a:p>
                  </a:txBody>
                  <a:tcPr marT="45725" marB="45725" marR="91450" marL="91450">
                    <a:lnL cap="flat" cmpd="sng" w="9525">
                      <a:solidFill>
                        <a:srgbClr val="E8B430"/>
                      </a:solidFill>
                      <a:prstDash val="solid"/>
                      <a:round/>
                      <a:headEnd len="sm" w="sm" type="none"/>
                      <a:tailEnd len="sm" w="sm" type="none"/>
                    </a:lnL>
                    <a:lnR cap="flat" cmpd="sng" w="9525">
                      <a:solidFill>
                        <a:srgbClr val="E8B430"/>
                      </a:solidFill>
                      <a:prstDash val="solid"/>
                      <a:round/>
                      <a:headEnd len="sm" w="sm" type="none"/>
                      <a:tailEnd len="sm" w="sm" type="none"/>
                    </a:lnR>
                    <a:lnT cap="flat" cmpd="sng" w="9525">
                      <a:solidFill>
                        <a:srgbClr val="E8B430"/>
                      </a:solidFill>
                      <a:prstDash val="solid"/>
                      <a:round/>
                      <a:headEnd len="sm" w="sm" type="none"/>
                      <a:tailEnd len="sm" w="sm" type="none"/>
                    </a:lnT>
                    <a:lnB cap="flat" cmpd="sng" w="9525">
                      <a:solidFill>
                        <a:srgbClr val="E8B430"/>
                      </a:solidFill>
                      <a:prstDash val="solid"/>
                      <a:round/>
                      <a:headEnd len="sm" w="sm" type="none"/>
                      <a:tailEnd len="sm" w="sm" type="none"/>
                    </a:lnB>
                    <a:solidFill>
                      <a:srgbClr val="101C3A"/>
                    </a:solidFill>
                  </a:tcPr>
                </a:tc>
                <a:tc>
                  <a:txBody>
                    <a:bodyPr/>
                    <a:lstStyle/>
                    <a:p>
                      <a:pPr indent="0" lvl="0" marL="0" rtl="0" algn="l">
                        <a:spcBef>
                          <a:spcPts val="0"/>
                        </a:spcBef>
                        <a:spcAft>
                          <a:spcPts val="0"/>
                        </a:spcAft>
                        <a:buNone/>
                      </a:pPr>
                      <a:r>
                        <a:rPr lang="zh-CN" sz="1800">
                          <a:solidFill>
                            <a:srgbClr val="FFFFFF"/>
                          </a:solidFill>
                        </a:rPr>
                        <a:t>Explainable score  SHAP shows each factor's exact impact</a:t>
                      </a:r>
                      <a:endParaRPr/>
                    </a:p>
                  </a:txBody>
                  <a:tcPr marT="45725" marB="45725" marR="91450" marL="91450">
                    <a:lnL cap="flat" cmpd="sng" w="9525">
                      <a:solidFill>
                        <a:srgbClr val="E8B430"/>
                      </a:solidFill>
                      <a:prstDash val="solid"/>
                      <a:round/>
                      <a:headEnd len="sm" w="sm" type="none"/>
                      <a:tailEnd len="sm" w="sm" type="none"/>
                    </a:lnL>
                    <a:lnR cap="flat" cmpd="sng" w="9525">
                      <a:solidFill>
                        <a:srgbClr val="E8B430"/>
                      </a:solidFill>
                      <a:prstDash val="solid"/>
                      <a:round/>
                      <a:headEnd len="sm" w="sm" type="none"/>
                      <a:tailEnd len="sm" w="sm" type="none"/>
                    </a:lnR>
                    <a:lnT cap="flat" cmpd="sng" w="9525">
                      <a:solidFill>
                        <a:srgbClr val="E8B430"/>
                      </a:solidFill>
                      <a:prstDash val="solid"/>
                      <a:round/>
                      <a:headEnd len="sm" w="sm" type="none"/>
                      <a:tailEnd len="sm" w="sm" type="none"/>
                    </a:lnT>
                    <a:lnB cap="flat" cmpd="sng" w="9525">
                      <a:solidFill>
                        <a:srgbClr val="E8B430"/>
                      </a:solidFill>
                      <a:prstDash val="solid"/>
                      <a:round/>
                      <a:headEnd len="sm" w="sm" type="none"/>
                      <a:tailEnd len="sm" w="sm" type="none"/>
                    </a:lnB>
                    <a:solidFill>
                      <a:srgbClr val="101C3A"/>
                    </a:solidFill>
                  </a:tcPr>
                </a:tc>
              </a:tr>
              <a:tr h="528000">
                <a:tc>
                  <a:txBody>
                    <a:bodyPr/>
                    <a:lstStyle/>
                    <a:p>
                      <a:pPr indent="0" lvl="0" marL="0" rtl="0" algn="l">
                        <a:spcBef>
                          <a:spcPts val="0"/>
                        </a:spcBef>
                        <a:spcAft>
                          <a:spcPts val="0"/>
                        </a:spcAft>
                        <a:buNone/>
                      </a:pPr>
                      <a:r>
                        <a:rPr lang="zh-CN" sz="1800">
                          <a:solidFill>
                            <a:srgbClr val="99AABB"/>
                          </a:solidFill>
                        </a:rPr>
                        <a:t>Advance payment or open credit one side carries all risk</a:t>
                      </a:r>
                      <a:endParaRPr/>
                    </a:p>
                  </a:txBody>
                  <a:tcPr marT="45725" marB="45725" marR="91450" marL="91450">
                    <a:lnL cap="flat" cmpd="sng" w="9525">
                      <a:solidFill>
                        <a:srgbClr val="E8B430"/>
                      </a:solidFill>
                      <a:prstDash val="solid"/>
                      <a:round/>
                      <a:headEnd len="sm" w="sm" type="none"/>
                      <a:tailEnd len="sm" w="sm" type="none"/>
                    </a:lnL>
                    <a:lnR cap="flat" cmpd="sng" w="9525">
                      <a:solidFill>
                        <a:srgbClr val="E8B430"/>
                      </a:solidFill>
                      <a:prstDash val="solid"/>
                      <a:round/>
                      <a:headEnd len="sm" w="sm" type="none"/>
                      <a:tailEnd len="sm" w="sm" type="none"/>
                    </a:lnR>
                    <a:lnT cap="flat" cmpd="sng" w="9525">
                      <a:solidFill>
                        <a:srgbClr val="E8B430"/>
                      </a:solidFill>
                      <a:prstDash val="solid"/>
                      <a:round/>
                      <a:headEnd len="sm" w="sm" type="none"/>
                      <a:tailEnd len="sm" w="sm" type="none"/>
                    </a:lnT>
                    <a:lnB cap="flat" cmpd="sng" w="9525">
                      <a:solidFill>
                        <a:srgbClr val="E8B430"/>
                      </a:solidFill>
                      <a:prstDash val="solid"/>
                      <a:round/>
                      <a:headEnd len="sm" w="sm" type="none"/>
                      <a:tailEnd len="sm" w="sm" type="none"/>
                    </a:lnB>
                    <a:solidFill>
                      <a:srgbClr val="101C3A"/>
                    </a:solidFill>
                  </a:tcPr>
                </a:tc>
                <a:tc>
                  <a:txBody>
                    <a:bodyPr/>
                    <a:lstStyle/>
                    <a:p>
                      <a:pPr indent="0" lvl="0" marL="0" rtl="0" algn="l">
                        <a:spcBef>
                          <a:spcPts val="0"/>
                        </a:spcBef>
                        <a:spcAft>
                          <a:spcPts val="0"/>
                        </a:spcAft>
                        <a:buNone/>
                      </a:pPr>
                      <a:r>
                        <a:rPr lang="zh-CN" sz="1800">
                          <a:solidFill>
                            <a:srgbClr val="FFFFFF"/>
                          </a:solidFill>
                        </a:rPr>
                        <a:t>Escrow contract: money moves only when delivery is verified</a:t>
                      </a:r>
                      <a:endParaRPr/>
                    </a:p>
                  </a:txBody>
                  <a:tcPr marT="45725" marB="45725" marR="91450" marL="91450">
                    <a:lnL cap="flat" cmpd="sng" w="9525">
                      <a:solidFill>
                        <a:srgbClr val="E8B430"/>
                      </a:solidFill>
                      <a:prstDash val="solid"/>
                      <a:round/>
                      <a:headEnd len="sm" w="sm" type="none"/>
                      <a:tailEnd len="sm" w="sm" type="none"/>
                    </a:lnL>
                    <a:lnR cap="flat" cmpd="sng" w="9525">
                      <a:solidFill>
                        <a:srgbClr val="E8B430"/>
                      </a:solidFill>
                      <a:prstDash val="solid"/>
                      <a:round/>
                      <a:headEnd len="sm" w="sm" type="none"/>
                      <a:tailEnd len="sm" w="sm" type="none"/>
                    </a:lnR>
                    <a:lnT cap="flat" cmpd="sng" w="9525">
                      <a:solidFill>
                        <a:srgbClr val="E8B430"/>
                      </a:solidFill>
                      <a:prstDash val="solid"/>
                      <a:round/>
                      <a:headEnd len="sm" w="sm" type="none"/>
                      <a:tailEnd len="sm" w="sm" type="none"/>
                    </a:lnT>
                    <a:lnB cap="flat" cmpd="sng" w="9525">
                      <a:solidFill>
                        <a:srgbClr val="E8B430"/>
                      </a:solidFill>
                      <a:prstDash val="solid"/>
                      <a:round/>
                      <a:headEnd len="sm" w="sm" type="none"/>
                      <a:tailEnd len="sm" w="sm" type="none"/>
                    </a:lnB>
                    <a:solidFill>
                      <a:srgbClr val="101C3A"/>
                    </a:solidFill>
                  </a:tcPr>
                </a:tc>
              </a:tr>
              <a:tr h="528000">
                <a:tc>
                  <a:txBody>
                    <a:bodyPr/>
                    <a:lstStyle/>
                    <a:p>
                      <a:pPr indent="0" lvl="0" marL="0" rtl="0" algn="l">
                        <a:spcBef>
                          <a:spcPts val="0"/>
                        </a:spcBef>
                        <a:spcAft>
                          <a:spcPts val="0"/>
                        </a:spcAft>
                        <a:buNone/>
                      </a:pPr>
                      <a:r>
                        <a:rPr lang="zh-CN" sz="1800">
                          <a:solidFill>
                            <a:srgbClr val="99AABB"/>
                          </a:solidFill>
                        </a:rPr>
                        <a:t>Weeks of manual back-and-forth per deal</a:t>
                      </a:r>
                      <a:endParaRPr/>
                    </a:p>
                  </a:txBody>
                  <a:tcPr marT="45725" marB="45725" marR="91450" marL="91450">
                    <a:lnL cap="flat" cmpd="sng" w="9525">
                      <a:solidFill>
                        <a:srgbClr val="E8B430"/>
                      </a:solidFill>
                      <a:prstDash val="solid"/>
                      <a:round/>
                      <a:headEnd len="sm" w="sm" type="none"/>
                      <a:tailEnd len="sm" w="sm" type="none"/>
                    </a:lnL>
                    <a:lnR cap="flat" cmpd="sng" w="9525">
                      <a:solidFill>
                        <a:srgbClr val="E8B430"/>
                      </a:solidFill>
                      <a:prstDash val="solid"/>
                      <a:round/>
                      <a:headEnd len="sm" w="sm" type="none"/>
                      <a:tailEnd len="sm" w="sm" type="none"/>
                    </a:lnR>
                    <a:lnT cap="flat" cmpd="sng" w="9525">
                      <a:solidFill>
                        <a:srgbClr val="E8B430"/>
                      </a:solidFill>
                      <a:prstDash val="solid"/>
                      <a:round/>
                      <a:headEnd len="sm" w="sm" type="none"/>
                      <a:tailEnd len="sm" w="sm" type="none"/>
                    </a:lnT>
                    <a:lnB cap="flat" cmpd="sng" w="9525">
                      <a:solidFill>
                        <a:srgbClr val="E8B430"/>
                      </a:solidFill>
                      <a:prstDash val="solid"/>
                      <a:round/>
                      <a:headEnd len="sm" w="sm" type="none"/>
                      <a:tailEnd len="sm" w="sm" type="none"/>
                    </a:lnB>
                    <a:solidFill>
                      <a:srgbClr val="101C3A"/>
                    </a:solidFill>
                  </a:tcPr>
                </a:tc>
                <a:tc>
                  <a:txBody>
                    <a:bodyPr/>
                    <a:lstStyle/>
                    <a:p>
                      <a:pPr indent="0" lvl="0" marL="0" rtl="0" algn="l">
                        <a:spcBef>
                          <a:spcPts val="0"/>
                        </a:spcBef>
                        <a:spcAft>
                          <a:spcPts val="0"/>
                        </a:spcAft>
                        <a:buNone/>
                      </a:pPr>
                      <a:r>
                        <a:rPr lang="zh-CN" sz="1800">
                          <a:solidFill>
                            <a:srgbClr val="FFFFFF"/>
                          </a:solidFill>
                        </a:rPr>
                        <a:t>Minutes: check → score → offer → fund  demonstrated live</a:t>
                      </a:r>
                      <a:endParaRPr/>
                    </a:p>
                  </a:txBody>
                  <a:tcPr marT="45725" marB="45725" marR="91450" marL="91450">
                    <a:lnL cap="flat" cmpd="sng" w="9525">
                      <a:solidFill>
                        <a:srgbClr val="E8B430"/>
                      </a:solidFill>
                      <a:prstDash val="solid"/>
                      <a:round/>
                      <a:headEnd len="sm" w="sm" type="none"/>
                      <a:tailEnd len="sm" w="sm" type="none"/>
                    </a:lnL>
                    <a:lnR cap="flat" cmpd="sng" w="9525">
                      <a:solidFill>
                        <a:srgbClr val="E8B430"/>
                      </a:solidFill>
                      <a:prstDash val="solid"/>
                      <a:round/>
                      <a:headEnd len="sm" w="sm" type="none"/>
                      <a:tailEnd len="sm" w="sm" type="none"/>
                    </a:lnR>
                    <a:lnT cap="flat" cmpd="sng" w="9525">
                      <a:solidFill>
                        <a:srgbClr val="E8B430"/>
                      </a:solidFill>
                      <a:prstDash val="solid"/>
                      <a:round/>
                      <a:headEnd len="sm" w="sm" type="none"/>
                      <a:tailEnd len="sm" w="sm" type="none"/>
                    </a:lnT>
                    <a:lnB cap="flat" cmpd="sng" w="9525">
                      <a:solidFill>
                        <a:srgbClr val="E8B430"/>
                      </a:solidFill>
                      <a:prstDash val="solid"/>
                      <a:round/>
                      <a:headEnd len="sm" w="sm" type="none"/>
                      <a:tailEnd len="sm" w="sm" type="none"/>
                    </a:lnB>
                    <a:solidFill>
                      <a:srgbClr val="101C3A"/>
                    </a:solidFill>
                  </a:tcPr>
                </a:tc>
              </a:tr>
              <a:tr h="528000">
                <a:tc>
                  <a:txBody>
                    <a:bodyPr/>
                    <a:lstStyle/>
                    <a:p>
                      <a:pPr indent="0" lvl="0" marL="0" rtl="0" algn="l">
                        <a:spcBef>
                          <a:spcPts val="0"/>
                        </a:spcBef>
                        <a:spcAft>
                          <a:spcPts val="0"/>
                        </a:spcAft>
                        <a:buNone/>
                      </a:pPr>
                      <a:r>
                        <a:rPr lang="zh-CN" sz="1800">
                          <a:solidFill>
                            <a:srgbClr val="99AABB"/>
                          </a:solidFill>
                        </a:rPr>
                        <a:t>Editable spreadsheets and logs as evidence</a:t>
                      </a:r>
                      <a:endParaRPr/>
                    </a:p>
                  </a:txBody>
                  <a:tcPr marT="45725" marB="45725" marR="91450" marL="91450">
                    <a:lnL cap="flat" cmpd="sng" w="9525">
                      <a:solidFill>
                        <a:srgbClr val="E8B430"/>
                      </a:solidFill>
                      <a:prstDash val="solid"/>
                      <a:round/>
                      <a:headEnd len="sm" w="sm" type="none"/>
                      <a:tailEnd len="sm" w="sm" type="none"/>
                    </a:lnL>
                    <a:lnR cap="flat" cmpd="sng" w="9525">
                      <a:solidFill>
                        <a:srgbClr val="E8B430"/>
                      </a:solidFill>
                      <a:prstDash val="solid"/>
                      <a:round/>
                      <a:headEnd len="sm" w="sm" type="none"/>
                      <a:tailEnd len="sm" w="sm" type="none"/>
                    </a:lnR>
                    <a:lnT cap="flat" cmpd="sng" w="9525">
                      <a:solidFill>
                        <a:srgbClr val="E8B430"/>
                      </a:solidFill>
                      <a:prstDash val="solid"/>
                      <a:round/>
                      <a:headEnd len="sm" w="sm" type="none"/>
                      <a:tailEnd len="sm" w="sm" type="none"/>
                    </a:lnT>
                    <a:lnB cap="flat" cmpd="sng" w="9525">
                      <a:solidFill>
                        <a:srgbClr val="E8B430"/>
                      </a:solidFill>
                      <a:prstDash val="solid"/>
                      <a:round/>
                      <a:headEnd len="sm" w="sm" type="none"/>
                      <a:tailEnd len="sm" w="sm" type="none"/>
                    </a:lnB>
                    <a:solidFill>
                      <a:srgbClr val="101C3A"/>
                    </a:solidFill>
                  </a:tcPr>
                </a:tc>
                <a:tc>
                  <a:txBody>
                    <a:bodyPr/>
                    <a:lstStyle/>
                    <a:p>
                      <a:pPr indent="0" lvl="0" marL="0" rtl="0" algn="l">
                        <a:spcBef>
                          <a:spcPts val="0"/>
                        </a:spcBef>
                        <a:spcAft>
                          <a:spcPts val="0"/>
                        </a:spcAft>
                        <a:buNone/>
                      </a:pPr>
                      <a:r>
                        <a:rPr lang="zh-CN" sz="1800">
                          <a:solidFill>
                            <a:srgbClr val="FFFFFF"/>
                          </a:solidFill>
                        </a:rPr>
                        <a:t>SHA-256 hash-chained audit, re-verified with one click</a:t>
                      </a:r>
                      <a:endParaRPr/>
                    </a:p>
                  </a:txBody>
                  <a:tcPr marT="45725" marB="45725" marR="91450" marL="91450">
                    <a:lnL cap="flat" cmpd="sng" w="9525">
                      <a:solidFill>
                        <a:srgbClr val="E8B430"/>
                      </a:solidFill>
                      <a:prstDash val="solid"/>
                      <a:round/>
                      <a:headEnd len="sm" w="sm" type="none"/>
                      <a:tailEnd len="sm" w="sm" type="none"/>
                    </a:lnL>
                    <a:lnR cap="flat" cmpd="sng" w="9525">
                      <a:solidFill>
                        <a:srgbClr val="E8B430"/>
                      </a:solidFill>
                      <a:prstDash val="solid"/>
                      <a:round/>
                      <a:headEnd len="sm" w="sm" type="none"/>
                      <a:tailEnd len="sm" w="sm" type="none"/>
                    </a:lnR>
                    <a:lnT cap="flat" cmpd="sng" w="9525">
                      <a:solidFill>
                        <a:srgbClr val="E8B430"/>
                      </a:solidFill>
                      <a:prstDash val="solid"/>
                      <a:round/>
                      <a:headEnd len="sm" w="sm" type="none"/>
                      <a:tailEnd len="sm" w="sm" type="none"/>
                    </a:lnT>
                    <a:lnB cap="flat" cmpd="sng" w="9525">
                      <a:solidFill>
                        <a:srgbClr val="E8B430"/>
                      </a:solidFill>
                      <a:prstDash val="solid"/>
                      <a:round/>
                      <a:headEnd len="sm" w="sm" type="none"/>
                      <a:tailEnd len="sm" w="sm" type="none"/>
                    </a:lnB>
                    <a:solidFill>
                      <a:srgbClr val="101C3A"/>
                    </a:solidFill>
                  </a:tcPr>
                </a:tc>
              </a:tr>
              <a:tr h="528000">
                <a:tc>
                  <a:txBody>
                    <a:bodyPr/>
                    <a:lstStyle/>
                    <a:p>
                      <a:pPr indent="0" lvl="0" marL="0" rtl="0" algn="l">
                        <a:spcBef>
                          <a:spcPts val="0"/>
                        </a:spcBef>
                        <a:spcAft>
                          <a:spcPts val="0"/>
                        </a:spcAft>
                        <a:buNone/>
                      </a:pPr>
                      <a:r>
                        <a:rPr lang="zh-CN" sz="1800">
                          <a:solidFill>
                            <a:srgbClr val="99AABB"/>
                          </a:solidFill>
                        </a:rPr>
                        <a:t>Demo metrics cherry-picked to flatter the model</a:t>
                      </a:r>
                      <a:endParaRPr/>
                    </a:p>
                  </a:txBody>
                  <a:tcPr marT="45725" marB="45725" marR="91450" marL="91450">
                    <a:lnL cap="flat" cmpd="sng" w="9525">
                      <a:solidFill>
                        <a:srgbClr val="E8B430"/>
                      </a:solidFill>
                      <a:prstDash val="solid"/>
                      <a:round/>
                      <a:headEnd len="sm" w="sm" type="none"/>
                      <a:tailEnd len="sm" w="sm" type="none"/>
                    </a:lnL>
                    <a:lnR cap="flat" cmpd="sng" w="9525">
                      <a:solidFill>
                        <a:srgbClr val="E8B430"/>
                      </a:solidFill>
                      <a:prstDash val="solid"/>
                      <a:round/>
                      <a:headEnd len="sm" w="sm" type="none"/>
                      <a:tailEnd len="sm" w="sm" type="none"/>
                    </a:lnR>
                    <a:lnT cap="flat" cmpd="sng" w="9525">
                      <a:solidFill>
                        <a:srgbClr val="E8B430"/>
                      </a:solidFill>
                      <a:prstDash val="solid"/>
                      <a:round/>
                      <a:headEnd len="sm" w="sm" type="none"/>
                      <a:tailEnd len="sm" w="sm" type="none"/>
                    </a:lnT>
                    <a:lnB cap="flat" cmpd="sng" w="9525">
                      <a:solidFill>
                        <a:srgbClr val="E8B430"/>
                      </a:solidFill>
                      <a:prstDash val="solid"/>
                      <a:round/>
                      <a:headEnd len="sm" w="sm" type="none"/>
                      <a:tailEnd len="sm" w="sm" type="none"/>
                    </a:lnB>
                    <a:solidFill>
                      <a:srgbClr val="101C3A"/>
                    </a:solidFill>
                  </a:tcPr>
                </a:tc>
                <a:tc>
                  <a:txBody>
                    <a:bodyPr/>
                    <a:lstStyle/>
                    <a:p>
                      <a:pPr indent="0" lvl="0" marL="0" rtl="0" algn="l">
                        <a:spcBef>
                          <a:spcPts val="0"/>
                        </a:spcBef>
                        <a:spcAft>
                          <a:spcPts val="0"/>
                        </a:spcAft>
                        <a:buNone/>
                      </a:pPr>
                      <a:r>
                        <a:rPr lang="zh-CN" sz="1800">
                          <a:solidFill>
                            <a:srgbClr val="FFFFFF"/>
                          </a:solidFill>
                        </a:rPr>
                        <a:t>Honest holdout comparison published inside the product UI</a:t>
                      </a:r>
                      <a:endParaRPr/>
                    </a:p>
                  </a:txBody>
                  <a:tcPr marT="45725" marB="45725" marR="91450" marL="91450">
                    <a:lnL cap="flat" cmpd="sng" w="9525">
                      <a:solidFill>
                        <a:srgbClr val="E8B430"/>
                      </a:solidFill>
                      <a:prstDash val="solid"/>
                      <a:round/>
                      <a:headEnd len="sm" w="sm" type="none"/>
                      <a:tailEnd len="sm" w="sm" type="none"/>
                    </a:lnL>
                    <a:lnR cap="flat" cmpd="sng" w="9525">
                      <a:solidFill>
                        <a:srgbClr val="E8B430"/>
                      </a:solidFill>
                      <a:prstDash val="solid"/>
                      <a:round/>
                      <a:headEnd len="sm" w="sm" type="none"/>
                      <a:tailEnd len="sm" w="sm" type="none"/>
                    </a:lnR>
                    <a:lnT cap="flat" cmpd="sng" w="9525">
                      <a:solidFill>
                        <a:srgbClr val="E8B430"/>
                      </a:solidFill>
                      <a:prstDash val="solid"/>
                      <a:round/>
                      <a:headEnd len="sm" w="sm" type="none"/>
                      <a:tailEnd len="sm" w="sm" type="none"/>
                    </a:lnT>
                    <a:lnB cap="flat" cmpd="sng" w="9525">
                      <a:solidFill>
                        <a:srgbClr val="E8B430"/>
                      </a:solidFill>
                      <a:prstDash val="solid"/>
                      <a:round/>
                      <a:headEnd len="sm" w="sm" type="none"/>
                      <a:tailEnd len="sm" w="sm" type="none"/>
                    </a:lnB>
                    <a:solidFill>
                      <a:srgbClr val="101C3A"/>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0F1E"/>
        </a:solidFill>
      </p:bgPr>
    </p:bg>
    <p:spTree>
      <p:nvGrpSpPr>
        <p:cNvPr id="222" name="Shape 222"/>
        <p:cNvGrpSpPr/>
        <p:nvPr/>
      </p:nvGrpSpPr>
      <p:grpSpPr>
        <a:xfrm>
          <a:off x="0" y="0"/>
          <a:ext cx="0" cy="0"/>
          <a:chOff x="0" y="0"/>
          <a:chExt cx="0" cy="0"/>
        </a:xfrm>
      </p:grpSpPr>
      <p:sp>
        <p:nvSpPr>
          <p:cNvPr id="223" name="Google Shape;223;p16"/>
          <p:cNvSpPr txBox="1"/>
          <p:nvPr/>
        </p:nvSpPr>
        <p:spPr>
          <a:xfrm>
            <a:off x="276225" y="171450"/>
            <a:ext cx="19050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100">
                <a:solidFill>
                  <a:srgbClr val="E8B430"/>
                </a:solidFill>
                <a:latin typeface="Arial"/>
                <a:ea typeface="Arial"/>
                <a:cs typeface="Arial"/>
                <a:sym typeface="Arial"/>
              </a:rPr>
              <a:t>SILKFLOW AI</a:t>
            </a:r>
            <a:endParaRPr/>
          </a:p>
        </p:txBody>
      </p:sp>
      <p:sp>
        <p:nvSpPr>
          <p:cNvPr id="224" name="Google Shape;224;p16"/>
          <p:cNvSpPr/>
          <p:nvPr/>
        </p:nvSpPr>
        <p:spPr>
          <a:xfrm>
            <a:off x="276225" y="866775"/>
            <a:ext cx="11610975" cy="28575"/>
          </a:xfrm>
          <a:prstGeom prst="rect">
            <a:avLst/>
          </a:prstGeom>
          <a:solidFill>
            <a:srgbClr val="E8B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225" name="Google Shape;225;p16"/>
          <p:cNvSpPr txBox="1"/>
          <p:nvPr/>
        </p:nvSpPr>
        <p:spPr>
          <a:xfrm>
            <a:off x="457200" y="1028700"/>
            <a:ext cx="11249025"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2800">
                <a:solidFill>
                  <a:srgbClr val="FFFFFF"/>
                </a:solidFill>
                <a:latin typeface="Arial"/>
                <a:ea typeface="Arial"/>
                <a:cs typeface="Arial"/>
                <a:sym typeface="Arial"/>
              </a:rPr>
              <a:t>Would SilkFlow Have Caught These Frauds?</a:t>
            </a:r>
            <a:endParaRPr/>
          </a:p>
        </p:txBody>
      </p:sp>
      <p:sp>
        <p:nvSpPr>
          <p:cNvPr id="226" name="Google Shape;226;p16"/>
          <p:cNvSpPr txBox="1"/>
          <p:nvPr/>
        </p:nvSpPr>
        <p:spPr>
          <a:xfrm>
            <a:off x="457200" y="1581150"/>
            <a:ext cx="11249025"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1400">
                <a:solidFill>
                  <a:srgbClr val="8EC5FF"/>
                </a:solidFill>
                <a:latin typeface="Arial"/>
                <a:ea typeface="Arial"/>
                <a:cs typeface="Arial"/>
                <a:sym typeface="Arial"/>
              </a:rPr>
              <a:t>Each real fraud mechanism mapped to a specific control that exists in our build and is covered by tests.</a:t>
            </a:r>
            <a:endParaRPr/>
          </a:p>
        </p:txBody>
      </p:sp>
      <p:sp>
        <p:nvSpPr>
          <p:cNvPr id="227" name="Google Shape;227;p16"/>
          <p:cNvSpPr/>
          <p:nvPr/>
        </p:nvSpPr>
        <p:spPr>
          <a:xfrm>
            <a:off x="457200" y="2019300"/>
            <a:ext cx="3562350" cy="3381375"/>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228" name="Google Shape;228;p16"/>
          <p:cNvSpPr txBox="1"/>
          <p:nvPr/>
        </p:nvSpPr>
        <p:spPr>
          <a:xfrm>
            <a:off x="647700" y="2171700"/>
            <a:ext cx="3200400" cy="3048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400">
                <a:solidFill>
                  <a:srgbClr val="E8B430"/>
                </a:solidFill>
                <a:latin typeface="Arial"/>
                <a:ea typeface="Arial"/>
                <a:cs typeface="Arial"/>
                <a:sym typeface="Arial"/>
              </a:rPr>
              <a:t>Trafigura  forged receipts</a:t>
            </a:r>
            <a:endParaRPr/>
          </a:p>
          <a:p>
            <a:pPr indent="0" lvl="0" marL="0" marR="0" rtl="0" algn="l">
              <a:lnSpc>
                <a:spcPct val="125000"/>
              </a:lnSpc>
              <a:spcBef>
                <a:spcPts val="800"/>
              </a:spcBef>
              <a:spcAft>
                <a:spcPts val="0"/>
              </a:spcAft>
              <a:buNone/>
            </a:pPr>
            <a:r>
              <a:rPr lang="zh-CN" sz="1100">
                <a:solidFill>
                  <a:srgbClr val="99AABB"/>
                </a:solidFill>
                <a:latin typeface="Arial"/>
                <a:ea typeface="Arial"/>
                <a:cs typeface="Arial"/>
                <a:sym typeface="Arial"/>
              </a:rPr>
              <a:t>Fake warehouse receipts pledged the same goods to multiple lenders ($577M).</a:t>
            </a:r>
            <a:endParaRPr/>
          </a:p>
          <a:p>
            <a:pPr indent="0" lvl="0" marL="0" marR="0" rtl="0" algn="l">
              <a:lnSpc>
                <a:spcPct val="128000"/>
              </a:lnSpc>
              <a:spcBef>
                <a:spcPts val="1000"/>
              </a:spcBef>
              <a:spcAft>
                <a:spcPts val="0"/>
              </a:spcAft>
              <a:buNone/>
            </a:pPr>
            <a:r>
              <a:rPr b="1" lang="zh-CN" sz="1150">
                <a:solidFill>
                  <a:srgbClr val="8EC5FF"/>
                </a:solidFill>
                <a:latin typeface="Arial"/>
                <a:ea typeface="Arial"/>
                <a:cs typeface="Arial"/>
                <a:sym typeface="Arial"/>
              </a:rPr>
              <a:t>Controls that bite: field-level document cross-check blocks inconsistent papers before scoring; funding only enters escrow after verification; disputes freeze rather than drain.</a:t>
            </a:r>
            <a:endParaRPr/>
          </a:p>
        </p:txBody>
      </p:sp>
      <p:sp>
        <p:nvSpPr>
          <p:cNvPr id="229" name="Google Shape;229;p16"/>
          <p:cNvSpPr/>
          <p:nvPr/>
        </p:nvSpPr>
        <p:spPr>
          <a:xfrm>
            <a:off x="4295775" y="2019300"/>
            <a:ext cx="3562350" cy="3381375"/>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230" name="Google Shape;230;p16"/>
          <p:cNvSpPr txBox="1"/>
          <p:nvPr/>
        </p:nvSpPr>
        <p:spPr>
          <a:xfrm>
            <a:off x="4486275" y="2171700"/>
            <a:ext cx="3200400" cy="3048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400">
                <a:solidFill>
                  <a:srgbClr val="E8B430"/>
                </a:solidFill>
                <a:latin typeface="Arial"/>
                <a:ea typeface="Arial"/>
                <a:cs typeface="Arial"/>
                <a:sym typeface="Arial"/>
              </a:rPr>
              <a:t>China 2014 </a:t>
            </a:r>
            <a:r>
              <a:rPr b="1" lang="zh-CN">
                <a:solidFill>
                  <a:srgbClr val="E8B430"/>
                </a:solidFill>
              </a:rPr>
              <a:t>,</a:t>
            </a:r>
            <a:r>
              <a:rPr b="1" lang="zh-CN" sz="1400">
                <a:solidFill>
                  <a:srgbClr val="E8B430"/>
                </a:solidFill>
                <a:latin typeface="Arial"/>
                <a:ea typeface="Arial"/>
                <a:cs typeface="Arial"/>
                <a:sym typeface="Arial"/>
              </a:rPr>
              <a:t> duplicate paper</a:t>
            </a:r>
            <a:endParaRPr/>
          </a:p>
          <a:p>
            <a:pPr indent="0" lvl="0" marL="0" marR="0" rtl="0" algn="l">
              <a:lnSpc>
                <a:spcPct val="125000"/>
              </a:lnSpc>
              <a:spcBef>
                <a:spcPts val="800"/>
              </a:spcBef>
              <a:spcAft>
                <a:spcPts val="0"/>
              </a:spcAft>
              <a:buNone/>
            </a:pPr>
            <a:r>
              <a:rPr lang="zh-CN" sz="1100">
                <a:solidFill>
                  <a:srgbClr val="99AABB"/>
                </a:solidFill>
                <a:latin typeface="Arial"/>
                <a:ea typeface="Arial"/>
                <a:cs typeface="Arial"/>
                <a:sym typeface="Arial"/>
              </a:rPr>
              <a:t>One shipment invoiced repeatedly across banks; ~$10B of fraudulent financing exposed.</a:t>
            </a:r>
            <a:endParaRPr/>
          </a:p>
          <a:p>
            <a:pPr indent="0" lvl="0" marL="0" marR="0" rtl="0" algn="l">
              <a:lnSpc>
                <a:spcPct val="128000"/>
              </a:lnSpc>
              <a:spcBef>
                <a:spcPts val="1000"/>
              </a:spcBef>
              <a:spcAft>
                <a:spcPts val="0"/>
              </a:spcAft>
              <a:buNone/>
            </a:pPr>
            <a:r>
              <a:rPr b="1" lang="zh-CN" sz="1150">
                <a:solidFill>
                  <a:srgbClr val="8EC5FF"/>
                </a:solidFill>
                <a:latin typeface="Arial"/>
                <a:ea typeface="Arial"/>
                <a:cs typeface="Arial"/>
                <a:sym typeface="Arial"/>
              </a:rPr>
              <a:t>Controls that bite: every escrow funding binds to a single verified order record; Isolation Forest flags trades far outside a counterparty's normal size and pattern; duplicates route to the human queue.</a:t>
            </a:r>
            <a:endParaRPr/>
          </a:p>
        </p:txBody>
      </p:sp>
      <p:sp>
        <p:nvSpPr>
          <p:cNvPr id="231" name="Google Shape;231;p16"/>
          <p:cNvSpPr/>
          <p:nvPr/>
        </p:nvSpPr>
        <p:spPr>
          <a:xfrm>
            <a:off x="8134350" y="2019300"/>
            <a:ext cx="3562350" cy="3381375"/>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232" name="Google Shape;232;p16"/>
          <p:cNvSpPr txBox="1"/>
          <p:nvPr/>
        </p:nvSpPr>
        <p:spPr>
          <a:xfrm>
            <a:off x="8324850" y="2171700"/>
            <a:ext cx="3200400" cy="3048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400">
                <a:solidFill>
                  <a:srgbClr val="E8B430"/>
                </a:solidFill>
                <a:latin typeface="Arial"/>
                <a:ea typeface="Arial"/>
                <a:cs typeface="Arial"/>
                <a:sym typeface="Arial"/>
              </a:rPr>
              <a:t>Stenn </a:t>
            </a:r>
            <a:r>
              <a:rPr b="1" lang="zh-CN">
                <a:solidFill>
                  <a:srgbClr val="E8B430"/>
                </a:solidFill>
              </a:rPr>
              <a:t>, </a:t>
            </a:r>
            <a:r>
              <a:rPr b="1" lang="zh-CN" sz="1400">
                <a:solidFill>
                  <a:srgbClr val="E8B430"/>
                </a:solidFill>
                <a:latin typeface="Arial"/>
                <a:ea typeface="Arial"/>
                <a:cs typeface="Arial"/>
                <a:sym typeface="Arial"/>
              </a:rPr>
              <a:t>inflated invoices</a:t>
            </a:r>
            <a:endParaRPr/>
          </a:p>
          <a:p>
            <a:pPr indent="0" lvl="0" marL="0" marR="0" rtl="0" algn="l">
              <a:lnSpc>
                <a:spcPct val="125000"/>
              </a:lnSpc>
              <a:spcBef>
                <a:spcPts val="800"/>
              </a:spcBef>
              <a:spcAft>
                <a:spcPts val="0"/>
              </a:spcAft>
              <a:buNone/>
            </a:pPr>
            <a:r>
              <a:rPr lang="zh-CN" sz="1100">
                <a:solidFill>
                  <a:srgbClr val="99AABB"/>
                </a:solidFill>
                <a:latin typeface="Arial"/>
                <a:ea typeface="Arial"/>
                <a:cs typeface="Arial"/>
                <a:sym typeface="Arial"/>
              </a:rPr>
              <a:t>Inflated and phantom invoices drained a £115m supply-chain fund (£29.4M lost).</a:t>
            </a:r>
            <a:endParaRPr/>
          </a:p>
          <a:p>
            <a:pPr indent="0" lvl="0" marL="0" marR="0" rtl="0" algn="l">
              <a:lnSpc>
                <a:spcPct val="128000"/>
              </a:lnSpc>
              <a:spcBef>
                <a:spcPts val="1000"/>
              </a:spcBef>
              <a:spcAft>
                <a:spcPts val="0"/>
              </a:spcAft>
              <a:buNone/>
            </a:pPr>
            <a:r>
              <a:rPr b="1" lang="zh-CN" sz="1150">
                <a:solidFill>
                  <a:srgbClr val="8EC5FF"/>
                </a:solidFill>
                <a:latin typeface="Arial"/>
                <a:ea typeface="Arial"/>
                <a:cs typeface="Arial"/>
                <a:sym typeface="Arial"/>
              </a:rPr>
              <a:t>Controls that bite: score keyed to the buyer's real payment history; oversized trades fail the anomaly screen; release still requires a verified delivery event.</a:t>
            </a:r>
            <a:endParaRPr/>
          </a:p>
        </p:txBody>
      </p:sp>
      <p:sp>
        <p:nvSpPr>
          <p:cNvPr id="233" name="Google Shape;233;p16"/>
          <p:cNvSpPr txBox="1"/>
          <p:nvPr/>
        </p:nvSpPr>
        <p:spPr>
          <a:xfrm>
            <a:off x="457200" y="5638800"/>
            <a:ext cx="11249025"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1200">
                <a:solidFill>
                  <a:srgbClr val="99AABB"/>
                </a:solidFill>
                <a:latin typeface="Arial"/>
                <a:ea typeface="Arial"/>
                <a:cs typeface="Arial"/>
                <a:sym typeface="Arial"/>
              </a:rPr>
              <a:t>The bar is not perfect fraud prevention  it is verifiable documents, money linked to delivery, and evidence no one can rewrite afterwards.</a:t>
            </a:r>
            <a:endParaRPr/>
          </a:p>
        </p:txBody>
      </p:sp>
      <p:sp>
        <p:nvSpPr>
          <p:cNvPr id="234" name="Google Shape;234;p16"/>
          <p:cNvSpPr txBox="1"/>
          <p:nvPr/>
        </p:nvSpPr>
        <p:spPr>
          <a:xfrm>
            <a:off x="276225" y="6496050"/>
            <a:ext cx="1161097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900">
                <a:solidFill>
                  <a:srgbClr val="99AABB"/>
                </a:solidFill>
                <a:latin typeface="Arial"/>
                <a:ea typeface="Arial"/>
                <a:cs typeface="Arial"/>
                <a:sym typeface="Arial"/>
              </a:rPr>
              <a:t>SilkFlow AI  |  FinTechathon 2026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0F1E"/>
        </a:solidFill>
      </p:bgPr>
    </p:bg>
    <p:spTree>
      <p:nvGrpSpPr>
        <p:cNvPr id="238" name="Shape 238"/>
        <p:cNvGrpSpPr/>
        <p:nvPr/>
      </p:nvGrpSpPr>
      <p:grpSpPr>
        <a:xfrm>
          <a:off x="0" y="0"/>
          <a:ext cx="0" cy="0"/>
          <a:chOff x="0" y="0"/>
          <a:chExt cx="0" cy="0"/>
        </a:xfrm>
      </p:grpSpPr>
      <p:sp>
        <p:nvSpPr>
          <p:cNvPr id="239" name="Google Shape;239;p17"/>
          <p:cNvSpPr txBox="1"/>
          <p:nvPr/>
        </p:nvSpPr>
        <p:spPr>
          <a:xfrm>
            <a:off x="276225" y="171450"/>
            <a:ext cx="19050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100">
                <a:solidFill>
                  <a:srgbClr val="E8B430"/>
                </a:solidFill>
                <a:latin typeface="Arial"/>
                <a:ea typeface="Arial"/>
                <a:cs typeface="Arial"/>
                <a:sym typeface="Arial"/>
              </a:rPr>
              <a:t>SILKFLOW AI</a:t>
            </a:r>
            <a:endParaRPr/>
          </a:p>
        </p:txBody>
      </p:sp>
      <p:sp>
        <p:nvSpPr>
          <p:cNvPr id="240" name="Google Shape;240;p17"/>
          <p:cNvSpPr/>
          <p:nvPr/>
        </p:nvSpPr>
        <p:spPr>
          <a:xfrm>
            <a:off x="276225" y="866775"/>
            <a:ext cx="11610975" cy="28575"/>
          </a:xfrm>
          <a:prstGeom prst="rect">
            <a:avLst/>
          </a:prstGeom>
          <a:solidFill>
            <a:srgbClr val="E8B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241" name="Google Shape;241;p17"/>
          <p:cNvSpPr txBox="1"/>
          <p:nvPr/>
        </p:nvSpPr>
        <p:spPr>
          <a:xfrm>
            <a:off x="457200" y="1028700"/>
            <a:ext cx="11249025"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2800">
                <a:solidFill>
                  <a:srgbClr val="FFFFFF"/>
                </a:solidFill>
                <a:latin typeface="Arial"/>
                <a:ea typeface="Arial"/>
                <a:cs typeface="Arial"/>
                <a:sym typeface="Arial"/>
              </a:rPr>
              <a:t>Roadmap </a:t>
            </a:r>
            <a:r>
              <a:rPr b="1" lang="zh-CN" sz="2800">
                <a:solidFill>
                  <a:srgbClr val="FFFFFF"/>
                </a:solidFill>
              </a:rPr>
              <a:t>,</a:t>
            </a:r>
            <a:r>
              <a:rPr b="1" lang="zh-CN" sz="2800">
                <a:solidFill>
                  <a:srgbClr val="FFFFFF"/>
                </a:solidFill>
                <a:latin typeface="Arial"/>
                <a:ea typeface="Arial"/>
                <a:cs typeface="Arial"/>
                <a:sym typeface="Arial"/>
              </a:rPr>
              <a:t> From Hackathon Build To Pilot</a:t>
            </a:r>
            <a:endParaRPr/>
          </a:p>
        </p:txBody>
      </p:sp>
      <p:sp>
        <p:nvSpPr>
          <p:cNvPr id="242" name="Google Shape;242;p17"/>
          <p:cNvSpPr txBox="1"/>
          <p:nvPr/>
        </p:nvSpPr>
        <p:spPr>
          <a:xfrm>
            <a:off x="457200" y="1581150"/>
            <a:ext cx="11249025"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1400">
                <a:solidFill>
                  <a:srgbClr val="8EC5FF"/>
                </a:solidFill>
                <a:latin typeface="Arial"/>
                <a:ea typeface="Arial"/>
                <a:cs typeface="Arial"/>
                <a:sym typeface="Arial"/>
              </a:rPr>
              <a:t>Honest sequencing: what is real today, and what replaces the synthetic parts next.</a:t>
            </a:r>
            <a:endParaRPr/>
          </a:p>
        </p:txBody>
      </p:sp>
      <p:sp>
        <p:nvSpPr>
          <p:cNvPr id="243" name="Google Shape;243;p17"/>
          <p:cNvSpPr/>
          <p:nvPr/>
        </p:nvSpPr>
        <p:spPr>
          <a:xfrm>
            <a:off x="457200" y="2038350"/>
            <a:ext cx="2705100" cy="342900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244" name="Google Shape;244;p17"/>
          <p:cNvSpPr txBox="1"/>
          <p:nvPr/>
        </p:nvSpPr>
        <p:spPr>
          <a:xfrm>
            <a:off x="628650" y="2209800"/>
            <a:ext cx="2362200" cy="3048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300">
                <a:solidFill>
                  <a:srgbClr val="E8B430"/>
                </a:solidFill>
                <a:latin typeface="Arial"/>
                <a:ea typeface="Arial"/>
                <a:cs typeface="Arial"/>
                <a:sym typeface="Arial"/>
              </a:rPr>
              <a:t>PHASE 1 · TODAY</a:t>
            </a:r>
            <a:endParaRPr/>
          </a:p>
          <a:p>
            <a:pPr indent="0" lvl="0" marL="0" marR="0" rtl="0" algn="l">
              <a:lnSpc>
                <a:spcPct val="130000"/>
              </a:lnSpc>
              <a:spcBef>
                <a:spcPts val="1000"/>
              </a:spcBef>
              <a:spcAft>
                <a:spcPts val="0"/>
              </a:spcAft>
              <a:buNone/>
            </a:pPr>
            <a:r>
              <a:rPr lang="zh-CN" sz="1100">
                <a:solidFill>
                  <a:srgbClr val="FFFFFF"/>
                </a:solidFill>
                <a:latin typeface="Arial"/>
                <a:ea typeface="Arial"/>
                <a:cs typeface="Arial"/>
                <a:sym typeface="Arial"/>
              </a:rPr>
              <a:t>Three live portals · auto document check · scoring with SHAP reasons · escrow on local Hardhat chain · 65/65 E2E and 38/38 contract tests green · narrated 4:56 demo.</a:t>
            </a:r>
            <a:endParaRPr/>
          </a:p>
        </p:txBody>
      </p:sp>
      <p:sp>
        <p:nvSpPr>
          <p:cNvPr id="245" name="Google Shape;245;p17"/>
          <p:cNvSpPr/>
          <p:nvPr/>
        </p:nvSpPr>
        <p:spPr>
          <a:xfrm>
            <a:off x="3390900" y="2038350"/>
            <a:ext cx="2705100" cy="342900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246" name="Google Shape;246;p17"/>
          <p:cNvSpPr txBox="1"/>
          <p:nvPr/>
        </p:nvSpPr>
        <p:spPr>
          <a:xfrm>
            <a:off x="3562350" y="2209800"/>
            <a:ext cx="2362200" cy="3048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300">
                <a:solidFill>
                  <a:srgbClr val="E8B430"/>
                </a:solidFill>
                <a:latin typeface="Arial"/>
                <a:ea typeface="Arial"/>
                <a:cs typeface="Arial"/>
                <a:sym typeface="Arial"/>
              </a:rPr>
              <a:t>PHASE 2 · 1–3 MONTHS</a:t>
            </a:r>
            <a:endParaRPr/>
          </a:p>
          <a:p>
            <a:pPr indent="0" lvl="0" marL="0" marR="0" rtl="0" algn="l">
              <a:lnSpc>
                <a:spcPct val="130000"/>
              </a:lnSpc>
              <a:spcBef>
                <a:spcPts val="1000"/>
              </a:spcBef>
              <a:spcAft>
                <a:spcPts val="0"/>
              </a:spcAft>
              <a:buNone/>
            </a:pPr>
            <a:r>
              <a:rPr lang="zh-CN" sz="1100">
                <a:solidFill>
                  <a:srgbClr val="FFFFFF"/>
                </a:solidFill>
                <a:latin typeface="Arial"/>
                <a:ea typeface="Arial"/>
                <a:cs typeface="Arial"/>
                <a:sym typeface="Arial"/>
              </a:rPr>
              <a:t>Public testnet: same SilkEscrow contracts deployed with faucet-funded test stablecoin, producing verifiable transaction hashes  the missing piece for full on-chain judging.</a:t>
            </a:r>
            <a:endParaRPr/>
          </a:p>
        </p:txBody>
      </p:sp>
      <p:sp>
        <p:nvSpPr>
          <p:cNvPr id="247" name="Google Shape;247;p17"/>
          <p:cNvSpPr/>
          <p:nvPr/>
        </p:nvSpPr>
        <p:spPr>
          <a:xfrm>
            <a:off x="6324600" y="2038350"/>
            <a:ext cx="2705100" cy="342900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248" name="Google Shape;248;p17"/>
          <p:cNvSpPr txBox="1"/>
          <p:nvPr/>
        </p:nvSpPr>
        <p:spPr>
          <a:xfrm>
            <a:off x="6496050" y="2209800"/>
            <a:ext cx="2362200" cy="3048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300">
                <a:solidFill>
                  <a:srgbClr val="E8B430"/>
                </a:solidFill>
                <a:latin typeface="Arial"/>
                <a:ea typeface="Arial"/>
                <a:cs typeface="Arial"/>
                <a:sym typeface="Arial"/>
              </a:rPr>
              <a:t>PHASE 3 · 3–9 MONTHS</a:t>
            </a:r>
            <a:endParaRPr/>
          </a:p>
          <a:p>
            <a:pPr indent="0" lvl="0" marL="0" marR="0" rtl="0" algn="l">
              <a:lnSpc>
                <a:spcPct val="130000"/>
              </a:lnSpc>
              <a:spcBef>
                <a:spcPts val="1000"/>
              </a:spcBef>
              <a:spcAft>
                <a:spcPts val="0"/>
              </a:spcAft>
              <a:buNone/>
            </a:pPr>
            <a:r>
              <a:rPr lang="zh-CN" sz="1100">
                <a:solidFill>
                  <a:srgbClr val="FFFFFF"/>
                </a:solidFill>
                <a:latin typeface="Arial"/>
                <a:ea typeface="Arial"/>
                <a:cs typeface="Arial"/>
                <a:sym typeface="Arial"/>
              </a:rPr>
              <a:t>Real data: replace synthetic features with live FX rates and real logistics tracking; retrain scoring on genuine repayment outcomes instead of simulated history.</a:t>
            </a:r>
            <a:endParaRPr/>
          </a:p>
        </p:txBody>
      </p:sp>
      <p:sp>
        <p:nvSpPr>
          <p:cNvPr id="249" name="Google Shape;249;p17"/>
          <p:cNvSpPr/>
          <p:nvPr/>
        </p:nvSpPr>
        <p:spPr>
          <a:xfrm>
            <a:off x="9258300" y="2038350"/>
            <a:ext cx="2705100" cy="342900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250" name="Google Shape;250;p17"/>
          <p:cNvSpPr txBox="1"/>
          <p:nvPr/>
        </p:nvSpPr>
        <p:spPr>
          <a:xfrm>
            <a:off x="9429750" y="2209800"/>
            <a:ext cx="2362200" cy="3048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300">
                <a:solidFill>
                  <a:srgbClr val="E8B430"/>
                </a:solidFill>
                <a:latin typeface="Arial"/>
                <a:ea typeface="Arial"/>
                <a:cs typeface="Arial"/>
                <a:sym typeface="Arial"/>
              </a:rPr>
              <a:t>PHASE 4 · 9–18 MONTHS</a:t>
            </a:r>
            <a:endParaRPr/>
          </a:p>
          <a:p>
            <a:pPr indent="0" lvl="0" marL="0" marR="0" rtl="0" algn="l">
              <a:lnSpc>
                <a:spcPct val="130000"/>
              </a:lnSpc>
              <a:spcBef>
                <a:spcPts val="1000"/>
              </a:spcBef>
              <a:spcAft>
                <a:spcPts val="0"/>
              </a:spcAft>
              <a:buNone/>
            </a:pPr>
            <a:r>
              <a:rPr lang="zh-CN" sz="1100">
                <a:solidFill>
                  <a:srgbClr val="FFFFFF"/>
                </a:solidFill>
                <a:latin typeface="Arial"/>
                <a:ea typeface="Arial"/>
                <a:cs typeface="Arial"/>
                <a:sym typeface="Arial"/>
              </a:rPr>
              <a:t>Pilot: bank or trade-finance insurer integration, multi-currency escrow, KYC/AML data sources, and model governance for periodic retraining and drift checks.</a:t>
            </a:r>
            <a:endParaRPr/>
          </a:p>
        </p:txBody>
      </p:sp>
      <p:sp>
        <p:nvSpPr>
          <p:cNvPr id="251" name="Google Shape;251;p17"/>
          <p:cNvSpPr txBox="1"/>
          <p:nvPr/>
        </p:nvSpPr>
        <p:spPr>
          <a:xfrm>
            <a:off x="457200" y="5772150"/>
            <a:ext cx="11249025"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a:p>
        </p:txBody>
      </p:sp>
      <p:sp>
        <p:nvSpPr>
          <p:cNvPr id="252" name="Google Shape;252;p17"/>
          <p:cNvSpPr txBox="1"/>
          <p:nvPr/>
        </p:nvSpPr>
        <p:spPr>
          <a:xfrm>
            <a:off x="276225" y="6496050"/>
            <a:ext cx="1161097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900">
                <a:solidFill>
                  <a:srgbClr val="99AABB"/>
                </a:solidFill>
                <a:latin typeface="Arial"/>
                <a:ea typeface="Arial"/>
                <a:cs typeface="Arial"/>
                <a:sym typeface="Arial"/>
              </a:rPr>
              <a:t>SilkFlow AI  |  FinTechathon 2026 — AI Track International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0F1E"/>
        </a:solidFill>
      </p:bgPr>
    </p:bg>
    <p:spTree>
      <p:nvGrpSpPr>
        <p:cNvPr id="256" name="Shape 256"/>
        <p:cNvGrpSpPr/>
        <p:nvPr/>
      </p:nvGrpSpPr>
      <p:grpSpPr>
        <a:xfrm>
          <a:off x="0" y="0"/>
          <a:ext cx="0" cy="0"/>
          <a:chOff x="0" y="0"/>
          <a:chExt cx="0" cy="0"/>
        </a:xfrm>
      </p:grpSpPr>
      <p:sp>
        <p:nvSpPr>
          <p:cNvPr id="257" name="Google Shape;257;p18"/>
          <p:cNvSpPr txBox="1"/>
          <p:nvPr/>
        </p:nvSpPr>
        <p:spPr>
          <a:xfrm>
            <a:off x="276225" y="171450"/>
            <a:ext cx="19050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100">
                <a:solidFill>
                  <a:srgbClr val="E8B430"/>
                </a:solidFill>
                <a:latin typeface="Arial"/>
                <a:ea typeface="Arial"/>
                <a:cs typeface="Arial"/>
                <a:sym typeface="Arial"/>
              </a:rPr>
              <a:t>SILKFLOW AI</a:t>
            </a:r>
            <a:endParaRPr/>
          </a:p>
        </p:txBody>
      </p:sp>
      <p:sp>
        <p:nvSpPr>
          <p:cNvPr id="258" name="Google Shape;258;p18"/>
          <p:cNvSpPr/>
          <p:nvPr/>
        </p:nvSpPr>
        <p:spPr>
          <a:xfrm>
            <a:off x="276225" y="866775"/>
            <a:ext cx="11610975" cy="28575"/>
          </a:xfrm>
          <a:prstGeom prst="rect">
            <a:avLst/>
          </a:prstGeom>
          <a:solidFill>
            <a:srgbClr val="E8B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259" name="Google Shape;259;p18"/>
          <p:cNvSpPr txBox="1"/>
          <p:nvPr/>
        </p:nvSpPr>
        <p:spPr>
          <a:xfrm>
            <a:off x="457200" y="1028700"/>
            <a:ext cx="11249025"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2800">
                <a:solidFill>
                  <a:srgbClr val="FFFFFF"/>
                </a:solidFill>
                <a:latin typeface="Arial"/>
                <a:ea typeface="Arial"/>
                <a:cs typeface="Arial"/>
                <a:sym typeface="Arial"/>
              </a:rPr>
              <a:t>Team &amp; What We Ask For</a:t>
            </a:r>
            <a:endParaRPr/>
          </a:p>
        </p:txBody>
      </p:sp>
      <p:sp>
        <p:nvSpPr>
          <p:cNvPr id="260" name="Google Shape;260;p18"/>
          <p:cNvSpPr txBox="1"/>
          <p:nvPr/>
        </p:nvSpPr>
        <p:spPr>
          <a:xfrm>
            <a:off x="457200" y="1581150"/>
            <a:ext cx="11249025"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1400">
                <a:solidFill>
                  <a:srgbClr val="8EC5FF"/>
                </a:solidFill>
                <a:latin typeface="Arial"/>
                <a:ea typeface="Arial"/>
                <a:cs typeface="Arial"/>
                <a:sym typeface="Arial"/>
              </a:rPr>
              <a:t>Five people, one working prototype  and three things we hope to gain from the finals.</a:t>
            </a:r>
            <a:endParaRPr/>
          </a:p>
        </p:txBody>
      </p:sp>
      <p:sp>
        <p:nvSpPr>
          <p:cNvPr id="261" name="Google Shape;261;p18"/>
          <p:cNvSpPr txBox="1"/>
          <p:nvPr/>
        </p:nvSpPr>
        <p:spPr>
          <a:xfrm>
            <a:off x="457200" y="2076450"/>
            <a:ext cx="11249025" cy="670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2200">
                <a:solidFill>
                  <a:srgbClr val="E8B430"/>
                </a:solidFill>
                <a:latin typeface="Arial"/>
                <a:ea typeface="Arial"/>
                <a:cs typeface="Arial"/>
                <a:sym typeface="Arial"/>
              </a:rPr>
              <a:t>SilkFlow AI every number measured, every decision explained, every action provable.</a:t>
            </a:r>
            <a:endParaRPr/>
          </a:p>
        </p:txBody>
      </p:sp>
      <p:sp>
        <p:nvSpPr>
          <p:cNvPr id="262" name="Google Shape;262;p18"/>
          <p:cNvSpPr/>
          <p:nvPr/>
        </p:nvSpPr>
        <p:spPr>
          <a:xfrm>
            <a:off x="457200" y="2781300"/>
            <a:ext cx="2133600" cy="104775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263" name="Google Shape;263;p18"/>
          <p:cNvSpPr txBox="1"/>
          <p:nvPr/>
        </p:nvSpPr>
        <p:spPr>
          <a:xfrm>
            <a:off x="571500" y="2876550"/>
            <a:ext cx="1905000" cy="8572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zh-CN" sz="1300">
                <a:solidFill>
                  <a:srgbClr val="FFFFFF"/>
                </a:solidFill>
              </a:rPr>
              <a:t>Shahzaib Shaikh</a:t>
            </a:r>
            <a:endParaRPr/>
          </a:p>
          <a:p>
            <a:pPr indent="0" lvl="0" marL="0" marR="0" rtl="0" algn="ctr">
              <a:spcBef>
                <a:spcPts val="500"/>
              </a:spcBef>
              <a:spcAft>
                <a:spcPts val="0"/>
              </a:spcAft>
              <a:buNone/>
            </a:pPr>
            <a:r>
              <a:rPr lang="zh-CN" sz="1100">
                <a:solidFill>
                  <a:srgbClr val="8EC5FF"/>
                </a:solidFill>
                <a:latin typeface="Arial"/>
                <a:ea typeface="Arial"/>
                <a:cs typeface="Arial"/>
                <a:sym typeface="Arial"/>
              </a:rPr>
              <a:t>Team Lead(</a:t>
            </a:r>
            <a:r>
              <a:rPr lang="zh-CN" sz="1100">
                <a:solidFill>
                  <a:srgbClr val="8EC5FF"/>
                </a:solidFill>
              </a:rPr>
              <a:t>AI &amp; Backend)</a:t>
            </a:r>
            <a:endParaRPr/>
          </a:p>
        </p:txBody>
      </p:sp>
      <p:sp>
        <p:nvSpPr>
          <p:cNvPr id="264" name="Google Shape;264;p18"/>
          <p:cNvSpPr/>
          <p:nvPr/>
        </p:nvSpPr>
        <p:spPr>
          <a:xfrm>
            <a:off x="2790825" y="2781300"/>
            <a:ext cx="2133600" cy="104775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265" name="Google Shape;265;p18"/>
          <p:cNvSpPr txBox="1"/>
          <p:nvPr/>
        </p:nvSpPr>
        <p:spPr>
          <a:xfrm>
            <a:off x="2905125" y="2876550"/>
            <a:ext cx="1905000" cy="8572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zh-CN" sz="1300">
                <a:solidFill>
                  <a:srgbClr val="FFFFFF"/>
                </a:solidFill>
              </a:rPr>
              <a:t>Sufyan Arain</a:t>
            </a:r>
            <a:endParaRPr/>
          </a:p>
          <a:p>
            <a:pPr indent="0" lvl="0" marL="0" rtl="0" algn="ctr">
              <a:spcBef>
                <a:spcPts val="500"/>
              </a:spcBef>
              <a:spcAft>
                <a:spcPts val="0"/>
              </a:spcAft>
              <a:buClr>
                <a:schemeClr val="dk1"/>
              </a:buClr>
              <a:buFont typeface="Arial"/>
              <a:buNone/>
            </a:pPr>
            <a:r>
              <a:rPr lang="zh-CN" sz="1100">
                <a:solidFill>
                  <a:srgbClr val="8EC5FF"/>
                </a:solidFill>
              </a:rPr>
              <a:t>ML / Data</a:t>
            </a:r>
            <a:endParaRPr/>
          </a:p>
        </p:txBody>
      </p:sp>
      <p:sp>
        <p:nvSpPr>
          <p:cNvPr id="266" name="Google Shape;266;p18"/>
          <p:cNvSpPr/>
          <p:nvPr/>
        </p:nvSpPr>
        <p:spPr>
          <a:xfrm>
            <a:off x="5124450" y="2781300"/>
            <a:ext cx="2133600" cy="104775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267" name="Google Shape;267;p18"/>
          <p:cNvSpPr txBox="1"/>
          <p:nvPr/>
        </p:nvSpPr>
        <p:spPr>
          <a:xfrm>
            <a:off x="5238750" y="2876550"/>
            <a:ext cx="1905000" cy="8572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zh-CN" sz="1300">
                <a:solidFill>
                  <a:srgbClr val="FFFFFF"/>
                </a:solidFill>
              </a:rPr>
              <a:t>Aleeza Memon</a:t>
            </a:r>
            <a:endParaRPr/>
          </a:p>
          <a:p>
            <a:pPr indent="0" lvl="0" marL="0" rtl="0" algn="ctr">
              <a:spcBef>
                <a:spcPts val="500"/>
              </a:spcBef>
              <a:spcAft>
                <a:spcPts val="0"/>
              </a:spcAft>
              <a:buClr>
                <a:schemeClr val="dk1"/>
              </a:buClr>
              <a:buFont typeface="Arial"/>
              <a:buNone/>
            </a:pPr>
            <a:r>
              <a:rPr lang="zh-CN" sz="1100">
                <a:solidFill>
                  <a:srgbClr val="8EC5FF"/>
                </a:solidFill>
              </a:rPr>
              <a:t>API / Doc &amp; Pitch</a:t>
            </a:r>
            <a:endParaRPr/>
          </a:p>
        </p:txBody>
      </p:sp>
      <p:sp>
        <p:nvSpPr>
          <p:cNvPr id="268" name="Google Shape;268;p18"/>
          <p:cNvSpPr/>
          <p:nvPr/>
        </p:nvSpPr>
        <p:spPr>
          <a:xfrm>
            <a:off x="7458075" y="2781300"/>
            <a:ext cx="2133600" cy="1047750"/>
          </a:xfrm>
          <a:prstGeom prst="rect">
            <a:avLst/>
          </a:prstGeom>
          <a:solidFill>
            <a:srgbClr val="101C3A"/>
          </a:solidFill>
          <a:ln cap="flat" cmpd="sng" w="12700">
            <a:solidFill>
              <a:srgbClr val="E8B4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269" name="Google Shape;269;p18"/>
          <p:cNvSpPr txBox="1"/>
          <p:nvPr/>
        </p:nvSpPr>
        <p:spPr>
          <a:xfrm>
            <a:off x="7572375" y="2876550"/>
            <a:ext cx="1905000" cy="8572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zh-CN" sz="1300">
                <a:solidFill>
                  <a:srgbClr val="FFFFFF"/>
                </a:solidFill>
              </a:rPr>
              <a:t>Urooj Fatima</a:t>
            </a:r>
            <a:endParaRPr/>
          </a:p>
          <a:p>
            <a:pPr indent="0" lvl="0" marL="0" marR="0" rtl="0" algn="ctr">
              <a:spcBef>
                <a:spcPts val="500"/>
              </a:spcBef>
              <a:spcAft>
                <a:spcPts val="0"/>
              </a:spcAft>
              <a:buNone/>
            </a:pPr>
            <a:r>
              <a:rPr lang="zh-CN" sz="1100">
                <a:solidFill>
                  <a:srgbClr val="8EC5FF"/>
                </a:solidFill>
              </a:rPr>
              <a:t>Front-end / UX</a:t>
            </a:r>
            <a:endParaRPr/>
          </a:p>
        </p:txBody>
      </p:sp>
      <p:sp>
        <p:nvSpPr>
          <p:cNvPr id="270" name="Google Shape;270;p18"/>
          <p:cNvSpPr txBox="1"/>
          <p:nvPr/>
        </p:nvSpPr>
        <p:spPr>
          <a:xfrm>
            <a:off x="457200" y="4171950"/>
            <a:ext cx="11249025"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zh-CN" sz="1500">
                <a:solidFill>
                  <a:srgbClr val="E8B430"/>
                </a:solidFill>
                <a:latin typeface="Arial"/>
                <a:ea typeface="Arial"/>
                <a:cs typeface="Arial"/>
                <a:sym typeface="Arial"/>
              </a:rPr>
              <a:t>What we are asking the judges and mentors for</a:t>
            </a:r>
            <a:endParaRPr/>
          </a:p>
          <a:p>
            <a:pPr indent="0" lvl="0" marL="0" marR="0" rtl="0" algn="l">
              <a:lnSpc>
                <a:spcPct val="135000"/>
              </a:lnSpc>
              <a:spcBef>
                <a:spcPts val="1200"/>
              </a:spcBef>
              <a:spcAft>
                <a:spcPts val="0"/>
              </a:spcAft>
              <a:buNone/>
            </a:pPr>
            <a:r>
              <a:rPr lang="zh-CN" sz="1300">
                <a:solidFill>
                  <a:srgbClr val="FFFFFF"/>
                </a:solidFill>
                <a:latin typeface="Arial"/>
                <a:ea typeface="Arial"/>
                <a:cs typeface="Arial"/>
                <a:sym typeface="Arial"/>
              </a:rPr>
              <a:t>1.  Trade-finance mentorship  validate our escrow policy limits and document checks against real bank practice.</a:t>
            </a:r>
            <a:endParaRPr/>
          </a:p>
          <a:p>
            <a:pPr indent="0" lvl="0" marL="0" marR="0" rtl="0" algn="l">
              <a:lnSpc>
                <a:spcPct val="135000"/>
              </a:lnSpc>
              <a:spcBef>
                <a:spcPts val="800"/>
              </a:spcBef>
              <a:spcAft>
                <a:spcPts val="0"/>
              </a:spcAft>
              <a:buNone/>
            </a:pPr>
            <a:r>
              <a:rPr lang="zh-CN" sz="1300">
                <a:solidFill>
                  <a:srgbClr val="FFFFFF"/>
                </a:solidFill>
                <a:latin typeface="Arial"/>
                <a:ea typeface="Arial"/>
                <a:cs typeface="Arial"/>
                <a:sym typeface="Arial"/>
              </a:rPr>
              <a:t>2.  Compliance guidance  map the audit chain and RBAC to the regulatory requirements an on-chain agent must meet.</a:t>
            </a:r>
            <a:endParaRPr/>
          </a:p>
          <a:p>
            <a:pPr indent="0" lvl="0" marL="0" marR="0" rtl="0" algn="l">
              <a:lnSpc>
                <a:spcPct val="135000"/>
              </a:lnSpc>
              <a:spcBef>
                <a:spcPts val="800"/>
              </a:spcBef>
              <a:spcAft>
                <a:spcPts val="0"/>
              </a:spcAft>
              <a:buNone/>
            </a:pPr>
            <a:r>
              <a:rPr lang="zh-CN" sz="1300">
                <a:solidFill>
                  <a:srgbClr val="FFFFFF"/>
                </a:solidFill>
                <a:latin typeface="Arial"/>
                <a:ea typeface="Arial"/>
                <a:cs typeface="Arial"/>
                <a:sym typeface="Arial"/>
              </a:rPr>
              <a:t>3.  Pilot pathway  a small real exporter cohort to retrain the credit model on genuine repayment data.</a:t>
            </a:r>
            <a:endParaRPr/>
          </a:p>
        </p:txBody>
      </p:sp>
      <p:sp>
        <p:nvSpPr>
          <p:cNvPr id="271" name="Google Shape;271;p18"/>
          <p:cNvSpPr txBox="1"/>
          <p:nvPr/>
        </p:nvSpPr>
        <p:spPr>
          <a:xfrm>
            <a:off x="457200" y="6000750"/>
            <a:ext cx="11249025"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1200">
                <a:solidFill>
                  <a:srgbClr val="99AABB"/>
                </a:solidFill>
                <a:latin typeface="Arial"/>
                <a:ea typeface="Arial"/>
                <a:cs typeface="Arial"/>
                <a:sym typeface="Arial"/>
              </a:rPr>
              <a:t>Submission package: technical documentation · defense deck (≤10 min) · 4:56 narrated demo video · source code · security self-assessment · test evidence.</a:t>
            </a:r>
            <a:endParaRPr/>
          </a:p>
        </p:txBody>
      </p:sp>
      <p:sp>
        <p:nvSpPr>
          <p:cNvPr id="272" name="Google Shape;272;p18"/>
          <p:cNvSpPr txBox="1"/>
          <p:nvPr/>
        </p:nvSpPr>
        <p:spPr>
          <a:xfrm>
            <a:off x="276225" y="6496050"/>
            <a:ext cx="1161097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zh-CN" sz="900">
                <a:solidFill>
                  <a:srgbClr val="99AABB"/>
                </a:solidFill>
                <a:latin typeface="Arial"/>
                <a:ea typeface="Arial"/>
                <a:cs typeface="Arial"/>
                <a:sym typeface="Arial"/>
              </a:rPr>
              <a:t>SilkFlow AI  |  FinTechathon 2026</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a:themeElements>
    <a:clrScheme name="Office">
      <a:dk1>
        <a:srgbClr val="000000"/>
      </a:dk1>
      <a:lt1>
        <a:srgbClr val="FFFFFF"/>
      </a:lt1>
      <a:dk2>
        <a:srgbClr val="44546A"/>
      </a:dk2>
      <a:lt2>
        <a:srgbClr val="E7E6E6"/>
      </a:lt2>
      <a:accent1>
        <a:srgbClr val="C43E1C"/>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a:themeElements>
    <a:clrScheme name="Office">
      <a:dk1>
        <a:srgbClr val="000000"/>
      </a:dk1>
      <a:lt1>
        <a:srgbClr val="FFFFFF"/>
      </a:lt1>
      <a:dk2>
        <a:srgbClr val="44546A"/>
      </a:dk2>
      <a:lt2>
        <a:srgbClr val="E7E6E6"/>
      </a:lt2>
      <a:accent1>
        <a:srgbClr val="C43E1C"/>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