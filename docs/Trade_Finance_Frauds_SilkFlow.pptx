
<file path=[Content_Types].xml><?xml version="1.0" encoding="utf-8"?>
<Types xmlns="http://schemas.openxmlformats.org/package/2006/content-types"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5"/>
    <p:sldId id="260" r:id="rId6"/>
    <p:sldId id="261" r:id="rId7"/>
    <p:sldId id="262" r:id="rId8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381CC5C-14FA-4730-8895-0F6C64E63BDF}"/>
              </a:ext>
            </a:extLst>
          </p:cNvPr>
          <p:cNvSpPr/>
          <p:nvPr/>
        </p:nvSpPr>
        <p:spPr>
          <a:xfrm>
            <a:off x="8858250" y="1238250"/>
            <a:ext cx="2381250" cy="2381250"/>
          </a:xfrm>
          <a:prstGeom prst="hexagon">
            <a:avLst/>
          </a:prstGeom>
          <a:ln w="19050">
            <a:solidFill>
              <a:srgbClr val="E8B84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12ADDDA-BA41-4E61-A5B7-CE0BCC43901A}"/>
              </a:ext>
            </a:extLst>
          </p:cNvPr>
          <p:cNvSpPr/>
          <p:nvPr/>
        </p:nvSpPr>
        <p:spPr>
          <a:xfrm>
            <a:off x="9525000" y="1905000"/>
            <a:ext cx="1047750" cy="1047750"/>
          </a:xfrm>
          <a:prstGeom prst="donut">
            <a:avLst/>
          </a:prstGeom>
          <a:solidFill>
            <a:srgbClr val="12233B"/>
          </a:solidFill>
          <a:ln w="127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FB5F620-0D2F-436F-AD06-2F9D8A561C10}"/>
              </a:ext>
            </a:extLst>
          </p:cNvPr>
          <p:cNvSpPr txBox="1"/>
          <p:nvPr/>
        </p:nvSpPr>
        <p:spPr>
          <a:xfrm>
            <a:off x="762000" y="1047750"/>
            <a:ext cx="666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38BDF8"/>
                </a:solidFill>
              </a:rPr>
              <a:t>CASE STUDY  ·  TRADE FINANCE RISK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95A8513-94C7-4318-8BE7-364BA81B831E}"/>
              </a:ext>
            </a:extLst>
          </p:cNvPr>
          <p:cNvSpPr txBox="1"/>
          <p:nvPr/>
        </p:nvSpPr>
        <p:spPr>
          <a:xfrm>
            <a:off x="762000" y="1476375"/>
            <a:ext cx="9525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2F6FD"/>
                </a:solidFill>
              </a:rPr>
              <a:t>Real Trade-Finance Frauds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00478FE-81A3-4013-BA9A-64988605B06D}"/>
              </a:ext>
            </a:extLst>
          </p:cNvPr>
          <p:cNvSpPr txBox="1"/>
          <p:nvPr/>
        </p:nvSpPr>
        <p:spPr>
          <a:xfrm>
            <a:off x="762000" y="2400300"/>
            <a:ext cx="9525000" cy="52387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B84B"/>
                </a:solidFill>
              </a:rPr>
              <a:t>— and how SilkFlow AI would have caught them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E9C2DA2-F338-48E8-BC6A-DC0C882E53BC}"/>
              </a:ext>
            </a:extLst>
          </p:cNvPr>
          <p:cNvSpPr/>
          <p:nvPr/>
        </p:nvSpPr>
        <p:spPr>
          <a:xfrm>
            <a:off x="762000" y="3190875"/>
            <a:ext cx="1905000" cy="28575"/>
          </a:xfrm>
          <a:prstGeom prst="rect">
            <a:avLst/>
          </a:prstGeom>
          <a:solidFill>
            <a:srgbClr val="E8B84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802C8D9-7302-4FCA-8157-7CD4547F28B5}"/>
              </a:ext>
            </a:extLst>
          </p:cNvPr>
          <p:cNvSpPr txBox="1"/>
          <p:nvPr/>
        </p:nvSpPr>
        <p:spPr>
          <a:xfrm>
            <a:off x="762000" y="3571875"/>
            <a:ext cx="8382000" cy="98755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600">
                <a:solidFill>
                  <a:srgbClr val="AFC1D9"/>
                </a:solidFill>
              </a:rPr>
              <a:t>Three documented frauds — $577M, ~$10B and £29.4M — mapped step by step to the exact controls in our working build: document cross-checks, anomaly detection, escrow payment-vs-delivery linkage and a tamper-evident audit chain.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55FC8C6-023A-4EB9-92A0-218337B19DD3}"/>
              </a:ext>
            </a:extLst>
          </p:cNvPr>
          <p:cNvSpPr txBox="1"/>
          <p:nvPr/>
        </p:nvSpPr>
        <p:spPr>
          <a:xfrm>
            <a:off x="762000" y="6143625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89A"/>
                </a:solidFill>
              </a:rPr>
              <a:t>SilkFlow AI  ·  FinTechathon 2026, CoreTech Innovation  ·  all figures from Reuters, FT, WSJ and Global Trade Review reporting (sources on last slide)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C417FA6-5123-4197-8A1B-5F01A610FCD1}"/>
              </a:ext>
            </a:extLst>
          </p:cNvPr>
          <p:cNvSpPr txBox="1"/>
          <p:nvPr/>
        </p:nvSpPr>
        <p:spPr>
          <a:xfrm>
            <a:off x="762000" y="4953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THE THREE CASES  ·  ALL PUBLICLY DOCUMENTED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4D2AE33-F3ED-40E2-8EED-34B721A3C924}"/>
              </a:ext>
            </a:extLst>
          </p:cNvPr>
          <p:cNvSpPr txBox="1"/>
          <p:nvPr/>
        </p:nvSpPr>
        <p:spPr>
          <a:xfrm>
            <a:off x="762000" y="781050"/>
            <a:ext cx="8572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2F6FD"/>
                </a:solidFill>
              </a:rPr>
              <a:t>Three frauds, one pattern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A6C3F02-9BDB-4F48-8B4F-1FFD40D9818B}"/>
              </a:ext>
            </a:extLst>
          </p:cNvPr>
          <p:cNvSpPr/>
          <p:nvPr/>
        </p:nvSpPr>
        <p:spPr>
          <a:xfrm>
            <a:off x="762000" y="1809750"/>
            <a:ext cx="3333750" cy="3810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35BC543-8AB9-4481-85D9-E6D8F626264B}"/>
              </a:ext>
            </a:extLst>
          </p:cNvPr>
          <p:cNvSpPr/>
          <p:nvPr/>
        </p:nvSpPr>
        <p:spPr>
          <a:xfrm>
            <a:off x="4429125" y="1809750"/>
            <a:ext cx="3333750" cy="3810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1957805-FF79-4381-AA2B-A6CEDA279367}"/>
              </a:ext>
            </a:extLst>
          </p:cNvPr>
          <p:cNvSpPr/>
          <p:nvPr/>
        </p:nvSpPr>
        <p:spPr>
          <a:xfrm>
            <a:off x="8096250" y="1809750"/>
            <a:ext cx="3333750" cy="3810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646B8B-2631-441B-8A63-82425099D1E1}"/>
              </a:ext>
            </a:extLst>
          </p:cNvPr>
          <p:cNvSpPr txBox="1"/>
          <p:nvPr/>
        </p:nvSpPr>
        <p:spPr>
          <a:xfrm>
            <a:off x="990600" y="2076450"/>
            <a:ext cx="28765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38BDF8"/>
                </a:solidFill>
              </a:rPr>
              <a:t>TRAFIGURA  ·  2023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B35867A-E90B-4544-BB47-139D9FE91E31}"/>
              </a:ext>
            </a:extLst>
          </p:cNvPr>
          <p:cNvSpPr txBox="1"/>
          <p:nvPr/>
        </p:nvSpPr>
        <p:spPr>
          <a:xfrm>
            <a:off x="990600" y="2343150"/>
            <a:ext cx="2876550" cy="6858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8B84B"/>
                </a:solidFill>
              </a:rPr>
              <a:t>$577M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6F90A29-FF08-4AA6-BEB3-D28134AC76EC}"/>
              </a:ext>
            </a:extLst>
          </p:cNvPr>
          <p:cNvSpPr txBox="1"/>
          <p:nvPr/>
        </p:nvSpPr>
        <p:spPr>
          <a:xfrm>
            <a:off x="990600" y="3067050"/>
            <a:ext cx="28765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F6FD"/>
                </a:solidFill>
              </a:rPr>
              <a:t>Fake warehouse receipts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3E39C14-4205-4253-98E5-6B5DB1C7867E}"/>
              </a:ext>
            </a:extLst>
          </p:cNvPr>
          <p:cNvSpPr txBox="1"/>
          <p:nvPr/>
        </p:nvSpPr>
        <p:spPr>
          <a:xfrm>
            <a:off x="990600" y="3371850"/>
            <a:ext cx="2876550" cy="15716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AFC1D9"/>
                </a:solidFill>
              </a:rPr>
              <a:t>Trafigura booked a $577M charge — its estimated maximum loss — in Feb 2023 after advances were paid against warehouse receipts for nickel that was missing or worthless.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A5EFEA9-0AAE-42F9-88A4-71F44DAC1672}"/>
              </a:ext>
            </a:extLst>
          </p:cNvPr>
          <p:cNvSpPr txBox="1"/>
          <p:nvPr/>
        </p:nvSpPr>
        <p:spPr>
          <a:xfrm>
            <a:off x="4657725" y="2076450"/>
            <a:ext cx="28765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38BDF8"/>
                </a:solidFill>
              </a:rPr>
              <a:t>CHINA  ·  2014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35A9D9D-A856-46E1-99CC-A4FA33739338}"/>
              </a:ext>
            </a:extLst>
          </p:cNvPr>
          <p:cNvSpPr txBox="1"/>
          <p:nvPr/>
        </p:nvSpPr>
        <p:spPr>
          <a:xfrm>
            <a:off x="4657725" y="2343150"/>
            <a:ext cx="2876550" cy="6858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8B84B"/>
                </a:solidFill>
              </a:rPr>
              <a:t>~$10B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094B6AC-0B1E-45ED-8C07-B8AF0EA20711}"/>
              </a:ext>
            </a:extLst>
          </p:cNvPr>
          <p:cNvSpPr txBox="1"/>
          <p:nvPr/>
        </p:nvSpPr>
        <p:spPr>
          <a:xfrm>
            <a:off x="4657725" y="3067050"/>
            <a:ext cx="28765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F6FD"/>
                </a:solidFill>
              </a:rPr>
              <a:t>Paper trades at scale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AD930AA-2F60-4EED-BC12-E379B3EA48B5}"/>
              </a:ext>
            </a:extLst>
          </p:cNvPr>
          <p:cNvSpPr txBox="1"/>
          <p:nvPr/>
        </p:nvSpPr>
        <p:spPr>
          <a:xfrm>
            <a:off x="4657725" y="3371850"/>
            <a:ext cx="2876550" cy="15716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AFC1D9"/>
                </a:solidFill>
              </a:rPr>
              <a:t>China's regulator said in 2014 it had uncovered nearly $10B in fake or inflated trade-financing deals — goods only on paper, money moving across borders.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238C45-E34A-4CFA-9CD9-F51B50FEAB47}"/>
              </a:ext>
            </a:extLst>
          </p:cNvPr>
          <p:cNvSpPr txBox="1"/>
          <p:nvPr/>
        </p:nvSpPr>
        <p:spPr>
          <a:xfrm>
            <a:off x="8324850" y="2076450"/>
            <a:ext cx="28765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38BDF8"/>
                </a:solidFill>
              </a:rPr>
              <a:t>STENN  ·  2026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F7F228C-A4D8-4292-9087-AD7D32A6A0D5}"/>
              </a:ext>
            </a:extLst>
          </p:cNvPr>
          <p:cNvSpPr txBox="1"/>
          <p:nvPr/>
        </p:nvSpPr>
        <p:spPr>
          <a:xfrm>
            <a:off x="8324850" y="2343150"/>
            <a:ext cx="2876550" cy="6858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8B84B"/>
                </a:solidFill>
              </a:rPr>
              <a:t>£29.4M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F64704D-6B78-4FCD-985B-0E7B47560AE9}"/>
              </a:ext>
            </a:extLst>
          </p:cNvPr>
          <p:cNvSpPr txBox="1"/>
          <p:nvPr/>
        </p:nvSpPr>
        <p:spPr>
          <a:xfrm>
            <a:off x="8324850" y="3067050"/>
            <a:ext cx="28765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F6FD"/>
                </a:solidFill>
              </a:rPr>
              <a:t>Fake invoices, today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8918D58-8184-43DF-842D-70A339361FB7}"/>
              </a:ext>
            </a:extLst>
          </p:cNvPr>
          <p:cNvSpPr txBox="1"/>
          <p:nvPr/>
        </p:nvSpPr>
        <p:spPr>
          <a:xfrm>
            <a:off x="8324850" y="3371850"/>
            <a:ext cx="2876550" cy="15716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AFC1D9"/>
                </a:solidFill>
              </a:rPr>
              <a:t>In 2026 an entity of collapsed SME lender Stenn alleged it was sold 13 fake invoices worth £29.4M — the same scam, still hitting SME trade finance now.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B16462D-F19E-4E59-9FFD-60D130AFD021}"/>
              </a:ext>
            </a:extLst>
          </p:cNvPr>
          <p:cNvSpPr txBox="1"/>
          <p:nvPr/>
        </p:nvSpPr>
        <p:spPr>
          <a:xfrm>
            <a:off x="762000" y="6000750"/>
            <a:ext cx="952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89A"/>
                </a:solidFill>
              </a:rPr>
              <a:t>All figures from public reporting — Reuters &amp; FT (2023), WSJ (2014), Global Trade Review (2026). Sources listed on the final slide.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0040800-DDEF-420A-BF1B-95B259A2FB32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F8E0F2B-3B43-49F5-88C9-681EB4A897E4}"/>
              </a:ext>
            </a:extLst>
          </p:cNvPr>
          <p:cNvSpPr txBox="1"/>
          <p:nvPr/>
        </p:nvSpPr>
        <p:spPr>
          <a:xfrm>
            <a:off x="762000" y="4953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CASE 1  ·  TRAFIGURA, FEBRUARY 2023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41B4E0-EC30-4E73-A959-B26DE60A0660}"/>
              </a:ext>
            </a:extLst>
          </p:cNvPr>
          <p:cNvSpPr txBox="1"/>
          <p:nvPr/>
        </p:nvSpPr>
        <p:spPr>
          <a:xfrm>
            <a:off x="762000" y="781050"/>
            <a:ext cx="9525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6FD"/>
                </a:solidFill>
              </a:rPr>
              <a:t>Paying for cargo that wasn't there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2A1DEBF-BAD3-4511-9EB0-8324F0DEF76A}"/>
              </a:ext>
            </a:extLst>
          </p:cNvPr>
          <p:cNvSpPr/>
          <p:nvPr/>
        </p:nvSpPr>
        <p:spPr>
          <a:xfrm>
            <a:off x="762000" y="1571625"/>
            <a:ext cx="5191125" cy="36195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65B67FB-45DC-4AB2-AD11-0F7A6B080C0E}"/>
              </a:ext>
            </a:extLst>
          </p:cNvPr>
          <p:cNvSpPr/>
          <p:nvPr/>
        </p:nvSpPr>
        <p:spPr>
          <a:xfrm>
            <a:off x="6238875" y="1571625"/>
            <a:ext cx="5191125" cy="36195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1C1E8C5-BB02-4DC3-B003-DAF98F7646BA}"/>
              </a:ext>
            </a:extLst>
          </p:cNvPr>
          <p:cNvSpPr txBox="1"/>
          <p:nvPr/>
        </p:nvSpPr>
        <p:spPr>
          <a:xfrm>
            <a:off x="990600" y="180975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</a:rPr>
              <a:t>HOW THE FRAUD WORKED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509E50D-981C-4867-935A-1B558D2DDF94}"/>
              </a:ext>
            </a:extLst>
          </p:cNvPr>
          <p:cNvSpPr txBox="1"/>
          <p:nvPr/>
        </p:nvSpPr>
        <p:spPr>
          <a:xfrm>
            <a:off x="990600" y="217170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Trafigura agreed forward purchases of nickel cargoes held in Malaysian warehouses.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DDE515B-7671-405E-B38F-E0BA9B80DC5C}"/>
              </a:ext>
            </a:extLst>
          </p:cNvPr>
          <p:cNvSpPr txBox="1"/>
          <p:nvPr/>
        </p:nvSpPr>
        <p:spPr>
          <a:xfrm>
            <a:off x="990600" y="276225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Advance payments went out against warehouse receipts for the metal.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C40EC3C-FFC4-4D39-84E0-CD6B794686E9}"/>
              </a:ext>
            </a:extLst>
          </p:cNvPr>
          <p:cNvSpPr txBox="1"/>
          <p:nvPr/>
        </p:nvSpPr>
        <p:spPr>
          <a:xfrm>
            <a:off x="990600" y="335280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The receipts proved worthless — cargo missing or not as described.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9AB02BC-C0B0-4A7C-86E2-079718056EA7}"/>
              </a:ext>
            </a:extLst>
          </p:cNvPr>
          <p:cNvSpPr txBox="1"/>
          <p:nvPr/>
        </p:nvSpPr>
        <p:spPr>
          <a:xfrm>
            <a:off x="990600" y="394335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Result: a $577M impairment — the estimated maximum loss.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098AAC2-700A-4FAA-93DB-22658A87CFCD}"/>
              </a:ext>
            </a:extLst>
          </p:cNvPr>
          <p:cNvSpPr txBox="1"/>
          <p:nvPr/>
        </p:nvSpPr>
        <p:spPr>
          <a:xfrm>
            <a:off x="990600" y="453390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Trafigura called it "systemic fraud" and pursued legal action.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9285736-CA10-4B61-A91A-0E5BD01EBFD5}"/>
              </a:ext>
            </a:extLst>
          </p:cNvPr>
          <p:cNvSpPr txBox="1"/>
          <p:nvPr/>
        </p:nvSpPr>
        <p:spPr>
          <a:xfrm>
            <a:off x="6467475" y="180975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B84B"/>
                </a:solidFill>
              </a:rPr>
              <a:t>WHAT FAILED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5A858B4-6BD7-4A18-865F-F31C58D90C9C}"/>
              </a:ext>
            </a:extLst>
          </p:cNvPr>
          <p:cNvSpPr txBox="1"/>
          <p:nvPr/>
        </p:nvSpPr>
        <p:spPr>
          <a:xfrm>
            <a:off x="6467475" y="217170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Paper was trusted over physical goods — money moved on receipts alone.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3DA223-A5D3-4B35-A725-CB520128F5C3}"/>
              </a:ext>
            </a:extLst>
          </p:cNvPr>
          <p:cNvSpPr txBox="1"/>
          <p:nvPr/>
        </p:nvSpPr>
        <p:spPr>
          <a:xfrm>
            <a:off x="6467475" y="276225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No independent cross-check that cargo existed, matched spec, or wasn't double-pledged.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78395B4-F1D4-4959-BB23-0D1D6BF58FB1}"/>
              </a:ext>
            </a:extLst>
          </p:cNvPr>
          <p:cNvSpPr txBox="1"/>
          <p:nvPr/>
        </p:nvSpPr>
        <p:spPr>
          <a:xfrm>
            <a:off x="6467475" y="335280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Counterparty reputation substituted for document verification.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A71C452-C12C-4DC0-8EEC-8F6409737310}"/>
              </a:ext>
            </a:extLst>
          </p:cNvPr>
          <p:cNvSpPr txBox="1"/>
          <p:nvPr/>
        </p:nvSpPr>
        <p:spPr>
          <a:xfrm>
            <a:off x="6467475" y="3943350"/>
            <a:ext cx="4733925" cy="55245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25000"/>
              </a:lnSpc>
              <a:buChar char="•"/>
            </a:pPr>
            <a:r>
              <a:rPr sz="1300">
                <a:solidFill>
                  <a:srgbClr val="AFC1D9"/>
                </a:solidFill>
              </a:rPr>
              <a:t>Discovery came only when prices moved — after the money was gone.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CB6E38-8604-4E76-9F28-AC8691232BE9}"/>
              </a:ext>
            </a:extLst>
          </p:cNvPr>
          <p:cNvSpPr txBox="1"/>
          <p:nvPr/>
        </p:nvSpPr>
        <p:spPr>
          <a:xfrm>
            <a:off x="762000" y="5572125"/>
            <a:ext cx="106680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2F6FD"/>
                </a:solidFill>
              </a:rPr>
              <a:t>SilkFlow equivalent: </a:t>
            </a:r>
            <a:r>
              <a:rPr sz="1400">
                <a:solidFill>
                  <a:srgbClr val="AFC1D9"/>
                </a:solidFill>
              </a:rPr>
              <a:t>an invoice is never trusted alone — it is cross-checked against packing list, order terms and live shipment events before any payment is released.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F61A7FC-4338-44EF-9BD9-B91EE6E0014B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D00F612-0043-4FAE-9E7C-DD3322483CE3}"/>
              </a:ext>
            </a:extLst>
          </p:cNvPr>
          <p:cNvSpPr txBox="1"/>
          <p:nvPr/>
        </p:nvSpPr>
        <p:spPr>
          <a:xfrm>
            <a:off x="762000" y="4953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HOW THE SCAM ACTUALLY WORKS  ·  CHINA ~$10B, 2014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65514D-F950-46C6-8D40-16652C9C5936}"/>
              </a:ext>
            </a:extLst>
          </p:cNvPr>
          <p:cNvSpPr txBox="1"/>
          <p:nvPr/>
        </p:nvSpPr>
        <p:spPr>
          <a:xfrm>
            <a:off x="762000" y="781050"/>
            <a:ext cx="9525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6FD"/>
                </a:solidFill>
              </a:rPr>
              <a:t>Anatomy of a fake paper trade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EABF002-98C2-44DE-B319-00ADA35D1426}"/>
              </a:ext>
            </a:extLst>
          </p:cNvPr>
          <p:cNvSpPr/>
          <p:nvPr/>
        </p:nvSpPr>
        <p:spPr>
          <a:xfrm>
            <a:off x="762000" y="1619250"/>
            <a:ext cx="10668000" cy="28575"/>
          </a:xfrm>
          <a:prstGeom prst="rect">
            <a:avLst/>
          </a:prstGeom>
          <a:solidFill>
            <a:srgbClr val="23405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782C49A-F9F3-4963-93A2-A98007F73601}"/>
              </a:ext>
            </a:extLst>
          </p:cNvPr>
          <p:cNvSpPr/>
          <p:nvPr/>
        </p:nvSpPr>
        <p:spPr>
          <a:xfrm>
            <a:off x="1533525" y="1428750"/>
            <a:ext cx="419100" cy="4191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8B84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A925BA2-D0AD-41CF-AEC9-334956383C77}"/>
              </a:ext>
            </a:extLst>
          </p:cNvPr>
          <p:cNvSpPr/>
          <p:nvPr/>
        </p:nvSpPr>
        <p:spPr>
          <a:xfrm>
            <a:off x="3657600" y="1428750"/>
            <a:ext cx="419100" cy="4191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8B84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3C976EC-8BF8-4CE8-95C7-3CFA6C79B9E7}"/>
              </a:ext>
            </a:extLst>
          </p:cNvPr>
          <p:cNvSpPr/>
          <p:nvPr/>
        </p:nvSpPr>
        <p:spPr>
          <a:xfrm>
            <a:off x="5781675" y="1428750"/>
            <a:ext cx="419100" cy="4191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8B84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30EEE89-0E37-418A-A766-598D92182AFA}"/>
              </a:ext>
            </a:extLst>
          </p:cNvPr>
          <p:cNvSpPr/>
          <p:nvPr/>
        </p:nvSpPr>
        <p:spPr>
          <a:xfrm>
            <a:off x="7905750" y="1428750"/>
            <a:ext cx="419100" cy="4191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8B84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F8AEB48-65C9-479C-B1C0-B168E9E8B9BF}"/>
              </a:ext>
            </a:extLst>
          </p:cNvPr>
          <p:cNvSpPr/>
          <p:nvPr/>
        </p:nvSpPr>
        <p:spPr>
          <a:xfrm>
            <a:off x="10029825" y="1428750"/>
            <a:ext cx="419100" cy="4191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8B84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6A06A72-E0B7-4311-AD57-ED8CB2590FCA}"/>
              </a:ext>
            </a:extLst>
          </p:cNvPr>
          <p:cNvSpPr txBox="1"/>
          <p:nvPr/>
        </p:nvSpPr>
        <p:spPr>
          <a:xfrm>
            <a:off x="1533525" y="1504950"/>
            <a:ext cx="4191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E8B84B"/>
                </a:solidFill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C67DE29-3ED1-4DE2-8DEC-2AED5B345843}"/>
              </a:ext>
            </a:extLst>
          </p:cNvPr>
          <p:cNvSpPr txBox="1"/>
          <p:nvPr/>
        </p:nvSpPr>
        <p:spPr>
          <a:xfrm>
            <a:off x="3657600" y="1504950"/>
            <a:ext cx="4191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E8B84B"/>
                </a:solidFill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3C7D81-23B6-4649-AB54-2F343EA416AE}"/>
              </a:ext>
            </a:extLst>
          </p:cNvPr>
          <p:cNvSpPr txBox="1"/>
          <p:nvPr/>
        </p:nvSpPr>
        <p:spPr>
          <a:xfrm>
            <a:off x="5781675" y="1504950"/>
            <a:ext cx="4191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E8B84B"/>
                </a:solidFill>
              </a:rPr>
              <a:t>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A33787-D4E7-4396-B216-1B2EE7B9E4B2}"/>
              </a:ext>
            </a:extLst>
          </p:cNvPr>
          <p:cNvSpPr txBox="1"/>
          <p:nvPr/>
        </p:nvSpPr>
        <p:spPr>
          <a:xfrm>
            <a:off x="7905750" y="1504950"/>
            <a:ext cx="4191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E8B84B"/>
                </a:solidFill>
              </a:rPr>
              <a:t>4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A5E0FA-FF53-409A-8C89-A95657587F40}"/>
              </a:ext>
            </a:extLst>
          </p:cNvPr>
          <p:cNvSpPr txBox="1"/>
          <p:nvPr/>
        </p:nvSpPr>
        <p:spPr>
          <a:xfrm>
            <a:off x="10029825" y="1504950"/>
            <a:ext cx="4191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E8B84B"/>
                </a:solidFill>
              </a:rPr>
              <a:t>5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C524A25-3E8E-47A7-8D91-BF6A12FFD240}"/>
              </a:ext>
            </a:extLst>
          </p:cNvPr>
          <p:cNvSpPr/>
          <p:nvPr/>
        </p:nvSpPr>
        <p:spPr>
          <a:xfrm>
            <a:off x="762000" y="2143125"/>
            <a:ext cx="1971675" cy="2667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E04D7CA-7585-4812-8D7E-A385CBFCF774}"/>
              </a:ext>
            </a:extLst>
          </p:cNvPr>
          <p:cNvSpPr/>
          <p:nvPr/>
        </p:nvSpPr>
        <p:spPr>
          <a:xfrm>
            <a:off x="2886075" y="2143125"/>
            <a:ext cx="1971675" cy="2667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38C3130-26A9-4377-83E1-63E83A17836A}"/>
              </a:ext>
            </a:extLst>
          </p:cNvPr>
          <p:cNvSpPr/>
          <p:nvPr/>
        </p:nvSpPr>
        <p:spPr>
          <a:xfrm>
            <a:off x="5010150" y="2143125"/>
            <a:ext cx="1971675" cy="2667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AD28FA9-66A7-4060-889E-66C3EC3604E5}"/>
              </a:ext>
            </a:extLst>
          </p:cNvPr>
          <p:cNvSpPr/>
          <p:nvPr/>
        </p:nvSpPr>
        <p:spPr>
          <a:xfrm>
            <a:off x="7134225" y="2143125"/>
            <a:ext cx="1971675" cy="2667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E5BA769-8C6E-48B2-A559-879B98DE28EA}"/>
              </a:ext>
            </a:extLst>
          </p:cNvPr>
          <p:cNvSpPr/>
          <p:nvPr/>
        </p:nvSpPr>
        <p:spPr>
          <a:xfrm>
            <a:off x="9258300" y="2143125"/>
            <a:ext cx="1971675" cy="2667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19F52A8-6F5B-430B-AFB6-91108DDB66E3}"/>
              </a:ext>
            </a:extLst>
          </p:cNvPr>
          <p:cNvSpPr txBox="1"/>
          <p:nvPr/>
        </p:nvSpPr>
        <p:spPr>
          <a:xfrm>
            <a:off x="914400" y="2333625"/>
            <a:ext cx="1666875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F6FD"/>
                </a:solidFill>
              </a:rPr>
              <a:t>Fabricated or inflated invoice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1A420EF-E657-4EDC-BD08-DB8679DDD120}"/>
              </a:ext>
            </a:extLst>
          </p:cNvPr>
          <p:cNvSpPr txBox="1"/>
          <p:nvPr/>
        </p:nvSpPr>
        <p:spPr>
          <a:xfrm>
            <a:off x="914400" y="2905125"/>
            <a:ext cx="1666875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A $100k shipment is invoiced at $400k — or the goods never existed at all.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E0EDC3B-25EC-44D8-9F61-84A61BE68841}"/>
              </a:ext>
            </a:extLst>
          </p:cNvPr>
          <p:cNvSpPr txBox="1"/>
          <p:nvPr/>
        </p:nvSpPr>
        <p:spPr>
          <a:xfrm>
            <a:off x="3038475" y="2333625"/>
            <a:ext cx="1666875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F6FD"/>
                </a:solidFill>
              </a:rPr>
              <a:t>Supporting docs are forged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0328D6D-43A5-4F63-9CD9-6A3B28F91078}"/>
              </a:ext>
            </a:extLst>
          </p:cNvPr>
          <p:cNvSpPr txBox="1"/>
          <p:nvPr/>
        </p:nvSpPr>
        <p:spPr>
          <a:xfrm>
            <a:off x="3038475" y="2905125"/>
            <a:ext cx="1666875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Shipping and customs paper asserts movement that never happened.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CDAC596-11AC-4440-96F1-BC10DE88093A}"/>
              </a:ext>
            </a:extLst>
          </p:cNvPr>
          <p:cNvSpPr txBox="1"/>
          <p:nvPr/>
        </p:nvSpPr>
        <p:spPr>
          <a:xfrm>
            <a:off x="5162550" y="2333625"/>
            <a:ext cx="1666875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F6FD"/>
                </a:solidFill>
              </a:rPr>
              <a:t>Financier pays on paper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D4A5DE-D5B1-4082-9A13-E3FD9298B57F}"/>
              </a:ext>
            </a:extLst>
          </p:cNvPr>
          <p:cNvSpPr txBox="1"/>
          <p:nvPr/>
        </p:nvSpPr>
        <p:spPr>
          <a:xfrm>
            <a:off x="5162550" y="2905125"/>
            <a:ext cx="1666875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The bank or fund advances against documents, not verified goods.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EF6CF47-2C42-4010-A58D-6290A7E3B925}"/>
              </a:ext>
            </a:extLst>
          </p:cNvPr>
          <p:cNvSpPr txBox="1"/>
          <p:nvPr/>
        </p:nvSpPr>
        <p:spPr>
          <a:xfrm>
            <a:off x="7286625" y="2333625"/>
            <a:ext cx="1666875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F6FD"/>
                </a:solidFill>
              </a:rPr>
              <a:t>Goods don't move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8550A00-2D27-4C16-9303-FEF45FD24461}"/>
              </a:ext>
            </a:extLst>
          </p:cNvPr>
          <p:cNvSpPr txBox="1"/>
          <p:nvPr/>
        </p:nvSpPr>
        <p:spPr>
          <a:xfrm>
            <a:off x="7286625" y="2905125"/>
            <a:ext cx="1666875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Value crosses borders; the "trade" is pure theatre.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3C693AC-9990-4A87-AD9E-BA5F14324A35}"/>
              </a:ext>
            </a:extLst>
          </p:cNvPr>
          <p:cNvSpPr txBox="1"/>
          <p:nvPr/>
        </p:nvSpPr>
        <p:spPr>
          <a:xfrm>
            <a:off x="9410700" y="2333625"/>
            <a:ext cx="1666875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2F6FD"/>
                </a:solidFill>
              </a:rPr>
              <a:t>Regulator finds it late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6C3C84B-08B3-47EC-A395-519EE72B749F}"/>
              </a:ext>
            </a:extLst>
          </p:cNvPr>
          <p:cNvSpPr txBox="1"/>
          <p:nvPr/>
        </p:nvSpPr>
        <p:spPr>
          <a:xfrm>
            <a:off x="9410700" y="2905125"/>
            <a:ext cx="1666875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China's SAFE sweep uncovered nearly $10B of such deals in 2014.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B4BBC62-CAF6-4C8C-9B38-79FAA283642E}"/>
              </a:ext>
            </a:extLst>
          </p:cNvPr>
          <p:cNvSpPr txBox="1"/>
          <p:nvPr/>
        </p:nvSpPr>
        <p:spPr>
          <a:xfrm>
            <a:off x="762000" y="5286375"/>
            <a:ext cx="10668000" cy="5547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B84B"/>
                </a:solidFill>
              </a:rPr>
              <a:t>Same DNA in 2026: </a:t>
            </a:r>
            <a:r>
              <a:rPr sz="1400">
                <a:solidFill>
                  <a:srgbClr val="AFC1D9"/>
                </a:solidFill>
              </a:rPr>
              <a:t>collapsed SME lender Stenn alleged it was sold 13 fake invoices worth £29.4M — the mechanism hasn't changed, only the paperwork.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F2078C7-E5FF-49AD-BC4D-A742BBF4ADC5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82FE5D7-F35F-4602-BECC-F1C84AF18147}"/>
              </a:ext>
            </a:extLst>
          </p:cNvPr>
          <p:cNvSpPr txBox="1"/>
          <p:nvPr/>
        </p:nvSpPr>
        <p:spPr>
          <a:xfrm>
            <a:off x="762000" y="5715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THE COMMON THREAD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1CCCD8-CEAD-4EDA-8669-A761D604CF94}"/>
              </a:ext>
            </a:extLst>
          </p:cNvPr>
          <p:cNvSpPr txBox="1"/>
          <p:nvPr/>
        </p:nvSpPr>
        <p:spPr>
          <a:xfrm>
            <a:off x="762000" y="1238250"/>
            <a:ext cx="99060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2F6FD"/>
                </a:solidFill>
              </a:rPr>
              <a:t>In all three cases, money moved </a:t>
            </a:r>
            <a:r>
              <a:rPr sz="4000" b="1">
                <a:solidFill>
                  <a:srgbClr val="E8B84B"/>
                </a:solidFill>
              </a:rPr>
              <a:t>before anyone verified the goods.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50ADB98-686D-4CC7-9253-ADBF7A3A091A}"/>
              </a:ext>
            </a:extLst>
          </p:cNvPr>
          <p:cNvSpPr/>
          <p:nvPr/>
        </p:nvSpPr>
        <p:spPr>
          <a:xfrm>
            <a:off x="762000" y="2905125"/>
            <a:ext cx="1524000" cy="28575"/>
          </a:xfrm>
          <a:prstGeom prst="rect">
            <a:avLst/>
          </a:prstGeom>
          <a:solidFill>
            <a:srgbClr val="E8B84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95BFBE-E67D-4FC3-B3E1-66C6E2B9E4B0}"/>
              </a:ext>
            </a:extLst>
          </p:cNvPr>
          <p:cNvSpPr txBox="1"/>
          <p:nvPr/>
        </p:nvSpPr>
        <p:spPr>
          <a:xfrm>
            <a:off x="762000" y="3190875"/>
            <a:ext cx="9525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AFC1D9"/>
                </a:solidFill>
              </a:rPr>
              <a:t>Different decades, different continents, identical failure points: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F5A749D-4E7D-4C2A-BCC5-CA77043C5BBB}"/>
              </a:ext>
            </a:extLst>
          </p:cNvPr>
          <p:cNvSpPr txBox="1"/>
          <p:nvPr/>
        </p:nvSpPr>
        <p:spPr>
          <a:xfrm>
            <a:off x="762000" y="3810000"/>
            <a:ext cx="10287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8BDF8"/>
                </a:solidFill>
              </a:rPr>
              <a:t>01   </a:t>
            </a:r>
            <a:r>
              <a:rPr sz="1500">
                <a:solidFill>
                  <a:srgbClr val="E6EDF7"/>
                </a:solidFill>
              </a:rPr>
              <a:t>No cross-check between invoice, packing list and actual shipment events.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E74D614-20AF-4A17-9C6E-EA79FBAE134C}"/>
              </a:ext>
            </a:extLst>
          </p:cNvPr>
          <p:cNvSpPr txBox="1"/>
          <p:nvPr/>
        </p:nvSpPr>
        <p:spPr>
          <a:xfrm>
            <a:off x="762000" y="4333875"/>
            <a:ext cx="10287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8BDF8"/>
                </a:solidFill>
              </a:rPr>
              <a:t>02   </a:t>
            </a:r>
            <a:r>
              <a:rPr sz="1500">
                <a:solidFill>
                  <a:srgbClr val="E6EDF7"/>
                </a:solidFill>
              </a:rPr>
              <a:t>No anomaly screen comparing each order against counterparty and market history.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B4EFC18-1F57-4313-8D6F-DD8757A55BBE}"/>
              </a:ext>
            </a:extLst>
          </p:cNvPr>
          <p:cNvSpPr txBox="1"/>
          <p:nvPr/>
        </p:nvSpPr>
        <p:spPr>
          <a:xfrm>
            <a:off x="762000" y="4857750"/>
            <a:ext cx="10287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8BDF8"/>
                </a:solidFill>
              </a:rPr>
              <a:t>03   </a:t>
            </a:r>
            <a:r>
              <a:rPr sz="1500">
                <a:solidFill>
                  <a:srgbClr val="E6EDF7"/>
                </a:solidFill>
              </a:rPr>
              <a:t>No tamper-evident record of who approved what, when, and why.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6426F6-9D17-462E-8853-E07C938526A7}"/>
              </a:ext>
            </a:extLst>
          </p:cNvPr>
          <p:cNvSpPr txBox="1"/>
          <p:nvPr/>
        </p:nvSpPr>
        <p:spPr>
          <a:xfrm>
            <a:off x="762000" y="5524500"/>
            <a:ext cx="95250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4789A"/>
                </a:solidFill>
              </a:rPr>
              <a:t>SilkFlow's entire pipeline is built around closing exactly these three gaps.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63A926E-E950-4740-A2EF-1EA94715A816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3FE838B-4519-4237-BA56-3A044672AEF9}"/>
              </a:ext>
            </a:extLst>
          </p:cNvPr>
          <p:cNvSpPr txBox="1"/>
          <p:nvPr/>
        </p:nvSpPr>
        <p:spPr>
          <a:xfrm>
            <a:off x="762000" y="4953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CONTROL MAPPING  ·  ALL FOUR ARE RUNNING IN THE DEMO TODAY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CB6EDA-F440-4C2E-B13B-9CB2809C359E}"/>
              </a:ext>
            </a:extLst>
          </p:cNvPr>
          <p:cNvSpPr txBox="1"/>
          <p:nvPr/>
        </p:nvSpPr>
        <p:spPr>
          <a:xfrm>
            <a:off x="762000" y="781050"/>
            <a:ext cx="9525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6FD"/>
                </a:solidFill>
              </a:rPr>
              <a:t>SilkFlow controls mapped to fraud mechanics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AC058AE-87F0-4DAD-ABD4-44F34BD3B2EE}"/>
              </a:ext>
            </a:extLst>
          </p:cNvPr>
          <p:cNvSpPr/>
          <p:nvPr/>
        </p:nvSpPr>
        <p:spPr>
          <a:xfrm>
            <a:off x="762000" y="1571625"/>
            <a:ext cx="5191125" cy="223837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3A15CAF-6E98-4C35-8948-45E8B37DC862}"/>
              </a:ext>
            </a:extLst>
          </p:cNvPr>
          <p:cNvSpPr/>
          <p:nvPr/>
        </p:nvSpPr>
        <p:spPr>
          <a:xfrm>
            <a:off x="6238875" y="1571625"/>
            <a:ext cx="5191125" cy="223837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F5CB1D8-3B0A-493F-9E58-757F62003246}"/>
              </a:ext>
            </a:extLst>
          </p:cNvPr>
          <p:cNvSpPr/>
          <p:nvPr/>
        </p:nvSpPr>
        <p:spPr>
          <a:xfrm>
            <a:off x="762000" y="4000500"/>
            <a:ext cx="5191125" cy="223837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DE77C20-499C-4A0E-9CED-6584D2A2E1D4}"/>
              </a:ext>
            </a:extLst>
          </p:cNvPr>
          <p:cNvSpPr/>
          <p:nvPr/>
        </p:nvSpPr>
        <p:spPr>
          <a:xfrm>
            <a:off x="6238875" y="4000500"/>
            <a:ext cx="5191125" cy="223837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57B05CB-BA4C-41ED-AE22-EDDA8DCACFB5}"/>
              </a:ext>
            </a:extLst>
          </p:cNvPr>
          <p:cNvSpPr txBox="1"/>
          <p:nvPr/>
        </p:nvSpPr>
        <p:spPr>
          <a:xfrm>
            <a:off x="990600" y="1762125"/>
            <a:ext cx="47339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B84B"/>
                </a:solidFill>
              </a:rPr>
              <a:t>1 · Document cross-check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1E6653-FB13-4E4B-B0BB-BF2D3E2E831E}"/>
              </a:ext>
            </a:extLst>
          </p:cNvPr>
          <p:cNvSpPr txBox="1"/>
          <p:nvPr/>
        </p:nvSpPr>
        <p:spPr>
          <a:xfrm>
            <a:off x="990600" y="2028825"/>
            <a:ext cx="47339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kills: fake invoices &amp; receipts  (Trafigura, Stenn)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5FD689A-55D2-45F7-85AE-E43548B97A24}"/>
              </a:ext>
            </a:extLst>
          </p:cNvPr>
          <p:cNvSpPr txBox="1"/>
          <p:nvPr/>
        </p:nvSpPr>
        <p:spPr>
          <a:xfrm>
            <a:off x="990600" y="2295525"/>
            <a:ext cx="4733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Invoice text is extracted and checked against packing list, order terms and FX context. Any discrepancy holds the order and escalates — paper is never trusted alone.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2259EF-EAEC-4AE3-9FA3-BB2CA6753416}"/>
              </a:ext>
            </a:extLst>
          </p:cNvPr>
          <p:cNvSpPr txBox="1"/>
          <p:nvPr/>
        </p:nvSpPr>
        <p:spPr>
          <a:xfrm>
            <a:off x="6467475" y="1762125"/>
            <a:ext cx="47339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B84B"/>
                </a:solidFill>
              </a:rPr>
              <a:t>2 · Isolation Forest anomaly screen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ECF3625-33BA-4050-BCC8-B13D8D0EB682}"/>
              </a:ext>
            </a:extLst>
          </p:cNvPr>
          <p:cNvSpPr txBox="1"/>
          <p:nvPr/>
        </p:nvSpPr>
        <p:spPr>
          <a:xfrm>
            <a:off x="6467475" y="2028825"/>
            <a:ext cx="47339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kills: over-invoicing &amp; paper trades  (China pattern)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347C584-6DA1-4F8B-A7EE-0C5795E5379D}"/>
              </a:ext>
            </a:extLst>
          </p:cNvPr>
          <p:cNvSpPr txBox="1"/>
          <p:nvPr/>
        </p:nvSpPr>
        <p:spPr>
          <a:xfrm>
            <a:off x="6467475" y="2295525"/>
            <a:ext cx="4733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Every order is compared against 5,000 historical trades: invoices inflated up to 9×, oversized orders and 90–200-day payers are flagged before any money moves.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FDDED43-9701-46CB-AA7A-3F812DB09D33}"/>
              </a:ext>
            </a:extLst>
          </p:cNvPr>
          <p:cNvSpPr txBox="1"/>
          <p:nvPr/>
        </p:nvSpPr>
        <p:spPr>
          <a:xfrm>
            <a:off x="990600" y="4191000"/>
            <a:ext cx="47339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B84B"/>
                </a:solidFill>
              </a:rPr>
              <a:t>3 · Escrow: payment locked to delivery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48DCFC-58AC-4C00-B192-E4B80C426886}"/>
              </a:ext>
            </a:extLst>
          </p:cNvPr>
          <p:cNvSpPr txBox="1"/>
          <p:nvPr/>
        </p:nvSpPr>
        <p:spPr>
          <a:xfrm>
            <a:off x="990600" y="4457700"/>
            <a:ext cx="47339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kills: paying before goods exist  (the core Trafigura loss)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2BD178F-EE48-4B11-8E56-85E791C71977}"/>
              </a:ext>
            </a:extLst>
          </p:cNvPr>
          <p:cNvSpPr txBox="1"/>
          <p:nvPr/>
        </p:nvSpPr>
        <p:spPr>
          <a:xfrm>
            <a:off x="990600" y="4724400"/>
            <a:ext cx="4733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Buyer funds sit in a smart contract, not with the seller. Release requires verified shipment + delivery events and a policy check; a dispute freezes everything.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E2BC850-F166-411F-9FB7-739D2E22E349}"/>
              </a:ext>
            </a:extLst>
          </p:cNvPr>
          <p:cNvSpPr txBox="1"/>
          <p:nvPr/>
        </p:nvSpPr>
        <p:spPr>
          <a:xfrm>
            <a:off x="6467475" y="4191000"/>
            <a:ext cx="4733925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8B84B"/>
                </a:solidFill>
              </a:rPr>
              <a:t>4 · Explainable AI + hash-chained audit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2D47A3A-CC44-4099-8ECB-21F96ED204EA}"/>
              </a:ext>
            </a:extLst>
          </p:cNvPr>
          <p:cNvSpPr txBox="1"/>
          <p:nvPr/>
        </p:nvSpPr>
        <p:spPr>
          <a:xfrm>
            <a:off x="6467475" y="4457700"/>
            <a:ext cx="47339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kills: rubber-stamp due diligence &amp; record tampering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D19EF0D-9E0F-451E-A04A-EB92D29A0E1A}"/>
              </a:ext>
            </a:extLst>
          </p:cNvPr>
          <p:cNvSpPr txBox="1"/>
          <p:nvPr/>
        </p:nvSpPr>
        <p:spPr>
          <a:xfrm>
            <a:off x="6467475" y="4724400"/>
            <a:ext cx="4733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Every score ships with SHAP reasons; borderline cases escalate to a human reviewer; every approval, release and dispute is appended to a tamper-evident hash chain.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39C337-F4D4-4713-950B-E51705B2344F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918DFB8-99D1-4A4E-B809-B91E473AF02A}"/>
              </a:ext>
            </a:extLst>
          </p:cNvPr>
          <p:cNvSpPr txBox="1"/>
          <p:nvPr/>
        </p:nvSpPr>
        <p:spPr>
          <a:xfrm>
            <a:off x="762000" y="4953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EVIDENCE, NOT SLIDEWARE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986BCAF-4FFC-4483-B6BE-A77384F399C7}"/>
              </a:ext>
            </a:extLst>
          </p:cNvPr>
          <p:cNvSpPr txBox="1"/>
          <p:nvPr/>
        </p:nvSpPr>
        <p:spPr>
          <a:xfrm>
            <a:off x="762000" y="781050"/>
            <a:ext cx="99060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6FD"/>
                </a:solidFill>
              </a:rPr>
              <a:t>The controls above are code that actually runs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024F118-5638-4635-BEA4-B082AA979976}"/>
              </a:ext>
            </a:extLst>
          </p:cNvPr>
          <p:cNvSpPr/>
          <p:nvPr/>
        </p:nvSpPr>
        <p:spPr>
          <a:xfrm>
            <a:off x="762000" y="1619250"/>
            <a:ext cx="2524125" cy="252412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2B80C50-2C1A-459F-8055-CBF30634D5A7}"/>
              </a:ext>
            </a:extLst>
          </p:cNvPr>
          <p:cNvSpPr/>
          <p:nvPr/>
        </p:nvSpPr>
        <p:spPr>
          <a:xfrm>
            <a:off x="3476625" y="1619250"/>
            <a:ext cx="2524125" cy="252412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B0E15A6-E377-491E-8896-B8EB4FEBCE47}"/>
              </a:ext>
            </a:extLst>
          </p:cNvPr>
          <p:cNvSpPr/>
          <p:nvPr/>
        </p:nvSpPr>
        <p:spPr>
          <a:xfrm>
            <a:off x="6191250" y="1619250"/>
            <a:ext cx="2524125" cy="252412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FF626C5-CB60-42DB-8623-4193F481D27B}"/>
              </a:ext>
            </a:extLst>
          </p:cNvPr>
          <p:cNvSpPr/>
          <p:nvPr/>
        </p:nvSpPr>
        <p:spPr>
          <a:xfrm>
            <a:off x="8905875" y="1619250"/>
            <a:ext cx="2524125" cy="2524125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15BCDF2-E704-4215-9181-E6840EF8CD14}"/>
              </a:ext>
            </a:extLst>
          </p:cNvPr>
          <p:cNvSpPr txBox="1"/>
          <p:nvPr/>
        </p:nvSpPr>
        <p:spPr>
          <a:xfrm>
            <a:off x="990600" y="1905000"/>
            <a:ext cx="2066925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B84B"/>
                </a:solidFill>
              </a:rPr>
              <a:t>65/65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CC540C4-280C-48CE-8AD4-0F1A79D7CC12}"/>
              </a:ext>
            </a:extLst>
          </p:cNvPr>
          <p:cNvSpPr txBox="1"/>
          <p:nvPr/>
        </p:nvSpPr>
        <p:spPr>
          <a:xfrm>
            <a:off x="990600" y="2457450"/>
            <a:ext cx="20669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END-TO-END TESTS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D5473C-8861-4E91-836A-0EAD96EBE209}"/>
              </a:ext>
            </a:extLst>
          </p:cNvPr>
          <p:cNvSpPr txBox="1"/>
          <p:nvPr/>
        </p:nvSpPr>
        <p:spPr>
          <a:xfrm>
            <a:off x="990600" y="2762250"/>
            <a:ext cx="2066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Full API suite passing twice on a live local chain from a clean database — including negative paths (403, 409, 429).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37A4E0-C394-4048-8B02-F13B4E2ECA0B}"/>
              </a:ext>
            </a:extLst>
          </p:cNvPr>
          <p:cNvSpPr txBox="1"/>
          <p:nvPr/>
        </p:nvSpPr>
        <p:spPr>
          <a:xfrm>
            <a:off x="3705225" y="1905000"/>
            <a:ext cx="2066925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B84B"/>
                </a:solidFill>
              </a:rPr>
              <a:t>38/38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F949B61-01B1-4BE0-AB01-B0978BC7868F}"/>
              </a:ext>
            </a:extLst>
          </p:cNvPr>
          <p:cNvSpPr txBox="1"/>
          <p:nvPr/>
        </p:nvSpPr>
        <p:spPr>
          <a:xfrm>
            <a:off x="3705225" y="2457450"/>
            <a:ext cx="20669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CONTRACT TESTS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D9DFB23-3864-470E-A8AC-6ABFB5C436EB}"/>
              </a:ext>
            </a:extLst>
          </p:cNvPr>
          <p:cNvSpPr txBox="1"/>
          <p:nvPr/>
        </p:nvSpPr>
        <p:spPr>
          <a:xfrm>
            <a:off x="3705225" y="2762250"/>
            <a:ext cx="2066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Hardhat tests for the escrow state machine: fund, ship, release, dispute — real tx hashes, no private keys.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3F27FC-C3D8-4308-9B55-A9BE877511F5}"/>
              </a:ext>
            </a:extLst>
          </p:cNvPr>
          <p:cNvSpPr txBox="1"/>
          <p:nvPr/>
        </p:nvSpPr>
        <p:spPr>
          <a:xfrm>
            <a:off x="6419850" y="1943100"/>
            <a:ext cx="2066925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E8B84B"/>
                </a:solidFill>
              </a:rPr>
              <a:t>0.73 vs 0.76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C022DDE-690C-4451-ACCB-837585B4495D}"/>
              </a:ext>
            </a:extLst>
          </p:cNvPr>
          <p:cNvSpPr txBox="1"/>
          <p:nvPr/>
        </p:nvSpPr>
        <p:spPr>
          <a:xfrm>
            <a:off x="6419850" y="2457450"/>
            <a:ext cx="20669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HONEST MODEL METRICS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16498DE-E437-4E23-A9F7-E03F72D7F3D6}"/>
              </a:ext>
            </a:extLst>
          </p:cNvPr>
          <p:cNvSpPr txBox="1"/>
          <p:nvPr/>
        </p:nvSpPr>
        <p:spPr>
          <a:xfrm>
            <a:off x="6419850" y="2762250"/>
            <a:ext cx="2066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XGBoost 0.725 vs logistic baseline 0.763 holdout AUC. The baseline wins — and the UI reports it instead of hiding it.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43ACB4B-0F81-4D05-AE81-FC8CD00A97F3}"/>
              </a:ext>
            </a:extLst>
          </p:cNvPr>
          <p:cNvSpPr txBox="1"/>
          <p:nvPr/>
        </p:nvSpPr>
        <p:spPr>
          <a:xfrm>
            <a:off x="9134475" y="1905000"/>
            <a:ext cx="2066925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8B84B"/>
                </a:solidFill>
              </a:rPr>
              <a:t>SHA-256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519A178-DBF8-48CD-8C4E-AAC764FA9E04}"/>
              </a:ext>
            </a:extLst>
          </p:cNvPr>
          <p:cNvSpPr txBox="1"/>
          <p:nvPr/>
        </p:nvSpPr>
        <p:spPr>
          <a:xfrm>
            <a:off x="9134475" y="2457450"/>
            <a:ext cx="2066925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8BDF8"/>
                </a:solidFill>
              </a:rPr>
              <a:t>AUDIT HASH CHAIN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22FF520-B54F-4C7A-9A91-BD3B467C06BA}"/>
              </a:ext>
            </a:extLst>
          </p:cNvPr>
          <p:cNvSpPr txBox="1"/>
          <p:nvPr/>
        </p:nvSpPr>
        <p:spPr>
          <a:xfrm>
            <a:off x="9134475" y="2762250"/>
            <a:ext cx="2066925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AFC1D9"/>
                </a:solidFill>
              </a:rPr>
              <a:t>Every action is appended to a tamper-evident chain; the verify button turns red when a record is edited.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EBF0FC4-1642-495B-AD70-D188999C303A}"/>
              </a:ext>
            </a:extLst>
          </p:cNvPr>
          <p:cNvSpPr txBox="1"/>
          <p:nvPr/>
        </p:nvSpPr>
        <p:spPr>
          <a:xfrm>
            <a:off x="762000" y="4667250"/>
            <a:ext cx="10668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2F6FD"/>
                </a:solidFill>
              </a:rPr>
              <a:t>Scope honesty: </a:t>
            </a:r>
            <a:r>
              <a:rPr sz="1300">
                <a:solidFill>
                  <a:srgbClr val="AFC1D9"/>
                </a:solidFill>
              </a:rPr>
              <a:t>local testnet chain only · synthetic training data · simulated financing offers · mock logistics feed. No real funds, no fabricated results.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511E857-E2D1-4DC7-AEAC-CFBBDDCB5FCB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D32AE98-B7C1-467B-A007-3763A8101737}"/>
              </a:ext>
            </a:extLst>
          </p:cNvPr>
          <p:cNvSpPr txBox="1"/>
          <p:nvPr/>
        </p:nvSpPr>
        <p:spPr>
          <a:xfrm>
            <a:off x="762000" y="4953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HONESTY SECTION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43ECA3-C98C-46FB-BB65-94A913238E9A}"/>
              </a:ext>
            </a:extLst>
          </p:cNvPr>
          <p:cNvSpPr txBox="1"/>
          <p:nvPr/>
        </p:nvSpPr>
        <p:spPr>
          <a:xfrm>
            <a:off x="762000" y="781050"/>
            <a:ext cx="8572500" cy="47625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2F6FD"/>
                </a:solidFill>
              </a:rPr>
              <a:t>What this does NOT stop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68C9527-BC85-461E-9FA2-8EE72CCDA309}"/>
              </a:ext>
            </a:extLst>
          </p:cNvPr>
          <p:cNvSpPr txBox="1"/>
          <p:nvPr/>
        </p:nvSpPr>
        <p:spPr>
          <a:xfrm>
            <a:off x="762000" y="131445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AFC1D9"/>
                </a:solidFill>
              </a:rPr>
              <a:t>No control system is a silver bullet. These are the real gaps, stated up front: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65DF4FE-4265-4552-B414-53EE583BA037}"/>
              </a:ext>
            </a:extLst>
          </p:cNvPr>
          <p:cNvSpPr txBox="1"/>
          <p:nvPr/>
        </p:nvSpPr>
        <p:spPr>
          <a:xfrm>
            <a:off x="762000" y="1857375"/>
            <a:ext cx="571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B84B"/>
                </a:solidFill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AB308E2-4DFF-46C0-9C91-38BDAB803383}"/>
              </a:ext>
            </a:extLst>
          </p:cNvPr>
          <p:cNvSpPr txBox="1"/>
          <p:nvPr/>
        </p:nvSpPr>
        <p:spPr>
          <a:xfrm>
            <a:off x="1428750" y="1857375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F6FD"/>
                </a:solidFill>
              </a:rPr>
              <a:t>Collusion with real goods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3E934B8-A069-4E9F-A6F1-605A84681A61}"/>
              </a:ext>
            </a:extLst>
          </p:cNvPr>
          <p:cNvSpPr txBox="1"/>
          <p:nvPr/>
        </p:nvSpPr>
        <p:spPr>
          <a:xfrm>
            <a:off x="1428750" y="2133600"/>
            <a:ext cx="9810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FC1D9"/>
                </a:solidFill>
              </a:rPr>
              <a:t>Two parties trading genuine cargo with genuine paperwork cannot be caught by document checks — escrow limits the loss, not the intent.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D509B63-3AC4-457A-8418-8CE43608A102}"/>
              </a:ext>
            </a:extLst>
          </p:cNvPr>
          <p:cNvSpPr/>
          <p:nvPr/>
        </p:nvSpPr>
        <p:spPr>
          <a:xfrm>
            <a:off x="762000" y="2495550"/>
            <a:ext cx="10668000" cy="19050"/>
          </a:xfrm>
          <a:prstGeom prst="rect">
            <a:avLst/>
          </a:prstGeom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F19D580-7C11-4FE5-904F-401C1BA3C921}"/>
              </a:ext>
            </a:extLst>
          </p:cNvPr>
          <p:cNvSpPr txBox="1"/>
          <p:nvPr/>
        </p:nvSpPr>
        <p:spPr>
          <a:xfrm>
            <a:off x="762000" y="2714625"/>
            <a:ext cx="571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B84B"/>
                </a:solidFill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F6A7E5-A086-44D0-A454-30A89FCB3941}"/>
              </a:ext>
            </a:extLst>
          </p:cNvPr>
          <p:cNvSpPr txBox="1"/>
          <p:nvPr/>
        </p:nvSpPr>
        <p:spPr>
          <a:xfrm>
            <a:off x="1428750" y="2714625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F6FD"/>
                </a:solidFill>
              </a:rPr>
              <a:t>Perfect forgeries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CAE4373-B2D6-42B8-847F-F73A3887E324}"/>
              </a:ext>
            </a:extLst>
          </p:cNvPr>
          <p:cNvSpPr txBox="1"/>
          <p:nvPr/>
        </p:nvSpPr>
        <p:spPr>
          <a:xfrm>
            <a:off x="1428750" y="2990850"/>
            <a:ext cx="9810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FC1D9"/>
                </a:solidFill>
              </a:rPr>
              <a:t>A forged but fully consistent document set can pass the rule-based checker — forensic/LLM document analysis is a planned upgrade, not built.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986BCA2-DCD9-4B34-8A73-061764CEB8FF}"/>
              </a:ext>
            </a:extLst>
          </p:cNvPr>
          <p:cNvSpPr/>
          <p:nvPr/>
        </p:nvSpPr>
        <p:spPr>
          <a:xfrm>
            <a:off x="762000" y="3352800"/>
            <a:ext cx="10668000" cy="19050"/>
          </a:xfrm>
          <a:prstGeom prst="rect">
            <a:avLst/>
          </a:prstGeom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8A4D7A9-E913-440F-9682-974669EABF85}"/>
              </a:ext>
            </a:extLst>
          </p:cNvPr>
          <p:cNvSpPr txBox="1"/>
          <p:nvPr/>
        </p:nvSpPr>
        <p:spPr>
          <a:xfrm>
            <a:off x="762000" y="3571875"/>
            <a:ext cx="571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B84B"/>
                </a:solidFill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FB3F70C-F52A-4329-A901-8758C0AF54E1}"/>
              </a:ext>
            </a:extLst>
          </p:cNvPr>
          <p:cNvSpPr txBox="1"/>
          <p:nvPr/>
        </p:nvSpPr>
        <p:spPr>
          <a:xfrm>
            <a:off x="1428750" y="3571875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F6FD"/>
                </a:solidFill>
              </a:rPr>
              <a:t>Synthetic training data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AB0D341-2403-404E-A131-D3A934546157}"/>
              </a:ext>
            </a:extLst>
          </p:cNvPr>
          <p:cNvSpPr txBox="1"/>
          <p:nvPr/>
        </p:nvSpPr>
        <p:spPr>
          <a:xfrm>
            <a:off x="1428750" y="3848100"/>
            <a:ext cx="9810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FC1D9"/>
                </a:solidFill>
              </a:rPr>
              <a:t>The scorer learned from generated trades; before any real deployment it must be retrained and validated on an actual transaction portfolio.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8B464EEB-8F73-45F1-B8E1-12FDC87A34A3}"/>
              </a:ext>
            </a:extLst>
          </p:cNvPr>
          <p:cNvSpPr/>
          <p:nvPr/>
        </p:nvSpPr>
        <p:spPr>
          <a:xfrm>
            <a:off x="762000" y="4210050"/>
            <a:ext cx="10668000" cy="19050"/>
          </a:xfrm>
          <a:prstGeom prst="rect">
            <a:avLst/>
          </a:prstGeom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3A8ED2D-EA7E-4114-A5EE-375152808ABF}"/>
              </a:ext>
            </a:extLst>
          </p:cNvPr>
          <p:cNvSpPr txBox="1"/>
          <p:nvPr/>
        </p:nvSpPr>
        <p:spPr>
          <a:xfrm>
            <a:off x="762000" y="4429125"/>
            <a:ext cx="571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8B84B"/>
                </a:solidFill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E74738-F260-4246-A855-0A2AE523293F}"/>
              </a:ext>
            </a:extLst>
          </p:cNvPr>
          <p:cNvSpPr txBox="1"/>
          <p:nvPr/>
        </p:nvSpPr>
        <p:spPr>
          <a:xfrm>
            <a:off x="1428750" y="4429125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2F6FD"/>
                </a:solidFill>
              </a:rPr>
              <a:t>Compliance outside our scope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A4D480C-1689-4289-A7E2-51AC199C33A8}"/>
              </a:ext>
            </a:extLst>
          </p:cNvPr>
          <p:cNvSpPr txBox="1"/>
          <p:nvPr/>
        </p:nvSpPr>
        <p:spPr>
          <a:xfrm>
            <a:off x="1428750" y="4705350"/>
            <a:ext cx="9810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FC1D9"/>
                </a:solidFill>
              </a:rPr>
              <a:t>AML/sanctions screening, legal e-invoice verification and smart-contract enforceability across jurisdictions are not implemented here.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E397BC8-7FC3-47BE-9A1E-8686E1BDFB1C}"/>
              </a:ext>
            </a:extLst>
          </p:cNvPr>
          <p:cNvSpPr/>
          <p:nvPr/>
        </p:nvSpPr>
        <p:spPr>
          <a:xfrm>
            <a:off x="762000" y="5067300"/>
            <a:ext cx="10668000" cy="19050"/>
          </a:xfrm>
          <a:prstGeom prst="rect">
            <a:avLst/>
          </a:prstGeom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37401A5-4449-444F-9DFF-C7D4C2E5CC68}"/>
              </a:ext>
            </a:extLst>
          </p:cNvPr>
          <p:cNvSpPr/>
          <p:nvPr/>
        </p:nvSpPr>
        <p:spPr>
          <a:xfrm>
            <a:off x="762000" y="5334000"/>
            <a:ext cx="10668000" cy="76200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36291CA-83E1-4EC9-AE8D-055B9DC414F7}"/>
              </a:ext>
            </a:extLst>
          </p:cNvPr>
          <p:cNvSpPr txBox="1"/>
          <p:nvPr/>
        </p:nvSpPr>
        <p:spPr>
          <a:xfrm>
            <a:off x="1047750" y="5505450"/>
            <a:ext cx="10096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B84B"/>
                </a:solidFill>
              </a:rPr>
              <a:t>Why this slide exists: </a:t>
            </a:r>
            <a:r>
              <a:rPr sz="1300">
                <a:solidFill>
                  <a:srgbClr val="AFC1D9"/>
                </a:solidFill>
              </a:rPr>
              <a:t>every limitation is also listed in docs/FINAL_REPORT.md §G. Same rule as the metrics — report what is true, not what is convenient.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F9C5AF7-C4D2-4F84-9F19-3AA0FFFB9ADE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1D8469A-73B3-40D1-B771-80A024728126}"/>
              </a:ext>
            </a:extLst>
          </p:cNvPr>
          <p:cNvSpPr txBox="1"/>
          <p:nvPr/>
        </p:nvSpPr>
        <p:spPr>
          <a:xfrm>
            <a:off x="762000" y="85725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8BDF8"/>
                </a:solidFill>
              </a:rPr>
              <a:t>CLOSING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1AF721-304B-4B30-BA5F-BF600076F3FB}"/>
              </a:ext>
            </a:extLst>
          </p:cNvPr>
          <p:cNvSpPr txBox="1"/>
          <p:nvPr/>
        </p:nvSpPr>
        <p:spPr>
          <a:xfrm>
            <a:off x="762000" y="1238250"/>
            <a:ext cx="95250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2F6FD"/>
                </a:solidFill>
              </a:rPr>
              <a:t>Trust, but verify — </a:t>
            </a:r>
            <a:r>
              <a:rPr sz="4400" b="1">
                <a:solidFill>
                  <a:srgbClr val="E8B84B"/>
                </a:solidFill>
              </a:rPr>
              <a:t>in code.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F778FEB-F64A-4709-8AC6-42B4872DAECC}"/>
              </a:ext>
            </a:extLst>
          </p:cNvPr>
          <p:cNvSpPr/>
          <p:nvPr/>
        </p:nvSpPr>
        <p:spPr>
          <a:xfrm>
            <a:off x="762000" y="2381250"/>
            <a:ext cx="1524000" cy="28575"/>
          </a:xfrm>
          <a:prstGeom prst="rect">
            <a:avLst/>
          </a:prstGeom>
          <a:solidFill>
            <a:srgbClr val="E8B84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DF296-FF17-44DA-A8C1-DBF19F71F260}"/>
              </a:ext>
            </a:extLst>
          </p:cNvPr>
          <p:cNvSpPr txBox="1"/>
          <p:nvPr/>
        </p:nvSpPr>
        <p:spPr>
          <a:xfrm>
            <a:off x="762000" y="2667000"/>
            <a:ext cx="8572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AFC1D9"/>
                </a:solidFill>
              </a:rPr>
              <a:t>Every billion-dollar trade fraud on these slides failed at a step SilkFlow automates: verify the paper, screen the pattern, lock the money to the goods, and keep a record nobody can quietly edit.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E2A69D-2554-45A0-ABEF-9DC93762CAC8}"/>
              </a:ext>
            </a:extLst>
          </p:cNvPr>
          <p:cNvSpPr txBox="1"/>
          <p:nvPr/>
        </p:nvSpPr>
        <p:spPr>
          <a:xfrm>
            <a:off x="762000" y="38100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F6FD"/>
                </a:solidFill>
              </a:rPr>
              <a:t>Sources (all public reporting)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F11F4B9-662F-4F89-B253-BFE5C3BF9EE9}"/>
              </a:ext>
            </a:extLst>
          </p:cNvPr>
          <p:cNvSpPr txBox="1"/>
          <p:nvPr/>
        </p:nvSpPr>
        <p:spPr>
          <a:xfrm>
            <a:off x="762000" y="4114800"/>
            <a:ext cx="5905500" cy="192024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50000"/>
              </a:lnSpc>
              <a:buChar char="•"/>
            </a:pPr>
            <a:r>
              <a:rPr sz="1200">
                <a:solidFill>
                  <a:srgbClr val="64789A"/>
                </a:solidFill>
              </a:rPr>
              <a:t>Reuters — "Trafigura to record $577 mln charge after nickel fraud", 9 Feb 2023</a:t>
            </a:r>
            <a:br/>
            <a:r>
              <a:rPr sz="1200">
                <a:solidFill>
                  <a:srgbClr val="64789A"/>
                </a:solidFill>
              </a:rPr>
              <a:t>Financial Times — "Trafigura faces hit of up to $577mn over alleged nickel fraud", 9 Feb 2023</a:t>
            </a:r>
            <a:br/>
            <a:r>
              <a:rPr sz="1200">
                <a:solidFill>
                  <a:srgbClr val="64789A"/>
                </a:solidFill>
              </a:rPr>
              <a:t>Wall Street Journal — "China Uncovers Almost $10 Billion in Fraudulent Trade-Financing Deals", 25 Sep 2014</a:t>
            </a:r>
            <a:br/>
            <a:r>
              <a:rPr sz="1200">
                <a:solidFill>
                  <a:srgbClr val="64789A"/>
                </a:solidFill>
              </a:rPr>
              <a:t>Global Trade Review — "Stenn claims UK trade finance firm sold it fake invoices", 29 Jul 2026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655E1D6-B844-4405-9AF0-BBA6E60C4687}"/>
              </a:ext>
            </a:extLst>
          </p:cNvPr>
          <p:cNvSpPr/>
          <p:nvPr/>
        </p:nvSpPr>
        <p:spPr>
          <a:xfrm>
            <a:off x="7429500" y="3810000"/>
            <a:ext cx="4000500" cy="180975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340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0E845B1-8D78-4CF1-A210-977D33D68D28}"/>
              </a:ext>
            </a:extLst>
          </p:cNvPr>
          <p:cNvSpPr txBox="1"/>
          <p:nvPr/>
        </p:nvSpPr>
        <p:spPr>
          <a:xfrm>
            <a:off x="7658100" y="4048125"/>
            <a:ext cx="3543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8B84B"/>
                </a:solidFill>
              </a:rPr>
              <a:t>SilkFlow AI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72D4A41-39B4-4FBC-8B87-2D07E044737F}"/>
              </a:ext>
            </a:extLst>
          </p:cNvPr>
          <p:cNvSpPr txBox="1"/>
          <p:nvPr/>
        </p:nvSpPr>
        <p:spPr>
          <a:xfrm>
            <a:off x="7658100" y="4381500"/>
            <a:ext cx="3543300" cy="138112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AFC1D9"/>
                </a:solidFill>
              </a:rPr>
              <a:t>FinTechathon 2026 · International Track — CoreTech Innovation</a:t>
            </a:r>
            <a:br/>
            <a:br/>
            <a:r>
              <a:rPr sz="1250">
                <a:solidFill>
                  <a:srgbClr val="AFC1D9"/>
                </a:solidFill>
              </a:rPr>
              <a:t>Live demo, code and full verification evidence:</a:t>
            </a:r>
            <a:br/>
            <a:r>
              <a:rPr sz="1250">
                <a:solidFill>
                  <a:srgbClr val="AFC1D9"/>
                </a:solidFill>
              </a:rPr>
              <a:t>docs/FINAL_REPORT.md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F8EED28-3132-4270-9113-5034D5292F4B}"/>
              </a:ext>
            </a:extLst>
          </p:cNvPr>
          <p:cNvSpPr txBox="1"/>
          <p:nvPr/>
        </p:nvSpPr>
        <p:spPr>
          <a:xfrm>
            <a:off x="10287000" y="6400800"/>
            <a:ext cx="1143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64789A"/>
                </a:solidFill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